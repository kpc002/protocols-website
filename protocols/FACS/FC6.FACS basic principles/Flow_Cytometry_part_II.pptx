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316" r:id="rId3"/>
    <p:sldId id="310" r:id="rId4"/>
    <p:sldId id="290" r:id="rId5"/>
    <p:sldId id="266" r:id="rId6"/>
    <p:sldId id="286" r:id="rId7"/>
    <p:sldId id="267" r:id="rId8"/>
    <p:sldId id="260" r:id="rId9"/>
    <p:sldId id="288" r:id="rId10"/>
    <p:sldId id="268" r:id="rId11"/>
    <p:sldId id="269" r:id="rId12"/>
    <p:sldId id="311" r:id="rId13"/>
    <p:sldId id="312" r:id="rId14"/>
    <p:sldId id="313" r:id="rId15"/>
    <p:sldId id="278" r:id="rId16"/>
    <p:sldId id="261" r:id="rId17"/>
    <p:sldId id="271" r:id="rId18"/>
    <p:sldId id="270" r:id="rId19"/>
    <p:sldId id="262" r:id="rId20"/>
    <p:sldId id="263" r:id="rId21"/>
    <p:sldId id="273" r:id="rId22"/>
    <p:sldId id="287" r:id="rId23"/>
    <p:sldId id="264" r:id="rId24"/>
    <p:sldId id="314" r:id="rId25"/>
    <p:sldId id="265" r:id="rId26"/>
    <p:sldId id="275" r:id="rId27"/>
    <p:sldId id="274" r:id="rId28"/>
    <p:sldId id="291" r:id="rId29"/>
    <p:sldId id="277" r:id="rId30"/>
    <p:sldId id="279" r:id="rId31"/>
    <p:sldId id="280" r:id="rId32"/>
    <p:sldId id="276" r:id="rId33"/>
    <p:sldId id="335" r:id="rId34"/>
    <p:sldId id="336" r:id="rId35"/>
    <p:sldId id="337" r:id="rId36"/>
    <p:sldId id="339" r:id="rId37"/>
    <p:sldId id="338" r:id="rId38"/>
    <p:sldId id="318" r:id="rId39"/>
    <p:sldId id="319" r:id="rId40"/>
    <p:sldId id="320" r:id="rId41"/>
    <p:sldId id="324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42" r:id="rId52"/>
    <p:sldId id="343" r:id="rId53"/>
    <p:sldId id="344" r:id="rId54"/>
    <p:sldId id="292" r:id="rId55"/>
    <p:sldId id="293" r:id="rId56"/>
    <p:sldId id="294" r:id="rId57"/>
    <p:sldId id="295" r:id="rId58"/>
    <p:sldId id="296" r:id="rId59"/>
    <p:sldId id="297" r:id="rId60"/>
    <p:sldId id="298" r:id="rId61"/>
    <p:sldId id="299" r:id="rId62"/>
    <p:sldId id="300" r:id="rId63"/>
    <p:sldId id="301" r:id="rId64"/>
    <p:sldId id="302" r:id="rId65"/>
    <p:sldId id="303" r:id="rId66"/>
    <p:sldId id="304" r:id="rId67"/>
    <p:sldId id="305" r:id="rId68"/>
    <p:sldId id="306" r:id="rId69"/>
    <p:sldId id="308" r:id="rId70"/>
    <p:sldId id="340" r:id="rId71"/>
    <p:sldId id="341" r:id="rId72"/>
  </p:sldIdLst>
  <p:sldSz cx="9144000" cy="6858000" type="screen4x3"/>
  <p:notesSz cx="6858000" cy="9144000"/>
  <p:defaultTextStyle>
    <a:defPPr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C8BE"/>
    <a:srgbClr val="FF6FCF"/>
    <a:srgbClr val="FF0080"/>
    <a:srgbClr val="800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425" autoAdjust="0"/>
    <p:restoredTop sz="98662" autoAdjust="0"/>
  </p:normalViewPr>
  <p:slideViewPr>
    <p:cSldViewPr snapToGrid="0" snapToObjects="1">
      <p:cViewPr>
        <p:scale>
          <a:sx n="66" d="100"/>
          <a:sy n="66" d="100"/>
        </p:scale>
        <p:origin x="-1716" y="-270"/>
      </p:cViewPr>
      <p:guideLst>
        <p:guide orient="horz" pos="2014"/>
        <p:guide pos="12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Cartella%20di%20lavoro1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comric$:Unita%20Imaging%202:Citometria:Machine_Setup:X50:161020_S03_EL_single_stained%20cells:161020_stain_index.xlsx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>
        <c:manualLayout>
          <c:layoutTarget val="inner"/>
          <c:xMode val="edge"/>
          <c:yMode val="edge"/>
          <c:x val="4.9663167526880402E-2"/>
          <c:y val="9.89954126188161E-2"/>
          <c:w val="0.807473943596273"/>
          <c:h val="0.70374213481525205"/>
        </c:manualLayout>
      </c:layout>
      <c:lineChart>
        <c:grouping val="standard"/>
        <c:varyColors val="0"/>
        <c:ser>
          <c:idx val="1"/>
          <c:order val="0"/>
          <c:tx>
            <c:strRef>
              <c:f>Foglio1!$E$3</c:f>
              <c:strCache>
                <c:ptCount val="1"/>
                <c:pt idx="0">
                  <c:v>SNR</c:v>
                </c:pt>
              </c:strCache>
            </c:strRef>
          </c:tx>
          <c:spPr>
            <a:ln w="28575" cmpd="sng">
              <a:solidFill>
                <a:srgbClr val="0000FF"/>
              </a:solidFill>
            </a:ln>
            <a:effectLst/>
          </c:spPr>
          <c:marker>
            <c:spPr>
              <a:solidFill>
                <a:srgbClr val="FF0000"/>
              </a:solidFill>
              <a:ln>
                <a:noFill/>
              </a:ln>
              <a:effectLst/>
            </c:spPr>
          </c:marker>
          <c:cat>
            <c:numRef>
              <c:f>Foglio1!$B$4:$B$10</c:f>
              <c:numCache>
                <c:formatCode>General</c:formatCode>
                <c:ptCount val="7"/>
                <c:pt idx="0">
                  <c:v>5</c:v>
                </c:pt>
                <c:pt idx="1">
                  <c:v>2.5</c:v>
                </c:pt>
                <c:pt idx="2">
                  <c:v>1.25</c:v>
                </c:pt>
                <c:pt idx="3">
                  <c:v>0.63</c:v>
                </c:pt>
                <c:pt idx="4">
                  <c:v>0.31</c:v>
                </c:pt>
                <c:pt idx="5">
                  <c:v>0.15</c:v>
                </c:pt>
                <c:pt idx="6">
                  <c:v>7.0000000000000007E-2</c:v>
                </c:pt>
              </c:numCache>
            </c:numRef>
          </c:cat>
          <c:val>
            <c:numRef>
              <c:f>Foglio1!$E$4:$E$10</c:f>
              <c:numCache>
                <c:formatCode>General</c:formatCode>
                <c:ptCount val="7"/>
                <c:pt idx="0">
                  <c:v>219</c:v>
                </c:pt>
                <c:pt idx="1">
                  <c:v>230</c:v>
                </c:pt>
                <c:pt idx="2">
                  <c:v>247</c:v>
                </c:pt>
                <c:pt idx="3">
                  <c:v>283</c:v>
                </c:pt>
                <c:pt idx="4">
                  <c:v>265</c:v>
                </c:pt>
                <c:pt idx="5">
                  <c:v>264</c:v>
                </c:pt>
                <c:pt idx="6">
                  <c:v>249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0957056"/>
        <c:axId val="40958976"/>
      </c:lineChart>
      <c:catAx>
        <c:axId val="40957056"/>
        <c:scaling>
          <c:orientation val="maxMin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it-IT" sz="1400"/>
            </a:pPr>
            <a:endParaRPr lang="it-IT"/>
          </a:p>
        </c:txPr>
        <c:crossAx val="40958976"/>
        <c:crosses val="autoZero"/>
        <c:auto val="1"/>
        <c:lblAlgn val="ctr"/>
        <c:lblOffset val="100"/>
        <c:noMultiLvlLbl val="0"/>
      </c:catAx>
      <c:valAx>
        <c:axId val="40958976"/>
        <c:scaling>
          <c:orientation val="minMax"/>
          <c:max val="350"/>
          <c:min val="150"/>
        </c:scaling>
        <c:delete val="0"/>
        <c:axPos val="r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it-IT" sz="1400"/>
            </a:pPr>
            <a:endParaRPr lang="it-IT"/>
          </a:p>
        </c:txPr>
        <c:crossAx val="40957056"/>
        <c:crosses val="autoZero"/>
        <c:crossBetween val="between"/>
      </c:valAx>
      <c:spPr>
        <a:ln>
          <a:solidFill>
            <a:srgbClr val="000000"/>
          </a:solidFill>
        </a:ln>
      </c:spPr>
    </c:plotArea>
    <c:plotVisOnly val="1"/>
    <c:dispBlanksAs val="gap"/>
    <c:showDLblsOverMax val="0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Stain Index Chart</c:v>
          </c:tx>
          <c:spPr>
            <a:solidFill>
              <a:srgbClr val="3366FF"/>
            </a:solidFill>
          </c:spPr>
          <c:invertIfNegative val="0"/>
          <c:cat>
            <c:strRef>
              <c:f>'161020_stain_index'!$A$2:$A$34</c:f>
              <c:strCache>
                <c:ptCount val="33"/>
                <c:pt idx="0">
                  <c:v>BB610</c:v>
                </c:pt>
                <c:pt idx="1">
                  <c:v>PE-Cy5</c:v>
                </c:pt>
                <c:pt idx="2">
                  <c:v>PE-CF594</c:v>
                </c:pt>
                <c:pt idx="3">
                  <c:v>BB700</c:v>
                </c:pt>
                <c:pt idx="4">
                  <c:v>BYG584</c:v>
                </c:pt>
                <c:pt idx="5">
                  <c:v>BB670</c:v>
                </c:pt>
                <c:pt idx="6">
                  <c:v>PE</c:v>
                </c:pt>
                <c:pt idx="7">
                  <c:v>BB515</c:v>
                </c:pt>
                <c:pt idx="8">
                  <c:v>BB780</c:v>
                </c:pt>
                <c:pt idx="9">
                  <c:v>BUV661</c:v>
                </c:pt>
                <c:pt idx="10">
                  <c:v>BV750P</c:v>
                </c:pt>
                <c:pt idx="11">
                  <c:v>PE-Cy7</c:v>
                </c:pt>
                <c:pt idx="12">
                  <c:v>BV421</c:v>
                </c:pt>
                <c:pt idx="13">
                  <c:v>BV711</c:v>
                </c:pt>
                <c:pt idx="14">
                  <c:v>BV480</c:v>
                </c:pt>
                <c:pt idx="15">
                  <c:v>BUV805</c:v>
                </c:pt>
                <c:pt idx="16">
                  <c:v>BV650</c:v>
                </c:pt>
                <c:pt idx="17">
                  <c:v>BUV615</c:v>
                </c:pt>
                <c:pt idx="18">
                  <c:v>BUV563</c:v>
                </c:pt>
                <c:pt idx="19">
                  <c:v>BV605</c:v>
                </c:pt>
                <c:pt idx="20">
                  <c:v>PE-Cy5.5</c:v>
                </c:pt>
                <c:pt idx="21">
                  <c:v>BUV737</c:v>
                </c:pt>
                <c:pt idx="22">
                  <c:v>APC-R700</c:v>
                </c:pt>
                <c:pt idx="23">
                  <c:v>BV510</c:v>
                </c:pt>
                <c:pt idx="24">
                  <c:v>APC-Cy7</c:v>
                </c:pt>
                <c:pt idx="25">
                  <c:v>BUV496</c:v>
                </c:pt>
                <c:pt idx="26">
                  <c:v>PCP-Cy5.5</c:v>
                </c:pt>
                <c:pt idx="27">
                  <c:v>Alexa 488</c:v>
                </c:pt>
                <c:pt idx="28">
                  <c:v>BUV395</c:v>
                </c:pt>
                <c:pt idx="29">
                  <c:v>BV786</c:v>
                </c:pt>
                <c:pt idx="30">
                  <c:v>Alexa 647</c:v>
                </c:pt>
                <c:pt idx="31">
                  <c:v>BV570</c:v>
                </c:pt>
                <c:pt idx="32">
                  <c:v>FITC</c:v>
                </c:pt>
              </c:strCache>
            </c:strRef>
          </c:cat>
          <c:val>
            <c:numRef>
              <c:f>'161020_stain_index'!$F$2:$F$34</c:f>
              <c:numCache>
                <c:formatCode>0</c:formatCode>
                <c:ptCount val="33"/>
                <c:pt idx="0">
                  <c:v>772.21818181818196</c:v>
                </c:pt>
                <c:pt idx="1">
                  <c:v>766.60465116279067</c:v>
                </c:pt>
                <c:pt idx="2">
                  <c:v>639.12307692307695</c:v>
                </c:pt>
                <c:pt idx="3">
                  <c:v>608.14213197969548</c:v>
                </c:pt>
                <c:pt idx="4">
                  <c:v>540.70909090909095</c:v>
                </c:pt>
                <c:pt idx="5">
                  <c:v>537.74647887323943</c:v>
                </c:pt>
                <c:pt idx="6">
                  <c:v>501.5</c:v>
                </c:pt>
                <c:pt idx="7">
                  <c:v>481.72072072072069</c:v>
                </c:pt>
                <c:pt idx="8">
                  <c:v>422.78640776698859</c:v>
                </c:pt>
                <c:pt idx="9">
                  <c:v>415.39583333333331</c:v>
                </c:pt>
                <c:pt idx="10">
                  <c:v>339.07499999999999</c:v>
                </c:pt>
                <c:pt idx="11">
                  <c:v>266.97590361445782</c:v>
                </c:pt>
                <c:pt idx="12">
                  <c:v>237.8387096774193</c:v>
                </c:pt>
                <c:pt idx="13">
                  <c:v>230.17500000000001</c:v>
                </c:pt>
                <c:pt idx="14">
                  <c:v>217.69306930693071</c:v>
                </c:pt>
                <c:pt idx="15">
                  <c:v>193.2295081967213</c:v>
                </c:pt>
                <c:pt idx="16">
                  <c:v>187.875</c:v>
                </c:pt>
                <c:pt idx="17">
                  <c:v>179.62666666666669</c:v>
                </c:pt>
                <c:pt idx="18">
                  <c:v>162.2705882352941</c:v>
                </c:pt>
                <c:pt idx="19">
                  <c:v>158.40540540540539</c:v>
                </c:pt>
                <c:pt idx="20">
                  <c:v>129.69090909090909</c:v>
                </c:pt>
                <c:pt idx="21">
                  <c:v>112.1052631578947</c:v>
                </c:pt>
                <c:pt idx="22">
                  <c:v>104.3055555555556</c:v>
                </c:pt>
                <c:pt idx="23">
                  <c:v>83.157303370786181</c:v>
                </c:pt>
                <c:pt idx="24">
                  <c:v>76.553846153845868</c:v>
                </c:pt>
                <c:pt idx="25">
                  <c:v>73.294736842105266</c:v>
                </c:pt>
                <c:pt idx="26">
                  <c:v>70.553846153845868</c:v>
                </c:pt>
                <c:pt idx="27">
                  <c:v>66.307692307692307</c:v>
                </c:pt>
                <c:pt idx="28">
                  <c:v>65.727272727272734</c:v>
                </c:pt>
                <c:pt idx="29">
                  <c:v>60.495327102803728</c:v>
                </c:pt>
                <c:pt idx="30">
                  <c:v>53.796296296296298</c:v>
                </c:pt>
                <c:pt idx="31">
                  <c:v>51.157894736841989</c:v>
                </c:pt>
                <c:pt idx="32">
                  <c:v>30.194444444444439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5243008"/>
        <c:axId val="105244544"/>
      </c:barChart>
      <c:catAx>
        <c:axId val="105243008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tx1"/>
            </a:solidFill>
          </a:ln>
        </c:spPr>
        <c:txPr>
          <a:bodyPr/>
          <a:lstStyle/>
          <a:p>
            <a:pPr>
              <a:defRPr lang="it-IT" sz="1100">
                <a:latin typeface="Arial"/>
                <a:cs typeface="Arial"/>
              </a:defRPr>
            </a:pPr>
            <a:endParaRPr lang="it-IT"/>
          </a:p>
        </c:txPr>
        <c:crossAx val="105244544"/>
        <c:crosses val="autoZero"/>
        <c:auto val="1"/>
        <c:lblAlgn val="ctr"/>
        <c:lblOffset val="100"/>
        <c:noMultiLvlLbl val="0"/>
      </c:catAx>
      <c:valAx>
        <c:axId val="105244544"/>
        <c:scaling>
          <c:orientation val="minMax"/>
        </c:scaling>
        <c:delete val="0"/>
        <c:axPos val="l"/>
        <c:majorGridlines>
          <c:spPr>
            <a:ln>
              <a:noFill/>
            </a:ln>
          </c:spPr>
        </c:majorGridlines>
        <c:numFmt formatCode="0" sourceLinked="1"/>
        <c:majorTickMark val="out"/>
        <c:minorTickMark val="none"/>
        <c:tickLblPos val="nextTo"/>
        <c:spPr>
          <a:ln w="3175" cmpd="sng">
            <a:solidFill>
              <a:schemeClr val="tx1"/>
            </a:solidFill>
          </a:ln>
        </c:spPr>
        <c:txPr>
          <a:bodyPr/>
          <a:lstStyle/>
          <a:p>
            <a:pPr>
              <a:defRPr lang="it-IT" sz="1200"/>
            </a:pPr>
            <a:endParaRPr lang="it-IT"/>
          </a:p>
        </c:txPr>
        <c:crossAx val="105243008"/>
        <c:crosses val="autoZero"/>
        <c:crossBetween val="between"/>
      </c:valAx>
    </c:plotArea>
    <c:plotVisOnly val="1"/>
    <c:dispBlanksAs val="gap"/>
    <c:showDLblsOverMax val="0"/>
  </c:chart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5F79C-EDD6-874A-AF75-EFA9EACBF4FC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E0070-8F50-D848-B2FD-0D7087369689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1450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342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22256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890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35389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1002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0479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7827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18161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57267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858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0896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stile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gli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F13F88-F3F5-7C45-8675-0FFD75FB2AAE}" type="datetimeFigureOut">
              <a:rPr lang="it-IT" smtClean="0"/>
              <a:pPr/>
              <a:t>12/12/2016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AD409-53EE-5F4C-A843-AEF408ECA598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4880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e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e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emf"/><Relationship Id="rId4" Type="http://schemas.openxmlformats.org/officeDocument/2006/relationships/image" Target="../media/image49.e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image" Target="../media/image5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4.emf"/><Relationship Id="rId4" Type="http://schemas.openxmlformats.org/officeDocument/2006/relationships/image" Target="../media/image53.emf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0.emf"/><Relationship Id="rId4" Type="http://schemas.openxmlformats.org/officeDocument/2006/relationships/image" Target="../media/image59.emf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76829" y="1301098"/>
            <a:ext cx="7458391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b="1" dirty="0" err="1" smtClean="0">
                <a:solidFill>
                  <a:srgbClr val="000090"/>
                </a:solidFill>
              </a:rPr>
              <a:t>Practical</a:t>
            </a:r>
            <a:r>
              <a:rPr lang="it-IT" sz="5400" b="1" dirty="0" smtClean="0">
                <a:solidFill>
                  <a:srgbClr val="000090"/>
                </a:solidFill>
              </a:rPr>
              <a:t> </a:t>
            </a:r>
            <a:r>
              <a:rPr lang="it-IT" sz="5400" b="1" dirty="0" err="1" smtClean="0">
                <a:solidFill>
                  <a:srgbClr val="000090"/>
                </a:solidFill>
              </a:rPr>
              <a:t>Multicolor</a:t>
            </a:r>
            <a:r>
              <a:rPr lang="it-IT" sz="5400" b="1" dirty="0" smtClean="0">
                <a:solidFill>
                  <a:srgbClr val="000090"/>
                </a:solidFill>
              </a:rPr>
              <a:t> </a:t>
            </a:r>
          </a:p>
          <a:p>
            <a:pPr algn="ctr"/>
            <a:r>
              <a:rPr lang="it-IT" sz="5400" b="1" dirty="0" smtClean="0">
                <a:solidFill>
                  <a:srgbClr val="000090"/>
                </a:solidFill>
              </a:rPr>
              <a:t>Flow </a:t>
            </a:r>
            <a:r>
              <a:rPr lang="it-IT" sz="5400" b="1" dirty="0" err="1" smtClean="0">
                <a:solidFill>
                  <a:srgbClr val="000090"/>
                </a:solidFill>
              </a:rPr>
              <a:t>Cytometry</a:t>
            </a:r>
            <a:endParaRPr lang="it-IT" sz="54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4432448"/>
            <a:ext cx="9144000" cy="1"/>
          </a:xfrm>
          <a:prstGeom prst="line">
            <a:avLst/>
          </a:prstGeom>
          <a:ln w="38100" cmpd="sng"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1"/>
          <p:cNvSpPr>
            <a:spLocks/>
          </p:cNvSpPr>
          <p:nvPr/>
        </p:nvSpPr>
        <p:spPr bwMode="auto">
          <a:xfrm>
            <a:off x="228600" y="5219700"/>
            <a:ext cx="6477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Enrico </a:t>
            </a:r>
            <a:r>
              <a:rPr lang="en-US" sz="2000" dirty="0" err="1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Lugli</a:t>
            </a:r>
            <a:r>
              <a:rPr lang="en-US" sz="2000" dirty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, PhD</a:t>
            </a:r>
            <a:endParaRPr lang="en-US" sz="2000" dirty="0">
              <a:solidFill>
                <a:schemeClr val="tx1"/>
              </a:solidFill>
              <a:latin typeface="Arial" pitchFamily="-110" charset="0"/>
              <a:sym typeface="Arial" pitchFamily="-110" charset="0"/>
            </a:endParaRPr>
          </a:p>
          <a:p>
            <a:pPr algn="l"/>
            <a:r>
              <a:rPr lang="en-US" sz="2000" dirty="0" smtClean="0">
                <a:solidFill>
                  <a:schemeClr val="tx1"/>
                </a:solidFill>
                <a:latin typeface="Arial Bold" charset="0"/>
                <a:sym typeface="Arial Bold" charset="0"/>
              </a:rPr>
              <a:t>Laboratory of Translational Immunology</a:t>
            </a:r>
            <a:endParaRPr lang="en-US" sz="2000" dirty="0">
              <a:solidFill>
                <a:schemeClr val="tx1"/>
              </a:solidFill>
              <a:latin typeface="Arial" pitchFamily="-110" charset="0"/>
              <a:sym typeface="Arial" pitchFamily="-110" charset="0"/>
            </a:endParaRPr>
          </a:p>
          <a:p>
            <a:pPr algn="l"/>
            <a:r>
              <a:rPr lang="en-US" sz="2000" dirty="0" err="1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Humanitas</a:t>
            </a:r>
            <a:r>
              <a:rPr lang="en-US" sz="2000" dirty="0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 Flow </a:t>
            </a:r>
            <a:r>
              <a:rPr lang="en-US" sz="2000" dirty="0" err="1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Cytometry</a:t>
            </a:r>
            <a:r>
              <a:rPr lang="en-US" sz="2000" dirty="0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 Core</a:t>
            </a:r>
          </a:p>
          <a:p>
            <a:pPr algn="l"/>
            <a:r>
              <a:rPr lang="en-US" sz="2000" dirty="0" err="1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Istituto</a:t>
            </a:r>
            <a:r>
              <a:rPr lang="en-US" sz="2000" dirty="0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Clinico</a:t>
            </a:r>
            <a:r>
              <a:rPr lang="en-US" sz="2000" dirty="0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 </a:t>
            </a:r>
            <a:r>
              <a:rPr lang="en-US" sz="2000" dirty="0" err="1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Humanitas</a:t>
            </a:r>
            <a:r>
              <a:rPr lang="en-US" sz="2000" dirty="0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, Milan, </a:t>
            </a:r>
            <a:r>
              <a:rPr lang="en-US" sz="2000" dirty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I</a:t>
            </a:r>
            <a:r>
              <a:rPr lang="en-US" sz="2000" dirty="0" smtClean="0">
                <a:solidFill>
                  <a:schemeClr val="tx1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taly</a:t>
            </a:r>
            <a:endParaRPr lang="en-US" sz="2000" dirty="0">
              <a:solidFill>
                <a:schemeClr val="tx1"/>
              </a:solidFill>
              <a:latin typeface="Arial Bold" charset="0"/>
              <a:ea typeface="Arial Bold" charset="0"/>
              <a:cs typeface="Arial Bold" charset="0"/>
              <a:sym typeface="Arial Bold" charset="0"/>
            </a:endParaRPr>
          </a:p>
        </p:txBody>
      </p:sp>
      <p:grpSp>
        <p:nvGrpSpPr>
          <p:cNvPr id="14" name="Gruppo 13"/>
          <p:cNvGrpSpPr/>
          <p:nvPr/>
        </p:nvGrpSpPr>
        <p:grpSpPr>
          <a:xfrm>
            <a:off x="31750" y="4375150"/>
            <a:ext cx="730381" cy="119652"/>
            <a:chOff x="31750" y="4375150"/>
            <a:chExt cx="730381" cy="119652"/>
          </a:xfrm>
        </p:grpSpPr>
        <p:sp>
          <p:nvSpPr>
            <p:cNvPr id="10" name="Rettangolo 9"/>
            <p:cNvSpPr/>
            <p:nvPr/>
          </p:nvSpPr>
          <p:spPr>
            <a:xfrm>
              <a:off x="31750" y="4375150"/>
              <a:ext cx="45719" cy="114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Rettangolo 10"/>
            <p:cNvSpPr/>
            <p:nvPr/>
          </p:nvSpPr>
          <p:spPr>
            <a:xfrm>
              <a:off x="170782" y="4380502"/>
              <a:ext cx="45719" cy="114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2" name="Rettangolo 11"/>
            <p:cNvSpPr/>
            <p:nvPr/>
          </p:nvSpPr>
          <p:spPr>
            <a:xfrm>
              <a:off x="390223" y="4380502"/>
              <a:ext cx="45719" cy="114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3" name="Rettangolo 12"/>
            <p:cNvSpPr/>
            <p:nvPr/>
          </p:nvSpPr>
          <p:spPr>
            <a:xfrm>
              <a:off x="716412" y="4380502"/>
              <a:ext cx="45719" cy="114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15" name="Gruppo 14"/>
          <p:cNvGrpSpPr/>
          <p:nvPr/>
        </p:nvGrpSpPr>
        <p:grpSpPr>
          <a:xfrm rot="10800000">
            <a:off x="8372304" y="4355758"/>
            <a:ext cx="730381" cy="119652"/>
            <a:chOff x="31750" y="4375150"/>
            <a:chExt cx="730381" cy="119652"/>
          </a:xfrm>
        </p:grpSpPr>
        <p:sp>
          <p:nvSpPr>
            <p:cNvPr id="16" name="Rettangolo 15"/>
            <p:cNvSpPr/>
            <p:nvPr/>
          </p:nvSpPr>
          <p:spPr>
            <a:xfrm>
              <a:off x="31750" y="4375150"/>
              <a:ext cx="45719" cy="114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7" name="Rettangolo 16"/>
            <p:cNvSpPr/>
            <p:nvPr/>
          </p:nvSpPr>
          <p:spPr>
            <a:xfrm>
              <a:off x="170782" y="4380502"/>
              <a:ext cx="45719" cy="114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Rettangolo 17"/>
            <p:cNvSpPr/>
            <p:nvPr/>
          </p:nvSpPr>
          <p:spPr>
            <a:xfrm>
              <a:off x="390223" y="4380502"/>
              <a:ext cx="45719" cy="114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9" name="Rettangolo 18"/>
            <p:cNvSpPr/>
            <p:nvPr/>
          </p:nvSpPr>
          <p:spPr>
            <a:xfrm>
              <a:off x="716412" y="4380502"/>
              <a:ext cx="45719" cy="1143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pic>
        <p:nvPicPr>
          <p:cNvPr id="20" name="Immagine 1" descr="ttp://ich.humanitasinside.techosp.ot/img/img_coo/HumanitasRH.jpg"/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9750" y="5436950"/>
            <a:ext cx="3200986" cy="735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289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asellaDiTesto 10"/>
          <p:cNvSpPr txBox="1"/>
          <p:nvPr/>
        </p:nvSpPr>
        <p:spPr>
          <a:xfrm>
            <a:off x="3369293" y="4330211"/>
            <a:ext cx="25891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dirty="0" smtClean="0"/>
              <a:t>Achille Anselmo</a:t>
            </a:r>
          </a:p>
          <a:p>
            <a:pPr algn="ctr"/>
            <a:r>
              <a:rPr lang="en-US" sz="2000" dirty="0" smtClean="0"/>
              <a:t>T</a:t>
            </a:r>
            <a:r>
              <a:rPr lang="it-IT" sz="2000" dirty="0" err="1" smtClean="0"/>
              <a:t>echnologist</a:t>
            </a:r>
            <a:r>
              <a:rPr lang="it-IT" sz="2000" dirty="0" smtClean="0"/>
              <a:t>, </a:t>
            </a:r>
            <a:r>
              <a:rPr lang="it-IT" sz="2000" dirty="0" err="1" smtClean="0"/>
              <a:t>specialist</a:t>
            </a:r>
            <a:endParaRPr lang="it-IT" sz="2000" dirty="0"/>
          </a:p>
        </p:txBody>
      </p:sp>
      <p:sp>
        <p:nvSpPr>
          <p:cNvPr id="22" name="CasellaDiTesto 11"/>
          <p:cNvSpPr txBox="1"/>
          <p:nvPr/>
        </p:nvSpPr>
        <p:spPr>
          <a:xfrm>
            <a:off x="6118248" y="4330211"/>
            <a:ext cx="23628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dirty="0" smtClean="0"/>
              <a:t>Federico Colombo</a:t>
            </a:r>
          </a:p>
          <a:p>
            <a:pPr algn="ctr"/>
            <a:r>
              <a:rPr lang="en-US" sz="2000" dirty="0" smtClean="0"/>
              <a:t>C</a:t>
            </a:r>
            <a:r>
              <a:rPr lang="it-IT" sz="2000" dirty="0" err="1" smtClean="0"/>
              <a:t>ell</a:t>
            </a:r>
            <a:r>
              <a:rPr lang="it-IT" sz="2000" dirty="0" smtClean="0"/>
              <a:t> </a:t>
            </a:r>
            <a:r>
              <a:rPr lang="it-IT" sz="2000" dirty="0" err="1" smtClean="0"/>
              <a:t>sorting</a:t>
            </a:r>
            <a:r>
              <a:rPr lang="it-IT" sz="2000" dirty="0" smtClean="0"/>
              <a:t> </a:t>
            </a:r>
            <a:r>
              <a:rPr lang="it-IT" sz="2000" dirty="0" err="1" smtClean="0"/>
              <a:t>specialist</a:t>
            </a:r>
            <a:endParaRPr lang="it-IT" sz="2000" dirty="0"/>
          </a:p>
        </p:txBody>
      </p:sp>
      <p:pic>
        <p:nvPicPr>
          <p:cNvPr id="23" name="Immagine 16" descr="Schermata 2016-01-13 alle 3.07.06 PM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15265" b="28490"/>
          <a:stretch/>
        </p:blipFill>
        <p:spPr>
          <a:xfrm>
            <a:off x="3623239" y="1776968"/>
            <a:ext cx="1932058" cy="2160000"/>
          </a:xfrm>
          <a:prstGeom prst="rect">
            <a:avLst/>
          </a:prstGeom>
          <a:ln w="28575" cmpd="sng">
            <a:solidFill>
              <a:srgbClr val="7F7F7F"/>
            </a:solidFill>
          </a:ln>
        </p:spPr>
      </p:pic>
      <p:pic>
        <p:nvPicPr>
          <p:cNvPr id="24" name="Immagine 17" descr="image1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5" t="5335" r="16764" b="6540"/>
          <a:stretch/>
        </p:blipFill>
        <p:spPr>
          <a:xfrm rot="5400000">
            <a:off x="6253528" y="1892621"/>
            <a:ext cx="2159999" cy="1928695"/>
          </a:xfrm>
          <a:prstGeom prst="rect">
            <a:avLst/>
          </a:prstGeom>
          <a:ln w="28575" cmpd="sng">
            <a:solidFill>
              <a:schemeClr val="bg1">
                <a:lumMod val="50000"/>
              </a:schemeClr>
            </a:solidFill>
          </a:ln>
        </p:spPr>
      </p:pic>
      <p:sp>
        <p:nvSpPr>
          <p:cNvPr id="25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smtClean="0">
                <a:solidFill>
                  <a:srgbClr val="000090"/>
                </a:solidFill>
              </a:rPr>
              <a:t>The </a:t>
            </a:r>
            <a:r>
              <a:rPr lang="it-IT" sz="3200" b="1" dirty="0" err="1" smtClean="0">
                <a:solidFill>
                  <a:srgbClr val="000090"/>
                </a:solidFill>
              </a:rPr>
              <a:t>Humanitas</a:t>
            </a:r>
            <a:r>
              <a:rPr lang="it-IT" sz="3200" b="1" dirty="0" smtClean="0">
                <a:solidFill>
                  <a:srgbClr val="000090"/>
                </a:solidFill>
              </a:rPr>
              <a:t> Flow </a:t>
            </a:r>
            <a:r>
              <a:rPr lang="it-IT" sz="3200" b="1" dirty="0" err="1" smtClean="0">
                <a:solidFill>
                  <a:srgbClr val="000090"/>
                </a:solidFill>
              </a:rPr>
              <a:t>Cytometry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Core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2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4"/>
          <a:srcRect b="17901"/>
          <a:stretch>
            <a:fillRect/>
          </a:stretch>
        </p:blipFill>
        <p:spPr>
          <a:xfrm>
            <a:off x="981772" y="1776968"/>
            <a:ext cx="1753970" cy="2160000"/>
          </a:xfrm>
          <a:prstGeom prst="rect">
            <a:avLst/>
          </a:prstGeom>
          <a:ln w="381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28" name="CasellaDiTesto 10"/>
          <p:cNvSpPr txBox="1"/>
          <p:nvPr/>
        </p:nvSpPr>
        <p:spPr>
          <a:xfrm>
            <a:off x="685353" y="4330211"/>
            <a:ext cx="238215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dirty="0" smtClean="0"/>
              <a:t>Enrico Lugli</a:t>
            </a:r>
          </a:p>
          <a:p>
            <a:pPr algn="ctr"/>
            <a:r>
              <a:rPr lang="en-US" sz="2000" dirty="0" smtClean="0"/>
              <a:t>Head</a:t>
            </a:r>
          </a:p>
          <a:p>
            <a:pPr algn="ctr"/>
            <a:r>
              <a:rPr lang="en-US" sz="2000" dirty="0" smtClean="0"/>
              <a:t>Principal Investigator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231289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smtClean="0">
                <a:solidFill>
                  <a:srgbClr val="000090"/>
                </a:solidFill>
              </a:rPr>
              <a:t>How to </a:t>
            </a:r>
            <a:r>
              <a:rPr lang="it-IT" sz="3200" b="1" dirty="0" err="1" smtClean="0">
                <a:solidFill>
                  <a:srgbClr val="000090"/>
                </a:solidFill>
              </a:rPr>
              <a:t>avoid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artifacts</a:t>
            </a:r>
            <a:r>
              <a:rPr lang="it-IT" sz="3200" b="1" dirty="0" smtClean="0">
                <a:solidFill>
                  <a:srgbClr val="000090"/>
                </a:solidFill>
              </a:rPr>
              <a:t> in flow </a:t>
            </a:r>
            <a:r>
              <a:rPr lang="it-IT" sz="3200" b="1" dirty="0" err="1" smtClean="0">
                <a:solidFill>
                  <a:srgbClr val="000090"/>
                </a:solidFill>
              </a:rPr>
              <a:t>cytometry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/>
          <p:cNvSpPr txBox="1"/>
          <p:nvPr/>
        </p:nvSpPr>
        <p:spPr>
          <a:xfrm>
            <a:off x="268900" y="1523173"/>
            <a:ext cx="7948000" cy="43293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it-IT" sz="2800" dirty="0" err="1" smtClean="0"/>
              <a:t>Reagent</a:t>
            </a:r>
            <a:r>
              <a:rPr lang="it-IT" sz="2800" dirty="0" smtClean="0"/>
              <a:t> </a:t>
            </a:r>
            <a:r>
              <a:rPr lang="it-IT" sz="2800" dirty="0" err="1" smtClean="0"/>
              <a:t>titration</a:t>
            </a:r>
            <a:r>
              <a:rPr lang="it-IT" sz="2800" dirty="0" smtClean="0"/>
              <a:t>: </a:t>
            </a:r>
            <a:r>
              <a:rPr lang="it-IT" sz="2800" dirty="0" err="1" smtClean="0"/>
              <a:t>how</a:t>
            </a:r>
            <a:r>
              <a:rPr lang="it-IT" sz="2800" dirty="0" smtClean="0"/>
              <a:t> to </a:t>
            </a:r>
            <a:r>
              <a:rPr lang="it-IT" sz="2800" dirty="0" err="1" smtClean="0"/>
              <a:t>achieve</a:t>
            </a:r>
            <a:r>
              <a:rPr lang="it-IT" sz="2800" dirty="0" smtClean="0"/>
              <a:t> the best </a:t>
            </a:r>
            <a:r>
              <a:rPr lang="it-IT" sz="2800" dirty="0" err="1" smtClean="0"/>
              <a:t>separation</a:t>
            </a:r>
            <a:r>
              <a:rPr lang="it-IT" sz="2800" dirty="0" smtClean="0"/>
              <a:t> over background</a:t>
            </a: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it-IT" sz="2800" dirty="0" err="1" smtClean="0"/>
              <a:t>Multicolor</a:t>
            </a:r>
            <a:r>
              <a:rPr lang="it-IT" sz="2800" dirty="0" smtClean="0"/>
              <a:t> (&gt;1 </a:t>
            </a:r>
            <a:r>
              <a:rPr lang="it-IT" sz="2800" dirty="0" err="1" smtClean="0"/>
              <a:t>parameter</a:t>
            </a:r>
            <a:r>
              <a:rPr lang="it-IT" sz="2800" dirty="0" smtClean="0"/>
              <a:t>) </a:t>
            </a:r>
            <a:r>
              <a:rPr lang="it-IT" sz="2800" dirty="0" err="1" smtClean="0"/>
              <a:t>compensation</a:t>
            </a:r>
            <a:endParaRPr lang="it-IT" sz="2800" dirty="0" smtClean="0"/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it-IT" sz="2800" dirty="0" err="1" smtClean="0"/>
              <a:t>Spreading</a:t>
            </a:r>
            <a:r>
              <a:rPr lang="it-IT" sz="2800" dirty="0" smtClean="0"/>
              <a:t> </a:t>
            </a:r>
            <a:r>
              <a:rPr lang="it-IT" sz="2800" dirty="0" err="1" smtClean="0"/>
              <a:t>error</a:t>
            </a:r>
            <a:r>
              <a:rPr lang="it-IT" sz="2800" dirty="0" smtClean="0"/>
              <a:t> in </a:t>
            </a:r>
            <a:r>
              <a:rPr lang="it-IT" sz="2800" dirty="0" err="1" smtClean="0"/>
              <a:t>multicolor</a:t>
            </a:r>
            <a:r>
              <a:rPr lang="it-IT" sz="2800" dirty="0" smtClean="0"/>
              <a:t> FACS</a:t>
            </a: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it-IT" sz="2800" dirty="0" smtClean="0"/>
              <a:t>Presentation of high </a:t>
            </a:r>
            <a:r>
              <a:rPr lang="it-IT" sz="2800" dirty="0" err="1" smtClean="0"/>
              <a:t>quality</a:t>
            </a:r>
            <a:r>
              <a:rPr lang="it-IT" sz="2800" dirty="0" smtClean="0"/>
              <a:t> data for </a:t>
            </a:r>
            <a:r>
              <a:rPr lang="it-IT" sz="2800" dirty="0" err="1" smtClean="0"/>
              <a:t>publication</a:t>
            </a:r>
            <a:endParaRPr lang="it-IT" sz="2800" dirty="0" smtClean="0"/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103519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474579" y="174306"/>
            <a:ext cx="801436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Abs</a:t>
            </a:r>
            <a:r>
              <a:rPr lang="it-IT" sz="3200" b="1" dirty="0" smtClean="0">
                <a:solidFill>
                  <a:srgbClr val="000090"/>
                </a:solidFill>
              </a:rPr>
              <a:t>: </a:t>
            </a:r>
            <a:r>
              <a:rPr lang="it-IT" sz="3200" b="1" dirty="0" err="1" smtClean="0">
                <a:solidFill>
                  <a:srgbClr val="000090"/>
                </a:solidFill>
              </a:rPr>
              <a:t>not</a:t>
            </a:r>
            <a:r>
              <a:rPr lang="it-IT" sz="3200" b="1" dirty="0" smtClean="0">
                <a:solidFill>
                  <a:srgbClr val="000090"/>
                </a:solidFill>
              </a:rPr>
              <a:t> just the </a:t>
            </a:r>
            <a:r>
              <a:rPr lang="it-IT" sz="3200" b="1" dirty="0" err="1" smtClean="0">
                <a:solidFill>
                  <a:srgbClr val="000090"/>
                </a:solidFill>
              </a:rPr>
              <a:t>manufacturer’s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instructions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84" y="2430802"/>
            <a:ext cx="7974263" cy="3897533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287421" y="1129631"/>
            <a:ext cx="8691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 err="1" smtClean="0"/>
              <a:t>Fresh</a:t>
            </a:r>
            <a:r>
              <a:rPr lang="it-IT" i="1" dirty="0" smtClean="0"/>
              <a:t> PBMC </a:t>
            </a:r>
            <a:r>
              <a:rPr lang="it-IT" i="1" dirty="0" err="1" smtClean="0"/>
              <a:t>stained</a:t>
            </a:r>
            <a:r>
              <a:rPr lang="it-IT" i="1" dirty="0" smtClean="0"/>
              <a:t> with 7 </a:t>
            </a:r>
            <a:r>
              <a:rPr lang="it-IT" i="1" dirty="0" err="1" smtClean="0"/>
              <a:t>two-fold</a:t>
            </a:r>
            <a:r>
              <a:rPr lang="it-IT" i="1" dirty="0"/>
              <a:t> </a:t>
            </a:r>
            <a:r>
              <a:rPr lang="it-IT" i="1" dirty="0" smtClean="0"/>
              <a:t>serial </a:t>
            </a:r>
            <a:r>
              <a:rPr lang="it-IT" i="1" dirty="0" err="1" smtClean="0"/>
              <a:t>dilutions</a:t>
            </a:r>
            <a:r>
              <a:rPr lang="it-IT" i="1" dirty="0" smtClean="0"/>
              <a:t> of BV421 anti-CD14 (</a:t>
            </a:r>
            <a:r>
              <a:rPr lang="it-IT" i="1" dirty="0" err="1" smtClean="0"/>
              <a:t>uL</a:t>
            </a:r>
            <a:r>
              <a:rPr lang="it-IT" i="1" dirty="0" smtClean="0"/>
              <a:t> of Ab in 100 </a:t>
            </a:r>
            <a:r>
              <a:rPr lang="it-IT" i="1" dirty="0" err="1" smtClean="0"/>
              <a:t>uL</a:t>
            </a:r>
            <a:r>
              <a:rPr lang="it-IT" i="1" dirty="0" smtClean="0"/>
              <a:t> </a:t>
            </a:r>
            <a:r>
              <a:rPr lang="it-IT" i="1" dirty="0" err="1" smtClean="0"/>
              <a:t>total</a:t>
            </a:r>
            <a:r>
              <a:rPr lang="it-IT" i="1" dirty="0" smtClean="0"/>
              <a:t> volume for 20’ </a:t>
            </a:r>
            <a:r>
              <a:rPr lang="it-IT" i="1" dirty="0" err="1" smtClean="0"/>
              <a:t>at</a:t>
            </a:r>
            <a:r>
              <a:rPr lang="it-IT" i="1" dirty="0" smtClean="0"/>
              <a:t> RT)</a:t>
            </a:r>
            <a:endParaRPr lang="it-IT" i="1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181620" y="2330119"/>
            <a:ext cx="5734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 smtClean="0"/>
              <a:t>Titer</a:t>
            </a:r>
            <a:r>
              <a:rPr lang="it-IT" sz="1400" dirty="0" smtClean="0"/>
              <a:t>:</a:t>
            </a: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3926521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474579" y="174306"/>
            <a:ext cx="801436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Abs</a:t>
            </a:r>
            <a:r>
              <a:rPr lang="it-IT" sz="3200" b="1" dirty="0" smtClean="0">
                <a:solidFill>
                  <a:srgbClr val="000090"/>
                </a:solidFill>
              </a:rPr>
              <a:t>: </a:t>
            </a:r>
            <a:r>
              <a:rPr lang="it-IT" sz="3200" b="1" dirty="0" err="1" smtClean="0">
                <a:solidFill>
                  <a:srgbClr val="000090"/>
                </a:solidFill>
              </a:rPr>
              <a:t>not</a:t>
            </a:r>
            <a:r>
              <a:rPr lang="it-IT" sz="3200" b="1" dirty="0" smtClean="0">
                <a:solidFill>
                  <a:srgbClr val="000090"/>
                </a:solidFill>
              </a:rPr>
              <a:t> just the </a:t>
            </a:r>
            <a:r>
              <a:rPr lang="it-IT" sz="3200" b="1" dirty="0" err="1" smtClean="0">
                <a:solidFill>
                  <a:srgbClr val="000090"/>
                </a:solidFill>
              </a:rPr>
              <a:t>manufacturer’s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instructions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/>
          <p:cNvSpPr txBox="1"/>
          <p:nvPr/>
        </p:nvSpPr>
        <p:spPr>
          <a:xfrm>
            <a:off x="285321" y="5824236"/>
            <a:ext cx="8691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AIM: </a:t>
            </a:r>
            <a:r>
              <a:rPr lang="it-IT" dirty="0" err="1" smtClean="0"/>
              <a:t>Choose</a:t>
            </a:r>
            <a:r>
              <a:rPr lang="it-IT" dirty="0" smtClean="0"/>
              <a:t> the </a:t>
            </a:r>
            <a:r>
              <a:rPr lang="it-IT" dirty="0" err="1" smtClean="0"/>
              <a:t>titer</a:t>
            </a:r>
            <a:r>
              <a:rPr lang="it-IT" dirty="0" smtClean="0"/>
              <a:t> </a:t>
            </a:r>
            <a:r>
              <a:rPr lang="it-IT" dirty="0" err="1" smtClean="0"/>
              <a:t>at</a:t>
            </a:r>
            <a:r>
              <a:rPr lang="it-IT" dirty="0" smtClean="0"/>
              <a:t> </a:t>
            </a:r>
            <a:r>
              <a:rPr lang="it-IT" dirty="0" err="1" smtClean="0"/>
              <a:t>which</a:t>
            </a:r>
            <a:r>
              <a:rPr lang="it-IT" dirty="0" smtClean="0"/>
              <a:t> the best </a:t>
            </a:r>
            <a:r>
              <a:rPr lang="it-IT" dirty="0" err="1" smtClean="0"/>
              <a:t>separation</a:t>
            </a:r>
            <a:r>
              <a:rPr lang="it-IT" dirty="0" smtClean="0"/>
              <a:t> </a:t>
            </a:r>
            <a:r>
              <a:rPr lang="it-IT" dirty="0" err="1" smtClean="0"/>
              <a:t>between</a:t>
            </a:r>
            <a:r>
              <a:rPr lang="it-IT" dirty="0" smtClean="0"/>
              <a:t> the positive and the negative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achieved</a:t>
            </a:r>
            <a:r>
              <a:rPr lang="it-IT" dirty="0" smtClean="0"/>
              <a:t> </a:t>
            </a:r>
            <a:r>
              <a:rPr lang="it-IT" dirty="0" err="1" smtClean="0"/>
              <a:t>without</a:t>
            </a:r>
            <a:r>
              <a:rPr lang="it-IT" dirty="0" smtClean="0"/>
              <a:t> </a:t>
            </a:r>
            <a:r>
              <a:rPr lang="it-IT" dirty="0" err="1" smtClean="0"/>
              <a:t>increase</a:t>
            </a:r>
            <a:r>
              <a:rPr lang="it-IT" dirty="0" smtClean="0"/>
              <a:t> in the background.</a:t>
            </a:r>
            <a:endParaRPr lang="it-IT" dirty="0"/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 rotWithShape="1">
          <a:blip r:embed="rId2"/>
          <a:srcRect b="12483"/>
          <a:stretch/>
        </p:blipFill>
        <p:spPr>
          <a:xfrm>
            <a:off x="505466" y="1524533"/>
            <a:ext cx="3949700" cy="3412185"/>
          </a:xfrm>
          <a:prstGeom prst="rect">
            <a:avLst/>
          </a:prstGeom>
        </p:spPr>
      </p:pic>
      <p:sp>
        <p:nvSpPr>
          <p:cNvPr id="12" name="Figura a mano libera 11"/>
          <p:cNvSpPr/>
          <p:nvPr/>
        </p:nvSpPr>
        <p:spPr>
          <a:xfrm>
            <a:off x="1506762" y="1943100"/>
            <a:ext cx="2565400" cy="1041400"/>
          </a:xfrm>
          <a:custGeom>
            <a:avLst/>
            <a:gdLst>
              <a:gd name="connsiteX0" fmla="*/ 0 w 2565400"/>
              <a:gd name="connsiteY0" fmla="*/ 1041400 h 1041400"/>
              <a:gd name="connsiteX1" fmla="*/ 527050 w 2565400"/>
              <a:gd name="connsiteY1" fmla="*/ 742950 h 1041400"/>
              <a:gd name="connsiteX2" fmla="*/ 939800 w 2565400"/>
              <a:gd name="connsiteY2" fmla="*/ 558800 h 1041400"/>
              <a:gd name="connsiteX3" fmla="*/ 1346200 w 2565400"/>
              <a:gd name="connsiteY3" fmla="*/ 381000 h 1041400"/>
              <a:gd name="connsiteX4" fmla="*/ 1733550 w 2565400"/>
              <a:gd name="connsiteY4" fmla="*/ 254000 h 1041400"/>
              <a:gd name="connsiteX5" fmla="*/ 2146300 w 2565400"/>
              <a:gd name="connsiteY5" fmla="*/ 114300 h 1041400"/>
              <a:gd name="connsiteX6" fmla="*/ 2565400 w 2565400"/>
              <a:gd name="connsiteY6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65400" h="1041400">
                <a:moveTo>
                  <a:pt x="0" y="1041400"/>
                </a:moveTo>
                <a:lnTo>
                  <a:pt x="527050" y="742950"/>
                </a:lnTo>
                <a:lnTo>
                  <a:pt x="939800" y="558800"/>
                </a:lnTo>
                <a:lnTo>
                  <a:pt x="1346200" y="381000"/>
                </a:lnTo>
                <a:lnTo>
                  <a:pt x="1733550" y="254000"/>
                </a:lnTo>
                <a:lnTo>
                  <a:pt x="2146300" y="114300"/>
                </a:lnTo>
                <a:lnTo>
                  <a:pt x="2565400" y="0"/>
                </a:lnTo>
              </a:path>
            </a:pathLst>
          </a:cu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Figura a mano libera 13"/>
          <p:cNvSpPr/>
          <p:nvPr/>
        </p:nvSpPr>
        <p:spPr>
          <a:xfrm>
            <a:off x="1557562" y="3505200"/>
            <a:ext cx="2514600" cy="596900"/>
          </a:xfrm>
          <a:custGeom>
            <a:avLst/>
            <a:gdLst>
              <a:gd name="connsiteX0" fmla="*/ 0 w 2514600"/>
              <a:gd name="connsiteY0" fmla="*/ 596900 h 596900"/>
              <a:gd name="connsiteX1" fmla="*/ 501650 w 2514600"/>
              <a:gd name="connsiteY1" fmla="*/ 558800 h 596900"/>
              <a:gd name="connsiteX2" fmla="*/ 901700 w 2514600"/>
              <a:gd name="connsiteY2" fmla="*/ 508000 h 596900"/>
              <a:gd name="connsiteX3" fmla="*/ 1308100 w 2514600"/>
              <a:gd name="connsiteY3" fmla="*/ 431800 h 596900"/>
              <a:gd name="connsiteX4" fmla="*/ 1714500 w 2514600"/>
              <a:gd name="connsiteY4" fmla="*/ 342900 h 596900"/>
              <a:gd name="connsiteX5" fmla="*/ 2108200 w 2514600"/>
              <a:gd name="connsiteY5" fmla="*/ 203200 h 596900"/>
              <a:gd name="connsiteX6" fmla="*/ 2514600 w 2514600"/>
              <a:gd name="connsiteY6" fmla="*/ 0 h 59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14600" h="596900">
                <a:moveTo>
                  <a:pt x="0" y="596900"/>
                </a:moveTo>
                <a:lnTo>
                  <a:pt x="501650" y="558800"/>
                </a:lnTo>
                <a:lnTo>
                  <a:pt x="901700" y="508000"/>
                </a:lnTo>
                <a:lnTo>
                  <a:pt x="1308100" y="431800"/>
                </a:lnTo>
                <a:lnTo>
                  <a:pt x="1714500" y="342900"/>
                </a:lnTo>
                <a:lnTo>
                  <a:pt x="2108200" y="203200"/>
                </a:lnTo>
                <a:lnTo>
                  <a:pt x="2514600" y="0"/>
                </a:lnTo>
              </a:path>
            </a:pathLst>
          </a:cu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CasellaDiTesto 1"/>
          <p:cNvSpPr txBox="1"/>
          <p:nvPr/>
        </p:nvSpPr>
        <p:spPr>
          <a:xfrm rot="1926634">
            <a:off x="3940871" y="4858562"/>
            <a:ext cx="288661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5</a:t>
            </a:r>
            <a:endParaRPr lang="it-IT" sz="1600" dirty="0"/>
          </a:p>
        </p:txBody>
      </p:sp>
      <p:sp>
        <p:nvSpPr>
          <p:cNvPr id="10" name="CasellaDiTesto 9"/>
          <p:cNvSpPr txBox="1"/>
          <p:nvPr/>
        </p:nvSpPr>
        <p:spPr>
          <a:xfrm rot="1926634">
            <a:off x="3549413" y="4858562"/>
            <a:ext cx="44445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2.5</a:t>
            </a:r>
            <a:endParaRPr lang="it-IT" sz="1600" dirty="0"/>
          </a:p>
        </p:txBody>
      </p:sp>
      <p:sp>
        <p:nvSpPr>
          <p:cNvPr id="11" name="CasellaDiTesto 10"/>
          <p:cNvSpPr txBox="1"/>
          <p:nvPr/>
        </p:nvSpPr>
        <p:spPr>
          <a:xfrm rot="1926634">
            <a:off x="3053961" y="4858562"/>
            <a:ext cx="54844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1.25</a:t>
            </a:r>
            <a:endParaRPr lang="it-IT" sz="1600" dirty="0"/>
          </a:p>
        </p:txBody>
      </p:sp>
      <p:sp>
        <p:nvSpPr>
          <p:cNvPr id="13" name="CasellaDiTesto 12"/>
          <p:cNvSpPr txBox="1"/>
          <p:nvPr/>
        </p:nvSpPr>
        <p:spPr>
          <a:xfrm rot="1926634">
            <a:off x="2662503" y="4858562"/>
            <a:ext cx="44445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0.6</a:t>
            </a:r>
            <a:endParaRPr lang="it-IT" sz="1600" dirty="0"/>
          </a:p>
        </p:txBody>
      </p:sp>
      <p:sp>
        <p:nvSpPr>
          <p:cNvPr id="16" name="CasellaDiTesto 15"/>
          <p:cNvSpPr txBox="1"/>
          <p:nvPr/>
        </p:nvSpPr>
        <p:spPr>
          <a:xfrm rot="1926634">
            <a:off x="2271045" y="4858562"/>
            <a:ext cx="44445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0.3</a:t>
            </a:r>
            <a:endParaRPr lang="it-IT" sz="1600" dirty="0"/>
          </a:p>
        </p:txBody>
      </p:sp>
      <p:sp>
        <p:nvSpPr>
          <p:cNvPr id="17" name="CasellaDiTesto 16"/>
          <p:cNvSpPr txBox="1"/>
          <p:nvPr/>
        </p:nvSpPr>
        <p:spPr>
          <a:xfrm rot="1926634">
            <a:off x="1775593" y="4858562"/>
            <a:ext cx="54844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0.15</a:t>
            </a:r>
            <a:endParaRPr lang="it-IT" sz="1600" dirty="0"/>
          </a:p>
        </p:txBody>
      </p:sp>
      <p:sp>
        <p:nvSpPr>
          <p:cNvPr id="18" name="CasellaDiTesto 17"/>
          <p:cNvSpPr txBox="1"/>
          <p:nvPr/>
        </p:nvSpPr>
        <p:spPr>
          <a:xfrm rot="1926634">
            <a:off x="1280141" y="4858562"/>
            <a:ext cx="54844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0.07</a:t>
            </a:r>
            <a:endParaRPr lang="it-IT" sz="1600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2439682" y="5181321"/>
            <a:ext cx="768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 smtClean="0"/>
              <a:t>Titer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2873656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/>
          <p:cNvPicPr>
            <a:picLocks noChangeAspect="1"/>
          </p:cNvPicPr>
          <p:nvPr/>
        </p:nvPicPr>
        <p:blipFill rotWithShape="1">
          <a:blip r:embed="rId2"/>
          <a:srcRect b="12391"/>
          <a:stretch/>
        </p:blipFill>
        <p:spPr>
          <a:xfrm>
            <a:off x="502932" y="1524533"/>
            <a:ext cx="3949700" cy="3415767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474579" y="174306"/>
            <a:ext cx="801436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Abs</a:t>
            </a:r>
            <a:r>
              <a:rPr lang="it-IT" sz="3200" b="1" dirty="0" smtClean="0">
                <a:solidFill>
                  <a:srgbClr val="000090"/>
                </a:solidFill>
              </a:rPr>
              <a:t>: </a:t>
            </a:r>
            <a:r>
              <a:rPr lang="it-IT" sz="3200" b="1" dirty="0" err="1" smtClean="0">
                <a:solidFill>
                  <a:srgbClr val="000090"/>
                </a:solidFill>
              </a:rPr>
              <a:t>not</a:t>
            </a:r>
            <a:r>
              <a:rPr lang="it-IT" sz="3200" b="1" dirty="0" smtClean="0">
                <a:solidFill>
                  <a:srgbClr val="000090"/>
                </a:solidFill>
              </a:rPr>
              <a:t> just the </a:t>
            </a:r>
            <a:r>
              <a:rPr lang="it-IT" sz="3200" b="1" dirty="0" err="1" smtClean="0">
                <a:solidFill>
                  <a:srgbClr val="000090"/>
                </a:solidFill>
              </a:rPr>
              <a:t>manufacturer’s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instructions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asellaDiTesto 2"/>
          <p:cNvSpPr txBox="1"/>
          <p:nvPr/>
        </p:nvSpPr>
        <p:spPr>
          <a:xfrm>
            <a:off x="285321" y="5824236"/>
            <a:ext cx="8691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smtClean="0"/>
              <a:t>AIM: </a:t>
            </a:r>
            <a:r>
              <a:rPr lang="it-IT" dirty="0" err="1" smtClean="0"/>
              <a:t>Choose</a:t>
            </a:r>
            <a:r>
              <a:rPr lang="it-IT" dirty="0" smtClean="0"/>
              <a:t> the </a:t>
            </a:r>
            <a:r>
              <a:rPr lang="it-IT" dirty="0" err="1" smtClean="0"/>
              <a:t>titer</a:t>
            </a:r>
            <a:r>
              <a:rPr lang="it-IT" dirty="0" smtClean="0"/>
              <a:t> </a:t>
            </a:r>
            <a:r>
              <a:rPr lang="it-IT" dirty="0" err="1" smtClean="0"/>
              <a:t>at</a:t>
            </a:r>
            <a:r>
              <a:rPr lang="it-IT" dirty="0" smtClean="0"/>
              <a:t> </a:t>
            </a:r>
            <a:r>
              <a:rPr lang="it-IT" dirty="0" err="1" smtClean="0"/>
              <a:t>which</a:t>
            </a:r>
            <a:r>
              <a:rPr lang="it-IT" dirty="0" smtClean="0"/>
              <a:t> the best </a:t>
            </a:r>
            <a:r>
              <a:rPr lang="it-IT" dirty="0" err="1" smtClean="0"/>
              <a:t>separation</a:t>
            </a:r>
            <a:r>
              <a:rPr lang="it-IT" dirty="0" smtClean="0"/>
              <a:t> </a:t>
            </a:r>
            <a:r>
              <a:rPr lang="it-IT" dirty="0" err="1" smtClean="0"/>
              <a:t>between</a:t>
            </a:r>
            <a:r>
              <a:rPr lang="it-IT" dirty="0" smtClean="0"/>
              <a:t> the positive and the negative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achieved</a:t>
            </a:r>
            <a:r>
              <a:rPr lang="it-IT" dirty="0" smtClean="0"/>
              <a:t> </a:t>
            </a:r>
            <a:r>
              <a:rPr lang="it-IT" dirty="0" err="1" smtClean="0"/>
              <a:t>without</a:t>
            </a:r>
            <a:r>
              <a:rPr lang="it-IT" dirty="0" smtClean="0"/>
              <a:t> </a:t>
            </a:r>
            <a:r>
              <a:rPr lang="it-IT" dirty="0" err="1" smtClean="0"/>
              <a:t>increase</a:t>
            </a:r>
            <a:r>
              <a:rPr lang="it-IT" dirty="0" smtClean="0"/>
              <a:t> in the background.</a:t>
            </a:r>
            <a:endParaRPr lang="it-IT" dirty="0"/>
          </a:p>
        </p:txBody>
      </p:sp>
      <p:sp>
        <p:nvSpPr>
          <p:cNvPr id="15" name="Rettangolo 14"/>
          <p:cNvSpPr/>
          <p:nvPr/>
        </p:nvSpPr>
        <p:spPr>
          <a:xfrm>
            <a:off x="2664510" y="1384300"/>
            <a:ext cx="537701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200" b="0" i="0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it-IT" sz="3200" dirty="0">
              <a:solidFill>
                <a:srgbClr val="FF0000"/>
              </a:solidFill>
            </a:endParaRPr>
          </a:p>
        </p:txBody>
      </p:sp>
      <p:sp>
        <p:nvSpPr>
          <p:cNvPr id="2" name="CasellaDiTesto 1"/>
          <p:cNvSpPr txBox="1"/>
          <p:nvPr/>
        </p:nvSpPr>
        <p:spPr>
          <a:xfrm rot="1926634">
            <a:off x="3940871" y="4858562"/>
            <a:ext cx="288661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5</a:t>
            </a:r>
            <a:endParaRPr lang="it-IT" sz="1600" dirty="0"/>
          </a:p>
        </p:txBody>
      </p:sp>
      <p:sp>
        <p:nvSpPr>
          <p:cNvPr id="10" name="CasellaDiTesto 9"/>
          <p:cNvSpPr txBox="1"/>
          <p:nvPr/>
        </p:nvSpPr>
        <p:spPr>
          <a:xfrm rot="1926634">
            <a:off x="3549413" y="4858562"/>
            <a:ext cx="44445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2.5</a:t>
            </a:r>
            <a:endParaRPr lang="it-IT" sz="1600" dirty="0"/>
          </a:p>
        </p:txBody>
      </p:sp>
      <p:sp>
        <p:nvSpPr>
          <p:cNvPr id="11" name="CasellaDiTesto 10"/>
          <p:cNvSpPr txBox="1"/>
          <p:nvPr/>
        </p:nvSpPr>
        <p:spPr>
          <a:xfrm rot="1926634">
            <a:off x="3053961" y="4858562"/>
            <a:ext cx="54844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1.25</a:t>
            </a:r>
            <a:endParaRPr lang="it-IT" sz="1600" dirty="0"/>
          </a:p>
        </p:txBody>
      </p:sp>
      <p:sp>
        <p:nvSpPr>
          <p:cNvPr id="13" name="CasellaDiTesto 12"/>
          <p:cNvSpPr txBox="1"/>
          <p:nvPr/>
        </p:nvSpPr>
        <p:spPr>
          <a:xfrm rot="1926634">
            <a:off x="2662503" y="4858562"/>
            <a:ext cx="44445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0.6</a:t>
            </a:r>
            <a:endParaRPr lang="it-IT" sz="1600" dirty="0"/>
          </a:p>
        </p:txBody>
      </p:sp>
      <p:sp>
        <p:nvSpPr>
          <p:cNvPr id="16" name="CasellaDiTesto 15"/>
          <p:cNvSpPr txBox="1"/>
          <p:nvPr/>
        </p:nvSpPr>
        <p:spPr>
          <a:xfrm rot="1926634">
            <a:off x="2271045" y="4858562"/>
            <a:ext cx="444453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0.3</a:t>
            </a:r>
            <a:endParaRPr lang="it-IT" sz="1600" dirty="0"/>
          </a:p>
        </p:txBody>
      </p:sp>
      <p:sp>
        <p:nvSpPr>
          <p:cNvPr id="17" name="CasellaDiTesto 16"/>
          <p:cNvSpPr txBox="1"/>
          <p:nvPr/>
        </p:nvSpPr>
        <p:spPr>
          <a:xfrm rot="1926634">
            <a:off x="1775593" y="4858562"/>
            <a:ext cx="54844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0.15</a:t>
            </a:r>
            <a:endParaRPr lang="it-IT" sz="1600" dirty="0"/>
          </a:p>
        </p:txBody>
      </p:sp>
      <p:sp>
        <p:nvSpPr>
          <p:cNvPr id="18" name="CasellaDiTesto 17"/>
          <p:cNvSpPr txBox="1"/>
          <p:nvPr/>
        </p:nvSpPr>
        <p:spPr>
          <a:xfrm rot="1926634">
            <a:off x="1280141" y="4858562"/>
            <a:ext cx="548447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it-IT" sz="1600" dirty="0" smtClean="0"/>
              <a:t>0.07</a:t>
            </a:r>
            <a:endParaRPr lang="it-IT" sz="1600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2439682" y="5181321"/>
            <a:ext cx="768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 smtClean="0"/>
              <a:t>Titer</a:t>
            </a:r>
            <a:endParaRPr lang="it-IT" sz="2400" dirty="0"/>
          </a:p>
        </p:txBody>
      </p:sp>
      <p:sp>
        <p:nvSpPr>
          <p:cNvPr id="19" name="CasellaDiTesto 18"/>
          <p:cNvSpPr txBox="1"/>
          <p:nvPr/>
        </p:nvSpPr>
        <p:spPr>
          <a:xfrm>
            <a:off x="5005082" y="1409700"/>
            <a:ext cx="3580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SNR: </a:t>
            </a:r>
            <a:r>
              <a:rPr lang="it-IT" dirty="0" err="1" smtClean="0"/>
              <a:t>Signal</a:t>
            </a:r>
            <a:r>
              <a:rPr lang="it-IT" dirty="0" smtClean="0"/>
              <a:t>-to-</a:t>
            </a:r>
            <a:r>
              <a:rPr lang="it-IT" dirty="0" err="1" smtClean="0"/>
              <a:t>noise</a:t>
            </a:r>
            <a:r>
              <a:rPr lang="it-IT" dirty="0" smtClean="0"/>
              <a:t> ratio</a:t>
            </a:r>
          </a:p>
          <a:p>
            <a:r>
              <a:rPr lang="it-IT" dirty="0" smtClean="0"/>
              <a:t>MFI: </a:t>
            </a:r>
            <a:r>
              <a:rPr lang="it-IT" dirty="0" err="1" smtClean="0"/>
              <a:t>median</a:t>
            </a:r>
            <a:r>
              <a:rPr lang="it-IT" dirty="0" smtClean="0"/>
              <a:t> </a:t>
            </a:r>
            <a:r>
              <a:rPr lang="it-IT" dirty="0" err="1" smtClean="0"/>
              <a:t>fluorescence</a:t>
            </a:r>
            <a:r>
              <a:rPr lang="it-IT" dirty="0" smtClean="0"/>
              <a:t> </a:t>
            </a:r>
            <a:r>
              <a:rPr lang="it-IT" dirty="0" err="1" smtClean="0"/>
              <a:t>intensity</a:t>
            </a:r>
            <a:endParaRPr lang="it-IT" dirty="0" smtClean="0"/>
          </a:p>
          <a:p>
            <a:endParaRPr lang="it-IT" dirty="0"/>
          </a:p>
          <a:p>
            <a:r>
              <a:rPr lang="it-IT" dirty="0" smtClean="0"/>
              <a:t>SNR: MFI (</a:t>
            </a:r>
            <a:r>
              <a:rPr lang="it-IT" dirty="0" err="1" smtClean="0"/>
              <a:t>pos</a:t>
            </a:r>
            <a:r>
              <a:rPr lang="it-IT" dirty="0" smtClean="0"/>
              <a:t>) / MFI (</a:t>
            </a:r>
            <a:r>
              <a:rPr lang="it-IT" dirty="0" err="1" smtClean="0"/>
              <a:t>neg</a:t>
            </a:r>
            <a:r>
              <a:rPr lang="it-IT" dirty="0" smtClean="0"/>
              <a:t>)</a:t>
            </a:r>
          </a:p>
        </p:txBody>
      </p:sp>
      <p:grpSp>
        <p:nvGrpSpPr>
          <p:cNvPr id="9" name="Gruppo 8"/>
          <p:cNvGrpSpPr/>
          <p:nvPr/>
        </p:nvGrpSpPr>
        <p:grpSpPr>
          <a:xfrm>
            <a:off x="4814582" y="3205684"/>
            <a:ext cx="4271984" cy="2443373"/>
            <a:chOff x="4814582" y="3205684"/>
            <a:chExt cx="4271984" cy="2443373"/>
          </a:xfrm>
        </p:grpSpPr>
        <p:sp>
          <p:nvSpPr>
            <p:cNvPr id="22" name="CasellaDiTesto 21"/>
            <p:cNvSpPr txBox="1"/>
            <p:nvPr/>
          </p:nvSpPr>
          <p:spPr>
            <a:xfrm>
              <a:off x="6097282" y="5187392"/>
              <a:ext cx="76881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 err="1" smtClean="0"/>
                <a:t>Titer</a:t>
              </a:r>
              <a:endParaRPr lang="it-IT" sz="2400" dirty="0"/>
            </a:p>
          </p:txBody>
        </p:sp>
        <p:graphicFrame>
          <p:nvGraphicFramePr>
            <p:cNvPr id="23" name="Grafico 22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56307238"/>
                </p:ext>
              </p:extLst>
            </p:nvPr>
          </p:nvGraphicFramePr>
          <p:xfrm>
            <a:off x="4814582" y="3205684"/>
            <a:ext cx="3580118" cy="197563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4" name="CasellaDiTesto 23"/>
            <p:cNvSpPr txBox="1"/>
            <p:nvPr/>
          </p:nvSpPr>
          <p:spPr>
            <a:xfrm>
              <a:off x="8394700" y="3803092"/>
              <a:ext cx="6918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400" dirty="0" smtClean="0"/>
                <a:t>SNR</a:t>
              </a:r>
              <a:endParaRPr lang="it-IT" sz="2400" dirty="0"/>
            </a:p>
          </p:txBody>
        </p:sp>
      </p:grpSp>
      <p:sp>
        <p:nvSpPr>
          <p:cNvPr id="25" name="Rettangolo 24"/>
          <p:cNvSpPr/>
          <p:nvPr/>
        </p:nvSpPr>
        <p:spPr>
          <a:xfrm>
            <a:off x="6258610" y="2838450"/>
            <a:ext cx="537701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sz="3200" b="0" i="0" dirty="0" smtClean="0">
                <a:solidFill>
                  <a:srgbClr val="FF0000"/>
                </a:solidFill>
                <a:latin typeface="Zapf Dingbats"/>
                <a:ea typeface="Zapf Dingbats"/>
                <a:cs typeface="Zapf Dingbats"/>
              </a:rPr>
              <a:t>✓</a:t>
            </a:r>
            <a:endParaRPr lang="it-IT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614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474579" y="174306"/>
            <a:ext cx="801436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Abs</a:t>
            </a:r>
            <a:r>
              <a:rPr lang="it-IT" sz="3200" b="1" dirty="0" smtClean="0">
                <a:solidFill>
                  <a:srgbClr val="000090"/>
                </a:solidFill>
              </a:rPr>
              <a:t>: </a:t>
            </a:r>
            <a:r>
              <a:rPr lang="it-IT" sz="3200" b="1" dirty="0" err="1" smtClean="0">
                <a:solidFill>
                  <a:srgbClr val="000090"/>
                </a:solidFill>
              </a:rPr>
              <a:t>not</a:t>
            </a:r>
            <a:r>
              <a:rPr lang="it-IT" sz="3200" b="1" dirty="0" smtClean="0">
                <a:solidFill>
                  <a:srgbClr val="000090"/>
                </a:solidFill>
              </a:rPr>
              <a:t> just the </a:t>
            </a:r>
            <a:r>
              <a:rPr lang="it-IT" sz="3200" b="1" dirty="0" err="1" smtClean="0">
                <a:solidFill>
                  <a:srgbClr val="000090"/>
                </a:solidFill>
              </a:rPr>
              <a:t>manufacturer’s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instructions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/>
          <p:cNvSpPr txBox="1"/>
          <p:nvPr/>
        </p:nvSpPr>
        <p:spPr>
          <a:xfrm>
            <a:off x="222139" y="1251644"/>
            <a:ext cx="8691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 smtClean="0"/>
              <a:t>Saturating</a:t>
            </a:r>
            <a:r>
              <a:rPr lang="it-IT" b="1" dirty="0" smtClean="0"/>
              <a:t> </a:t>
            </a:r>
            <a:r>
              <a:rPr lang="it-IT" b="1" dirty="0" err="1" smtClean="0"/>
              <a:t>titer</a:t>
            </a:r>
            <a:r>
              <a:rPr lang="it-IT" b="1" dirty="0" smtClean="0"/>
              <a:t>: </a:t>
            </a:r>
            <a:r>
              <a:rPr lang="it-IT" dirty="0" err="1" smtClean="0"/>
              <a:t>titer</a:t>
            </a:r>
            <a:r>
              <a:rPr lang="it-IT" dirty="0" smtClean="0"/>
              <a:t> </a:t>
            </a:r>
            <a:r>
              <a:rPr lang="it-IT" dirty="0" err="1" smtClean="0"/>
              <a:t>at</a:t>
            </a:r>
            <a:r>
              <a:rPr lang="it-IT" dirty="0" smtClean="0"/>
              <a:t> </a:t>
            </a:r>
            <a:r>
              <a:rPr lang="it-IT" dirty="0" err="1" smtClean="0"/>
              <a:t>which</a:t>
            </a:r>
            <a:r>
              <a:rPr lang="it-IT" dirty="0" smtClean="0"/>
              <a:t> </a:t>
            </a:r>
            <a:r>
              <a:rPr lang="it-IT" dirty="0" err="1" smtClean="0"/>
              <a:t>all</a:t>
            </a:r>
            <a:r>
              <a:rPr lang="it-IT" dirty="0" smtClean="0"/>
              <a:t> </a:t>
            </a:r>
            <a:r>
              <a:rPr lang="it-IT" dirty="0" err="1" smtClean="0"/>
              <a:t>receptors</a:t>
            </a:r>
            <a:r>
              <a:rPr lang="it-IT" dirty="0" smtClean="0"/>
              <a:t> are </a:t>
            </a:r>
            <a:r>
              <a:rPr lang="it-IT" dirty="0" err="1" smtClean="0"/>
              <a:t>saturated</a:t>
            </a:r>
            <a:r>
              <a:rPr lang="it-IT" dirty="0" smtClean="0"/>
              <a:t> (no </a:t>
            </a:r>
            <a:r>
              <a:rPr lang="it-IT" dirty="0" err="1" smtClean="0"/>
              <a:t>increase</a:t>
            </a:r>
            <a:r>
              <a:rPr lang="it-IT" dirty="0" smtClean="0"/>
              <a:t> in positive </a:t>
            </a:r>
            <a:r>
              <a:rPr lang="it-IT" dirty="0" err="1" smtClean="0"/>
              <a:t>signal</a:t>
            </a:r>
            <a:r>
              <a:rPr lang="it-IT" dirty="0" smtClean="0"/>
              <a:t> </a:t>
            </a:r>
            <a:r>
              <a:rPr lang="it-IT" dirty="0" err="1" smtClean="0"/>
              <a:t>despite</a:t>
            </a:r>
            <a:r>
              <a:rPr lang="it-IT" dirty="0" smtClean="0"/>
              <a:t> the </a:t>
            </a:r>
            <a:r>
              <a:rPr lang="it-IT" dirty="0" err="1" smtClean="0"/>
              <a:t>increase</a:t>
            </a:r>
            <a:r>
              <a:rPr lang="it-IT" dirty="0" smtClean="0"/>
              <a:t> of the Ab </a:t>
            </a:r>
            <a:r>
              <a:rPr lang="it-IT" dirty="0" err="1" smtClean="0"/>
              <a:t>concentration</a:t>
            </a:r>
            <a:r>
              <a:rPr lang="it-IT" dirty="0" smtClean="0"/>
              <a:t>)</a:t>
            </a:r>
            <a:endParaRPr lang="it-IT" dirty="0"/>
          </a:p>
        </p:txBody>
      </p:sp>
      <p:pic>
        <p:nvPicPr>
          <p:cNvPr id="8" name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09" y="2160944"/>
            <a:ext cx="3003359" cy="2964731"/>
          </a:xfrm>
          <a:prstGeom prst="rect">
            <a:avLst/>
          </a:prstGeom>
        </p:spPr>
      </p:pic>
      <p:sp>
        <p:nvSpPr>
          <p:cNvPr id="19" name="Figura a mano libera 18"/>
          <p:cNvSpPr/>
          <p:nvPr/>
        </p:nvSpPr>
        <p:spPr>
          <a:xfrm>
            <a:off x="1058999" y="4214475"/>
            <a:ext cx="1948459" cy="58226"/>
          </a:xfrm>
          <a:custGeom>
            <a:avLst/>
            <a:gdLst>
              <a:gd name="connsiteX0" fmla="*/ 0 w 2514600"/>
              <a:gd name="connsiteY0" fmla="*/ 596900 h 596900"/>
              <a:gd name="connsiteX1" fmla="*/ 501650 w 2514600"/>
              <a:gd name="connsiteY1" fmla="*/ 558800 h 596900"/>
              <a:gd name="connsiteX2" fmla="*/ 901700 w 2514600"/>
              <a:gd name="connsiteY2" fmla="*/ 508000 h 596900"/>
              <a:gd name="connsiteX3" fmla="*/ 1308100 w 2514600"/>
              <a:gd name="connsiteY3" fmla="*/ 431800 h 596900"/>
              <a:gd name="connsiteX4" fmla="*/ 1714500 w 2514600"/>
              <a:gd name="connsiteY4" fmla="*/ 342900 h 596900"/>
              <a:gd name="connsiteX5" fmla="*/ 2108200 w 2514600"/>
              <a:gd name="connsiteY5" fmla="*/ 203200 h 596900"/>
              <a:gd name="connsiteX6" fmla="*/ 2514600 w 2514600"/>
              <a:gd name="connsiteY6" fmla="*/ 0 h 596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514600" h="596900">
                <a:moveTo>
                  <a:pt x="0" y="596900"/>
                </a:moveTo>
                <a:lnTo>
                  <a:pt x="501650" y="558800"/>
                </a:lnTo>
                <a:lnTo>
                  <a:pt x="901700" y="508000"/>
                </a:lnTo>
                <a:lnTo>
                  <a:pt x="1308100" y="431800"/>
                </a:lnTo>
                <a:lnTo>
                  <a:pt x="1714500" y="342900"/>
                </a:lnTo>
                <a:lnTo>
                  <a:pt x="2108200" y="203200"/>
                </a:lnTo>
                <a:lnTo>
                  <a:pt x="2514600" y="0"/>
                </a:lnTo>
              </a:path>
            </a:pathLst>
          </a:cu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Figura a mano libera 8"/>
          <p:cNvSpPr/>
          <p:nvPr/>
        </p:nvSpPr>
        <p:spPr>
          <a:xfrm>
            <a:off x="1099365" y="3367789"/>
            <a:ext cx="1901775" cy="404387"/>
          </a:xfrm>
          <a:custGeom>
            <a:avLst/>
            <a:gdLst>
              <a:gd name="connsiteX0" fmla="*/ 0 w 1901775"/>
              <a:gd name="connsiteY0" fmla="*/ 404387 h 404387"/>
              <a:gd name="connsiteX1" fmla="*/ 347500 w 1901775"/>
              <a:gd name="connsiteY1" fmla="*/ 265379 h 404387"/>
              <a:gd name="connsiteX2" fmla="*/ 657092 w 1901775"/>
              <a:gd name="connsiteY2" fmla="*/ 189557 h 404387"/>
              <a:gd name="connsiteX3" fmla="*/ 985638 w 1901775"/>
              <a:gd name="connsiteY3" fmla="*/ 126371 h 404387"/>
              <a:gd name="connsiteX4" fmla="*/ 1295229 w 1901775"/>
              <a:gd name="connsiteY4" fmla="*/ 75823 h 404387"/>
              <a:gd name="connsiteX5" fmla="*/ 1598502 w 1901775"/>
              <a:gd name="connsiteY5" fmla="*/ 31593 h 404387"/>
              <a:gd name="connsiteX6" fmla="*/ 1901775 w 1901775"/>
              <a:gd name="connsiteY6" fmla="*/ 0 h 404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01775" h="404387">
                <a:moveTo>
                  <a:pt x="0" y="404387"/>
                </a:moveTo>
                <a:lnTo>
                  <a:pt x="347500" y="265379"/>
                </a:lnTo>
                <a:lnTo>
                  <a:pt x="657092" y="189557"/>
                </a:lnTo>
                <a:lnTo>
                  <a:pt x="985638" y="126371"/>
                </a:lnTo>
                <a:lnTo>
                  <a:pt x="1295229" y="75823"/>
                </a:lnTo>
                <a:lnTo>
                  <a:pt x="1598502" y="31593"/>
                </a:lnTo>
                <a:lnTo>
                  <a:pt x="1901775" y="0"/>
                </a:lnTo>
              </a:path>
            </a:pathLst>
          </a:cu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/>
          <p:cNvSpPr txBox="1"/>
          <p:nvPr/>
        </p:nvSpPr>
        <p:spPr>
          <a:xfrm>
            <a:off x="222139" y="5403688"/>
            <a:ext cx="8691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 err="1" smtClean="0"/>
              <a:t>Separating</a:t>
            </a:r>
            <a:r>
              <a:rPr lang="it-IT" b="1" dirty="0" smtClean="0"/>
              <a:t> </a:t>
            </a:r>
            <a:r>
              <a:rPr lang="it-IT" b="1" dirty="0" err="1" smtClean="0"/>
              <a:t>titer</a:t>
            </a:r>
            <a:r>
              <a:rPr lang="it-IT" b="1" dirty="0" smtClean="0"/>
              <a:t>: </a:t>
            </a:r>
            <a:r>
              <a:rPr lang="it-IT" dirty="0" err="1" smtClean="0"/>
              <a:t>titer</a:t>
            </a:r>
            <a:r>
              <a:rPr lang="it-IT" dirty="0" smtClean="0"/>
              <a:t> </a:t>
            </a:r>
            <a:r>
              <a:rPr lang="it-IT" dirty="0" err="1" smtClean="0"/>
              <a:t>at</a:t>
            </a:r>
            <a:r>
              <a:rPr lang="it-IT" dirty="0" smtClean="0"/>
              <a:t> </a:t>
            </a:r>
            <a:r>
              <a:rPr lang="it-IT" dirty="0" err="1" smtClean="0"/>
              <a:t>which</a:t>
            </a:r>
            <a:r>
              <a:rPr lang="it-IT" dirty="0" smtClean="0"/>
              <a:t> </a:t>
            </a:r>
            <a:r>
              <a:rPr lang="it-IT" dirty="0" err="1" smtClean="0"/>
              <a:t>separation</a:t>
            </a:r>
            <a:r>
              <a:rPr lang="it-IT" dirty="0" smtClean="0"/>
              <a:t> </a:t>
            </a:r>
            <a:r>
              <a:rPr lang="it-IT" dirty="0" err="1" smtClean="0"/>
              <a:t>between</a:t>
            </a:r>
            <a:r>
              <a:rPr lang="it-IT" dirty="0" smtClean="0"/>
              <a:t> the positive and the negative </a:t>
            </a:r>
            <a:r>
              <a:rPr lang="it-IT" dirty="0" err="1" smtClean="0"/>
              <a:t>is</a:t>
            </a:r>
            <a:r>
              <a:rPr lang="it-IT" dirty="0" smtClean="0"/>
              <a:t> </a:t>
            </a:r>
            <a:r>
              <a:rPr lang="it-IT" dirty="0" err="1" smtClean="0"/>
              <a:t>obtained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719372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Titering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antibodies</a:t>
            </a:r>
            <a:r>
              <a:rPr lang="it-IT" sz="3200" b="1" dirty="0" smtClean="0">
                <a:solidFill>
                  <a:srgbClr val="000090"/>
                </a:solidFill>
              </a:rPr>
              <a:t>: procedure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287421" y="1129631"/>
            <a:ext cx="8691479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dirty="0" smtClean="0"/>
              <a:t>Start from a </a:t>
            </a:r>
            <a:r>
              <a:rPr lang="it-IT" dirty="0" err="1" smtClean="0"/>
              <a:t>given</a:t>
            </a:r>
            <a:r>
              <a:rPr lang="it-IT" dirty="0" smtClean="0"/>
              <a:t> </a:t>
            </a:r>
            <a:r>
              <a:rPr lang="it-IT" dirty="0" err="1" smtClean="0"/>
              <a:t>amount</a:t>
            </a:r>
            <a:r>
              <a:rPr lang="it-IT" dirty="0" smtClean="0"/>
              <a:t> of the </a:t>
            </a:r>
            <a:r>
              <a:rPr lang="it-IT" dirty="0" err="1" smtClean="0"/>
              <a:t>antibody</a:t>
            </a:r>
            <a:r>
              <a:rPr lang="it-IT" dirty="0" smtClean="0"/>
              <a:t> (</a:t>
            </a:r>
            <a:r>
              <a:rPr lang="it-IT" dirty="0" err="1" smtClean="0"/>
              <a:t>generally</a:t>
            </a:r>
            <a:r>
              <a:rPr lang="it-IT" dirty="0" smtClean="0"/>
              <a:t> the </a:t>
            </a:r>
            <a:r>
              <a:rPr lang="it-IT" dirty="0" err="1" smtClean="0"/>
              <a:t>concentration</a:t>
            </a:r>
            <a:r>
              <a:rPr lang="it-IT" dirty="0" smtClean="0"/>
              <a:t> </a:t>
            </a:r>
            <a:r>
              <a:rPr lang="it-IT" dirty="0" err="1" smtClean="0"/>
              <a:t>suggested</a:t>
            </a:r>
            <a:r>
              <a:rPr lang="it-IT" dirty="0" smtClean="0"/>
              <a:t> by the </a:t>
            </a:r>
            <a:r>
              <a:rPr lang="it-IT" dirty="0" err="1" smtClean="0"/>
              <a:t>manufacturer</a:t>
            </a:r>
            <a:r>
              <a:rPr lang="it-IT" dirty="0" smtClean="0"/>
              <a:t> or </a:t>
            </a:r>
            <a:r>
              <a:rPr lang="it-IT" dirty="0" err="1" smtClean="0"/>
              <a:t>twice</a:t>
            </a:r>
            <a:r>
              <a:rPr lang="it-IT" dirty="0" smtClean="0"/>
              <a:t> </a:t>
            </a:r>
            <a:r>
              <a:rPr lang="it-IT" dirty="0" err="1" smtClean="0"/>
              <a:t>as</a:t>
            </a:r>
            <a:r>
              <a:rPr lang="it-IT" dirty="0" smtClean="0"/>
              <a:t> </a:t>
            </a:r>
            <a:r>
              <a:rPr lang="it-IT" dirty="0" err="1" smtClean="0"/>
              <a:t>much</a:t>
            </a:r>
            <a:r>
              <a:rPr lang="it-IT" dirty="0" smtClean="0"/>
              <a:t>) in 100 </a:t>
            </a:r>
            <a:r>
              <a:rPr lang="it-IT" dirty="0" err="1" smtClean="0"/>
              <a:t>uL</a:t>
            </a:r>
            <a:r>
              <a:rPr lang="it-IT" dirty="0" smtClean="0"/>
              <a:t> </a:t>
            </a:r>
            <a:r>
              <a:rPr lang="it-IT" dirty="0" err="1" smtClean="0"/>
              <a:t>total</a:t>
            </a:r>
            <a:r>
              <a:rPr lang="it-IT" dirty="0" smtClean="0"/>
              <a:t> volume</a:t>
            </a:r>
          </a:p>
          <a:p>
            <a:pPr marL="285750" indent="-285750">
              <a:buFont typeface="Arial"/>
              <a:buChar char="•"/>
            </a:pPr>
            <a:r>
              <a:rPr lang="it-IT" dirty="0" err="1" smtClean="0"/>
              <a:t>prepare</a:t>
            </a:r>
            <a:r>
              <a:rPr lang="it-IT" dirty="0" smtClean="0"/>
              <a:t> 8 </a:t>
            </a:r>
            <a:r>
              <a:rPr lang="it-IT" dirty="0" err="1" smtClean="0"/>
              <a:t>two-fold</a:t>
            </a:r>
            <a:r>
              <a:rPr lang="it-IT" dirty="0" smtClean="0"/>
              <a:t> serial </a:t>
            </a:r>
            <a:r>
              <a:rPr lang="it-IT" dirty="0" err="1" smtClean="0"/>
              <a:t>dilutions</a:t>
            </a:r>
            <a:r>
              <a:rPr lang="it-IT" dirty="0" smtClean="0"/>
              <a:t>, plus </a:t>
            </a:r>
            <a:r>
              <a:rPr lang="it-IT" dirty="0" err="1" smtClean="0"/>
              <a:t>unstained</a:t>
            </a:r>
            <a:endParaRPr lang="it-IT" dirty="0"/>
          </a:p>
          <a:p>
            <a:pPr marL="285750" indent="-285750">
              <a:buFont typeface="Arial"/>
              <a:buChar char="•"/>
            </a:pPr>
            <a:r>
              <a:rPr lang="it-IT" dirty="0" err="1" smtClean="0"/>
              <a:t>Add</a:t>
            </a:r>
            <a:r>
              <a:rPr lang="it-IT" dirty="0" smtClean="0"/>
              <a:t> </a:t>
            </a:r>
            <a:r>
              <a:rPr lang="it-IT" dirty="0" err="1" smtClean="0"/>
              <a:t>cells</a:t>
            </a:r>
            <a:r>
              <a:rPr lang="it-IT" dirty="0" smtClean="0"/>
              <a:t> to </a:t>
            </a:r>
            <a:r>
              <a:rPr lang="it-IT" dirty="0" err="1" smtClean="0"/>
              <a:t>each</a:t>
            </a:r>
            <a:r>
              <a:rPr lang="it-IT" dirty="0" smtClean="0"/>
              <a:t> tube (</a:t>
            </a:r>
            <a:r>
              <a:rPr lang="it-IT" dirty="0" err="1" smtClean="0"/>
              <a:t>number</a:t>
            </a:r>
            <a:r>
              <a:rPr lang="it-IT" dirty="0" smtClean="0"/>
              <a:t> of </a:t>
            </a:r>
            <a:r>
              <a:rPr lang="it-IT" dirty="0" err="1" smtClean="0"/>
              <a:t>cells</a:t>
            </a:r>
            <a:r>
              <a:rPr lang="it-IT" dirty="0" smtClean="0"/>
              <a:t> IS IRRELEVANT – </a:t>
            </a:r>
            <a:r>
              <a:rPr lang="it-IT" dirty="0" err="1" smtClean="0"/>
              <a:t>it</a:t>
            </a:r>
            <a:r>
              <a:rPr lang="it-IT" dirty="0" smtClean="0"/>
              <a:t> can be 500K </a:t>
            </a:r>
            <a:r>
              <a:rPr lang="it-IT" dirty="0" err="1" smtClean="0"/>
              <a:t>as</a:t>
            </a:r>
            <a:r>
              <a:rPr lang="it-IT" dirty="0" smtClean="0"/>
              <a:t> 10 </a:t>
            </a:r>
            <a:r>
              <a:rPr lang="it-IT" dirty="0" err="1" smtClean="0"/>
              <a:t>million</a:t>
            </a:r>
            <a:r>
              <a:rPr lang="it-IT" dirty="0" smtClean="0"/>
              <a:t>)</a:t>
            </a:r>
          </a:p>
          <a:p>
            <a:pPr marL="285750" indent="-285750">
              <a:buFont typeface="Arial"/>
              <a:buChar char="•"/>
            </a:pPr>
            <a:r>
              <a:rPr lang="it-IT" dirty="0" smtClean="0"/>
              <a:t>Incubate </a:t>
            </a:r>
            <a:r>
              <a:rPr lang="it-IT" dirty="0" err="1" smtClean="0"/>
              <a:t>at</a:t>
            </a:r>
            <a:r>
              <a:rPr lang="it-IT" dirty="0" smtClean="0"/>
              <a:t> the </a:t>
            </a:r>
            <a:r>
              <a:rPr lang="it-IT" dirty="0" err="1" smtClean="0"/>
              <a:t>desired</a:t>
            </a:r>
            <a:r>
              <a:rPr lang="it-IT" dirty="0" smtClean="0"/>
              <a:t> </a:t>
            </a:r>
            <a:r>
              <a:rPr lang="it-IT" dirty="0" err="1" smtClean="0"/>
              <a:t>condition</a:t>
            </a:r>
            <a:r>
              <a:rPr lang="it-IT" dirty="0" smtClean="0"/>
              <a:t> (</a:t>
            </a:r>
            <a:r>
              <a:rPr lang="it-IT" dirty="0" err="1" smtClean="0"/>
              <a:t>we</a:t>
            </a:r>
            <a:r>
              <a:rPr lang="it-IT" dirty="0" smtClean="0"/>
              <a:t> do 20’ RT)</a:t>
            </a:r>
          </a:p>
          <a:p>
            <a:endParaRPr lang="it-IT" dirty="0"/>
          </a:p>
        </p:txBody>
      </p:sp>
      <p:cxnSp>
        <p:nvCxnSpPr>
          <p:cNvPr id="3" name="Connettore 1 2"/>
          <p:cNvCxnSpPr/>
          <p:nvPr/>
        </p:nvCxnSpPr>
        <p:spPr>
          <a:xfrm>
            <a:off x="1535321" y="4358688"/>
            <a:ext cx="0" cy="113102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/>
          <p:cNvCxnSpPr/>
          <p:nvPr/>
        </p:nvCxnSpPr>
        <p:spPr>
          <a:xfrm>
            <a:off x="1906536" y="4358688"/>
            <a:ext cx="0" cy="1131021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Arco 9"/>
          <p:cNvSpPr/>
          <p:nvPr/>
        </p:nvSpPr>
        <p:spPr>
          <a:xfrm rot="10800000">
            <a:off x="1535321" y="5274878"/>
            <a:ext cx="404364" cy="429661"/>
          </a:xfrm>
          <a:prstGeom prst="arc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Arco 10"/>
          <p:cNvSpPr/>
          <p:nvPr/>
        </p:nvSpPr>
        <p:spPr>
          <a:xfrm rot="10800000" flipH="1">
            <a:off x="1504499" y="5275622"/>
            <a:ext cx="404364" cy="429661"/>
          </a:xfrm>
          <a:prstGeom prst="arc">
            <a:avLst/>
          </a:prstGeom>
          <a:ln>
            <a:solidFill>
              <a:srgbClr val="0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7" name="Gruppo 16"/>
          <p:cNvGrpSpPr/>
          <p:nvPr/>
        </p:nvGrpSpPr>
        <p:grpSpPr>
          <a:xfrm>
            <a:off x="2472412" y="4357944"/>
            <a:ext cx="435186" cy="1346595"/>
            <a:chOff x="443042" y="3146640"/>
            <a:chExt cx="435186" cy="1346595"/>
          </a:xfrm>
        </p:grpSpPr>
        <p:cxnSp>
          <p:nvCxnSpPr>
            <p:cNvPr id="18" name="Connettore 1 17"/>
            <p:cNvCxnSpPr/>
            <p:nvPr/>
          </p:nvCxnSpPr>
          <p:spPr>
            <a:xfrm>
              <a:off x="473864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/>
          </p:nvCxnSpPr>
          <p:spPr>
            <a:xfrm>
              <a:off x="845079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Arco 19"/>
            <p:cNvSpPr/>
            <p:nvPr/>
          </p:nvSpPr>
          <p:spPr>
            <a:xfrm rot="10800000">
              <a:off x="473864" y="4062830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Arco 20"/>
            <p:cNvSpPr/>
            <p:nvPr/>
          </p:nvSpPr>
          <p:spPr>
            <a:xfrm rot="10800000" flipH="1">
              <a:off x="443042" y="4063574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2" name="Gruppo 21"/>
          <p:cNvGrpSpPr/>
          <p:nvPr/>
        </p:nvGrpSpPr>
        <p:grpSpPr>
          <a:xfrm>
            <a:off x="3440325" y="4359432"/>
            <a:ext cx="435186" cy="1346595"/>
            <a:chOff x="443042" y="3146640"/>
            <a:chExt cx="435186" cy="1346595"/>
          </a:xfrm>
        </p:grpSpPr>
        <p:cxnSp>
          <p:nvCxnSpPr>
            <p:cNvPr id="23" name="Connettore 1 22"/>
            <p:cNvCxnSpPr/>
            <p:nvPr/>
          </p:nvCxnSpPr>
          <p:spPr>
            <a:xfrm>
              <a:off x="473864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ttore 1 23"/>
            <p:cNvCxnSpPr/>
            <p:nvPr/>
          </p:nvCxnSpPr>
          <p:spPr>
            <a:xfrm>
              <a:off x="845079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Arco 24"/>
            <p:cNvSpPr/>
            <p:nvPr/>
          </p:nvSpPr>
          <p:spPr>
            <a:xfrm rot="10800000">
              <a:off x="473864" y="4062830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6" name="Arco 25"/>
            <p:cNvSpPr/>
            <p:nvPr/>
          </p:nvSpPr>
          <p:spPr>
            <a:xfrm rot="10800000" flipH="1">
              <a:off x="443042" y="4063574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27" name="Gruppo 26"/>
          <p:cNvGrpSpPr/>
          <p:nvPr/>
        </p:nvGrpSpPr>
        <p:grpSpPr>
          <a:xfrm>
            <a:off x="4408238" y="4358688"/>
            <a:ext cx="435186" cy="1346595"/>
            <a:chOff x="443042" y="3146640"/>
            <a:chExt cx="435186" cy="1346595"/>
          </a:xfrm>
        </p:grpSpPr>
        <p:cxnSp>
          <p:nvCxnSpPr>
            <p:cNvPr id="28" name="Connettore 1 27"/>
            <p:cNvCxnSpPr/>
            <p:nvPr/>
          </p:nvCxnSpPr>
          <p:spPr>
            <a:xfrm>
              <a:off x="473864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1 28"/>
            <p:cNvCxnSpPr/>
            <p:nvPr/>
          </p:nvCxnSpPr>
          <p:spPr>
            <a:xfrm>
              <a:off x="845079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Arco 29"/>
            <p:cNvSpPr/>
            <p:nvPr/>
          </p:nvSpPr>
          <p:spPr>
            <a:xfrm rot="10800000">
              <a:off x="473864" y="4062830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1" name="Arco 30"/>
            <p:cNvSpPr/>
            <p:nvPr/>
          </p:nvSpPr>
          <p:spPr>
            <a:xfrm rot="10800000" flipH="1">
              <a:off x="443042" y="4063574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2" name="Gruppo 31"/>
          <p:cNvGrpSpPr/>
          <p:nvPr/>
        </p:nvGrpSpPr>
        <p:grpSpPr>
          <a:xfrm>
            <a:off x="5376151" y="4372080"/>
            <a:ext cx="435186" cy="1346595"/>
            <a:chOff x="443042" y="3146640"/>
            <a:chExt cx="435186" cy="1346595"/>
          </a:xfrm>
        </p:grpSpPr>
        <p:cxnSp>
          <p:nvCxnSpPr>
            <p:cNvPr id="33" name="Connettore 1 32"/>
            <p:cNvCxnSpPr/>
            <p:nvPr/>
          </p:nvCxnSpPr>
          <p:spPr>
            <a:xfrm>
              <a:off x="473864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1 33"/>
            <p:cNvCxnSpPr/>
            <p:nvPr/>
          </p:nvCxnSpPr>
          <p:spPr>
            <a:xfrm>
              <a:off x="845079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Arco 34"/>
            <p:cNvSpPr/>
            <p:nvPr/>
          </p:nvSpPr>
          <p:spPr>
            <a:xfrm rot="10800000">
              <a:off x="473864" y="4062830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6" name="Arco 35"/>
            <p:cNvSpPr/>
            <p:nvPr/>
          </p:nvSpPr>
          <p:spPr>
            <a:xfrm rot="10800000" flipH="1">
              <a:off x="443042" y="4063574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37" name="Gruppo 36"/>
          <p:cNvGrpSpPr/>
          <p:nvPr/>
        </p:nvGrpSpPr>
        <p:grpSpPr>
          <a:xfrm>
            <a:off x="6344064" y="4371336"/>
            <a:ext cx="435186" cy="1346595"/>
            <a:chOff x="443042" y="3146640"/>
            <a:chExt cx="435186" cy="1346595"/>
          </a:xfrm>
        </p:grpSpPr>
        <p:cxnSp>
          <p:nvCxnSpPr>
            <p:cNvPr id="38" name="Connettore 1 37"/>
            <p:cNvCxnSpPr/>
            <p:nvPr/>
          </p:nvCxnSpPr>
          <p:spPr>
            <a:xfrm>
              <a:off x="473864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1 38"/>
            <p:cNvCxnSpPr/>
            <p:nvPr/>
          </p:nvCxnSpPr>
          <p:spPr>
            <a:xfrm>
              <a:off x="845079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Arco 39"/>
            <p:cNvSpPr/>
            <p:nvPr/>
          </p:nvSpPr>
          <p:spPr>
            <a:xfrm rot="10800000">
              <a:off x="473864" y="4062830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1" name="Arco 40"/>
            <p:cNvSpPr/>
            <p:nvPr/>
          </p:nvSpPr>
          <p:spPr>
            <a:xfrm rot="10800000" flipH="1">
              <a:off x="443042" y="4063574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42" name="Gruppo 41"/>
          <p:cNvGrpSpPr/>
          <p:nvPr/>
        </p:nvGrpSpPr>
        <p:grpSpPr>
          <a:xfrm>
            <a:off x="7311977" y="4372824"/>
            <a:ext cx="435186" cy="1346595"/>
            <a:chOff x="443042" y="3146640"/>
            <a:chExt cx="435186" cy="1346595"/>
          </a:xfrm>
        </p:grpSpPr>
        <p:cxnSp>
          <p:nvCxnSpPr>
            <p:cNvPr id="43" name="Connettore 1 42"/>
            <p:cNvCxnSpPr/>
            <p:nvPr/>
          </p:nvCxnSpPr>
          <p:spPr>
            <a:xfrm>
              <a:off x="473864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1 43"/>
            <p:cNvCxnSpPr/>
            <p:nvPr/>
          </p:nvCxnSpPr>
          <p:spPr>
            <a:xfrm>
              <a:off x="845079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Arco 44"/>
            <p:cNvSpPr/>
            <p:nvPr/>
          </p:nvSpPr>
          <p:spPr>
            <a:xfrm rot="10800000">
              <a:off x="473864" y="4062830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46" name="Arco 45"/>
            <p:cNvSpPr/>
            <p:nvPr/>
          </p:nvSpPr>
          <p:spPr>
            <a:xfrm rot="10800000" flipH="1">
              <a:off x="443042" y="4063574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grpSp>
        <p:nvGrpSpPr>
          <p:cNvPr id="47" name="Gruppo 46"/>
          <p:cNvGrpSpPr/>
          <p:nvPr/>
        </p:nvGrpSpPr>
        <p:grpSpPr>
          <a:xfrm>
            <a:off x="8279890" y="4357200"/>
            <a:ext cx="435186" cy="1346595"/>
            <a:chOff x="443042" y="3146640"/>
            <a:chExt cx="435186" cy="1346595"/>
          </a:xfrm>
        </p:grpSpPr>
        <p:cxnSp>
          <p:nvCxnSpPr>
            <p:cNvPr id="48" name="Connettore 1 47"/>
            <p:cNvCxnSpPr/>
            <p:nvPr/>
          </p:nvCxnSpPr>
          <p:spPr>
            <a:xfrm>
              <a:off x="473864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1 48"/>
            <p:cNvCxnSpPr/>
            <p:nvPr/>
          </p:nvCxnSpPr>
          <p:spPr>
            <a:xfrm>
              <a:off x="845079" y="3146640"/>
              <a:ext cx="0" cy="1131021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Arco 49"/>
            <p:cNvSpPr/>
            <p:nvPr/>
          </p:nvSpPr>
          <p:spPr>
            <a:xfrm rot="10800000">
              <a:off x="473864" y="4062830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1" name="Arco 50"/>
            <p:cNvSpPr/>
            <p:nvPr/>
          </p:nvSpPr>
          <p:spPr>
            <a:xfrm rot="10800000" flipH="1">
              <a:off x="443042" y="4063574"/>
              <a:ext cx="404364" cy="429661"/>
            </a:xfrm>
            <a:prstGeom prst="arc">
              <a:avLst/>
            </a:prstGeom>
            <a:ln>
              <a:solidFill>
                <a:srgbClr val="00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sp>
        <p:nvSpPr>
          <p:cNvPr id="52" name="CasellaDiTesto 51"/>
          <p:cNvSpPr txBox="1"/>
          <p:nvPr/>
        </p:nvSpPr>
        <p:spPr>
          <a:xfrm>
            <a:off x="1377366" y="6005346"/>
            <a:ext cx="777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20 </a:t>
            </a:r>
            <a:r>
              <a:rPr lang="it-IT" dirty="0" err="1" smtClean="0"/>
              <a:t>uL</a:t>
            </a:r>
            <a:endParaRPr lang="it-IT" dirty="0"/>
          </a:p>
        </p:txBody>
      </p:sp>
      <p:sp>
        <p:nvSpPr>
          <p:cNvPr id="53" name="CasellaDiTesto 52"/>
          <p:cNvSpPr txBox="1"/>
          <p:nvPr/>
        </p:nvSpPr>
        <p:spPr>
          <a:xfrm>
            <a:off x="2461118" y="6005346"/>
            <a:ext cx="454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10</a:t>
            </a:r>
            <a:endParaRPr lang="it-IT" dirty="0"/>
          </a:p>
        </p:txBody>
      </p:sp>
      <p:sp>
        <p:nvSpPr>
          <p:cNvPr id="55" name="CasellaDiTesto 54"/>
          <p:cNvSpPr txBox="1"/>
          <p:nvPr/>
        </p:nvSpPr>
        <p:spPr>
          <a:xfrm>
            <a:off x="3461962" y="6005346"/>
            <a:ext cx="4541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5</a:t>
            </a:r>
            <a:endParaRPr lang="it-IT" dirty="0"/>
          </a:p>
        </p:txBody>
      </p:sp>
      <p:sp>
        <p:nvSpPr>
          <p:cNvPr id="56" name="CasellaDiTesto 55"/>
          <p:cNvSpPr txBox="1"/>
          <p:nvPr/>
        </p:nvSpPr>
        <p:spPr>
          <a:xfrm>
            <a:off x="4386990" y="6005346"/>
            <a:ext cx="571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2.5</a:t>
            </a:r>
            <a:endParaRPr lang="it-IT" dirty="0"/>
          </a:p>
        </p:txBody>
      </p:sp>
      <p:sp>
        <p:nvSpPr>
          <p:cNvPr id="57" name="CasellaDiTesto 56"/>
          <p:cNvSpPr txBox="1"/>
          <p:nvPr/>
        </p:nvSpPr>
        <p:spPr>
          <a:xfrm>
            <a:off x="5252234" y="6005346"/>
            <a:ext cx="701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1.25</a:t>
            </a:r>
            <a:endParaRPr lang="it-IT" dirty="0"/>
          </a:p>
        </p:txBody>
      </p:sp>
      <p:sp>
        <p:nvSpPr>
          <p:cNvPr id="58" name="CasellaDiTesto 57"/>
          <p:cNvSpPr txBox="1"/>
          <p:nvPr/>
        </p:nvSpPr>
        <p:spPr>
          <a:xfrm>
            <a:off x="6304393" y="6005346"/>
            <a:ext cx="552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0.6</a:t>
            </a:r>
            <a:endParaRPr lang="it-IT" dirty="0"/>
          </a:p>
        </p:txBody>
      </p:sp>
      <p:sp>
        <p:nvSpPr>
          <p:cNvPr id="59" name="CasellaDiTesto 58"/>
          <p:cNvSpPr txBox="1"/>
          <p:nvPr/>
        </p:nvSpPr>
        <p:spPr>
          <a:xfrm>
            <a:off x="7264540" y="6005346"/>
            <a:ext cx="568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0.3</a:t>
            </a:r>
            <a:endParaRPr lang="it-IT" dirty="0"/>
          </a:p>
        </p:txBody>
      </p:sp>
      <p:sp>
        <p:nvSpPr>
          <p:cNvPr id="60" name="CasellaDiTesto 59"/>
          <p:cNvSpPr txBox="1"/>
          <p:nvPr/>
        </p:nvSpPr>
        <p:spPr>
          <a:xfrm>
            <a:off x="8241213" y="6005346"/>
            <a:ext cx="597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/>
              <a:t>0.15</a:t>
            </a:r>
            <a:endParaRPr lang="it-IT" dirty="0"/>
          </a:p>
        </p:txBody>
      </p:sp>
      <p:sp>
        <p:nvSpPr>
          <p:cNvPr id="61" name="CasellaDiTesto 60"/>
          <p:cNvSpPr txBox="1"/>
          <p:nvPr/>
        </p:nvSpPr>
        <p:spPr>
          <a:xfrm>
            <a:off x="416210" y="3686022"/>
            <a:ext cx="16230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rgbClr val="FF0000"/>
                </a:solidFill>
              </a:rPr>
              <a:t>Ab: 40 </a:t>
            </a:r>
            <a:r>
              <a:rPr lang="it-IT" dirty="0" err="1" smtClean="0">
                <a:solidFill>
                  <a:srgbClr val="FF0000"/>
                </a:solidFill>
              </a:rPr>
              <a:t>uL</a:t>
            </a:r>
            <a:endParaRPr lang="it-IT" dirty="0" smtClean="0">
              <a:solidFill>
                <a:srgbClr val="0000FF"/>
              </a:solidFill>
            </a:endParaRPr>
          </a:p>
          <a:p>
            <a:r>
              <a:rPr lang="it-IT" dirty="0" smtClean="0">
                <a:solidFill>
                  <a:srgbClr val="0000FF"/>
                </a:solidFill>
              </a:rPr>
              <a:t>Buffer: 60 </a:t>
            </a:r>
            <a:r>
              <a:rPr lang="it-IT" dirty="0" err="1" smtClean="0">
                <a:solidFill>
                  <a:srgbClr val="0000FF"/>
                </a:solidFill>
              </a:rPr>
              <a:t>uL</a:t>
            </a:r>
            <a:endParaRPr lang="it-IT" dirty="0">
              <a:solidFill>
                <a:srgbClr val="0000FF"/>
              </a:solidFill>
            </a:endParaRPr>
          </a:p>
        </p:txBody>
      </p:sp>
      <p:sp>
        <p:nvSpPr>
          <p:cNvPr id="62" name="CasellaDiTesto 61"/>
          <p:cNvSpPr txBox="1"/>
          <p:nvPr/>
        </p:nvSpPr>
        <p:spPr>
          <a:xfrm>
            <a:off x="57685" y="5789902"/>
            <a:ext cx="1612698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err="1" smtClean="0"/>
              <a:t>Final</a:t>
            </a:r>
            <a:r>
              <a:rPr lang="it-IT" sz="1600" dirty="0" smtClean="0"/>
              <a:t> </a:t>
            </a:r>
            <a:r>
              <a:rPr lang="it-IT" sz="1600" dirty="0" err="1" smtClean="0"/>
              <a:t>concentration</a:t>
            </a:r>
            <a:r>
              <a:rPr lang="it-IT" sz="1600" dirty="0" smtClean="0"/>
              <a:t>:</a:t>
            </a:r>
            <a:endParaRPr lang="it-IT" sz="1600" dirty="0"/>
          </a:p>
        </p:txBody>
      </p:sp>
      <p:cxnSp>
        <p:nvCxnSpPr>
          <p:cNvPr id="63" name="Connettore 1 62"/>
          <p:cNvCxnSpPr/>
          <p:nvPr/>
        </p:nvCxnSpPr>
        <p:spPr>
          <a:xfrm>
            <a:off x="2496121" y="4232333"/>
            <a:ext cx="6188133" cy="0"/>
          </a:xfrm>
          <a:prstGeom prst="line">
            <a:avLst/>
          </a:prstGeom>
          <a:ln w="12700" cmpd="sng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CasellaDiTesto 64"/>
          <p:cNvSpPr txBox="1"/>
          <p:nvPr/>
        </p:nvSpPr>
        <p:spPr>
          <a:xfrm>
            <a:off x="4681386" y="3641789"/>
            <a:ext cx="162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smtClean="0">
                <a:solidFill>
                  <a:srgbClr val="0000FF"/>
                </a:solidFill>
              </a:rPr>
              <a:t>Buffer: 50 </a:t>
            </a:r>
            <a:r>
              <a:rPr lang="it-IT" dirty="0" err="1" smtClean="0">
                <a:solidFill>
                  <a:srgbClr val="0000FF"/>
                </a:solidFill>
              </a:rPr>
              <a:t>uL</a:t>
            </a:r>
            <a:endParaRPr lang="it-IT" dirty="0">
              <a:solidFill>
                <a:srgbClr val="0000FF"/>
              </a:solidFill>
            </a:endParaRPr>
          </a:p>
        </p:txBody>
      </p:sp>
      <p:sp>
        <p:nvSpPr>
          <p:cNvPr id="66" name="Freccia ad arco 65"/>
          <p:cNvSpPr/>
          <p:nvPr/>
        </p:nvSpPr>
        <p:spPr>
          <a:xfrm>
            <a:off x="1874945" y="3692852"/>
            <a:ext cx="796092" cy="878278"/>
          </a:xfrm>
          <a:prstGeom prst="circular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7" name="Freccia ad arco 66"/>
          <p:cNvSpPr/>
          <p:nvPr/>
        </p:nvSpPr>
        <p:spPr>
          <a:xfrm>
            <a:off x="2747617" y="3692852"/>
            <a:ext cx="796092" cy="878278"/>
          </a:xfrm>
          <a:prstGeom prst="circular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8" name="Freccia ad arco 67"/>
          <p:cNvSpPr/>
          <p:nvPr/>
        </p:nvSpPr>
        <p:spPr>
          <a:xfrm>
            <a:off x="3740336" y="3692852"/>
            <a:ext cx="796092" cy="878278"/>
          </a:xfrm>
          <a:prstGeom prst="circularArrow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69" name="CasellaDiTesto 68"/>
          <p:cNvSpPr txBox="1"/>
          <p:nvPr/>
        </p:nvSpPr>
        <p:spPr>
          <a:xfrm>
            <a:off x="1965694" y="3017520"/>
            <a:ext cx="2473366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 smtClean="0"/>
              <a:t>Transfer 50 </a:t>
            </a:r>
            <a:r>
              <a:rPr lang="it-IT" sz="1600" dirty="0" err="1" smtClean="0"/>
              <a:t>uL</a:t>
            </a:r>
            <a:r>
              <a:rPr lang="it-IT" sz="1600" dirty="0" smtClean="0"/>
              <a:t> from </a:t>
            </a:r>
            <a:r>
              <a:rPr lang="it-IT" sz="1600" dirty="0" err="1" smtClean="0"/>
              <a:t>one</a:t>
            </a:r>
            <a:r>
              <a:rPr lang="it-IT" sz="1600" dirty="0" smtClean="0"/>
              <a:t> tube to the </a:t>
            </a:r>
            <a:r>
              <a:rPr lang="it-IT" sz="1600" dirty="0" err="1" smtClean="0"/>
              <a:t>other</a:t>
            </a: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422209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5" grpId="0"/>
      <p:bldP spid="66" grpId="0" animBg="1"/>
      <p:bldP spid="67" grpId="0" animBg="1"/>
      <p:bldP spid="68" grpId="0" animBg="1"/>
      <p:bldP spid="6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Careful</a:t>
            </a:r>
            <a:r>
              <a:rPr lang="it-IT" sz="3200" b="1" dirty="0" smtClean="0">
                <a:solidFill>
                  <a:srgbClr val="000090"/>
                </a:solidFill>
              </a:rPr>
              <a:t> with BV </a:t>
            </a:r>
            <a:r>
              <a:rPr lang="it-IT" sz="3200" b="1" dirty="0" err="1" smtClean="0">
                <a:solidFill>
                  <a:srgbClr val="000090"/>
                </a:solidFill>
              </a:rPr>
              <a:t>dyes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150" y="1123180"/>
            <a:ext cx="7435850" cy="563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05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smtClean="0">
                <a:solidFill>
                  <a:srgbClr val="000090"/>
                </a:solidFill>
              </a:rPr>
              <a:t>Critical </a:t>
            </a:r>
            <a:r>
              <a:rPr lang="it-IT" sz="3200" b="1" dirty="0" err="1" smtClean="0">
                <a:solidFill>
                  <a:srgbClr val="000090"/>
                </a:solidFill>
              </a:rPr>
              <a:t>parameters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affecting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titers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287421" y="1129631"/>
            <a:ext cx="8691479" cy="48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it-IT" u="sng" dirty="0" smtClean="0"/>
              <a:t>TIME</a:t>
            </a:r>
            <a:r>
              <a:rPr lang="it-IT" dirty="0" smtClean="0"/>
              <a:t>: the </a:t>
            </a:r>
            <a:r>
              <a:rPr lang="it-IT" dirty="0" err="1" smtClean="0"/>
              <a:t>longer</a:t>
            </a:r>
            <a:r>
              <a:rPr lang="it-IT" dirty="0" smtClean="0"/>
              <a:t> the </a:t>
            </a:r>
            <a:r>
              <a:rPr lang="it-IT" dirty="0" err="1" smtClean="0"/>
              <a:t>incubation</a:t>
            </a:r>
            <a:r>
              <a:rPr lang="it-IT" dirty="0" smtClean="0"/>
              <a:t> the </a:t>
            </a:r>
            <a:r>
              <a:rPr lang="it-IT" dirty="0" err="1" smtClean="0"/>
              <a:t>lower</a:t>
            </a:r>
            <a:r>
              <a:rPr lang="it-IT" dirty="0" smtClean="0"/>
              <a:t> the </a:t>
            </a:r>
            <a:r>
              <a:rPr lang="it-IT" dirty="0" err="1" smtClean="0"/>
              <a:t>titer</a:t>
            </a:r>
            <a:r>
              <a:rPr lang="it-IT" dirty="0" smtClean="0"/>
              <a:t> </a:t>
            </a:r>
            <a:r>
              <a:rPr lang="it-IT" dirty="0" err="1" smtClean="0"/>
              <a:t>needed</a:t>
            </a:r>
            <a:r>
              <a:rPr lang="it-IT" dirty="0" smtClean="0"/>
              <a:t> to </a:t>
            </a:r>
            <a:r>
              <a:rPr lang="it-IT" dirty="0" err="1" smtClean="0"/>
              <a:t>reach</a:t>
            </a:r>
            <a:r>
              <a:rPr lang="it-IT" dirty="0" smtClean="0"/>
              <a:t> </a:t>
            </a:r>
            <a:r>
              <a:rPr lang="it-IT" dirty="0" err="1" smtClean="0"/>
              <a:t>saturation</a:t>
            </a:r>
            <a:endParaRPr lang="it-IT" dirty="0" smtClean="0"/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it-IT" u="sng" dirty="0" smtClean="0"/>
              <a:t>TEMPERATURE</a:t>
            </a:r>
            <a:r>
              <a:rPr lang="it-IT" dirty="0" smtClean="0"/>
              <a:t>: some </a:t>
            </a:r>
            <a:r>
              <a:rPr lang="it-IT" dirty="0" err="1" smtClean="0"/>
              <a:t>Abs</a:t>
            </a:r>
            <a:r>
              <a:rPr lang="it-IT" dirty="0" smtClean="0"/>
              <a:t> </a:t>
            </a:r>
            <a:r>
              <a:rPr lang="it-IT" dirty="0" err="1" smtClean="0"/>
              <a:t>stain</a:t>
            </a:r>
            <a:r>
              <a:rPr lang="it-IT" dirty="0" smtClean="0"/>
              <a:t> </a:t>
            </a:r>
            <a:r>
              <a:rPr lang="it-IT" dirty="0" err="1" smtClean="0"/>
              <a:t>better</a:t>
            </a:r>
            <a:r>
              <a:rPr lang="it-IT" dirty="0" smtClean="0"/>
              <a:t> </a:t>
            </a:r>
            <a:r>
              <a:rPr lang="it-IT" dirty="0" err="1" smtClean="0"/>
              <a:t>at</a:t>
            </a:r>
            <a:r>
              <a:rPr lang="it-IT" dirty="0" smtClean="0"/>
              <a:t> </a:t>
            </a:r>
            <a:r>
              <a:rPr lang="it-IT" dirty="0" err="1" smtClean="0"/>
              <a:t>certain</a:t>
            </a:r>
            <a:r>
              <a:rPr lang="it-IT" dirty="0" smtClean="0"/>
              <a:t> </a:t>
            </a:r>
            <a:r>
              <a:rPr lang="it-IT" dirty="0" err="1" smtClean="0"/>
              <a:t>temperatures</a:t>
            </a:r>
            <a:r>
              <a:rPr lang="it-IT" dirty="0" smtClean="0"/>
              <a:t>, e.g. </a:t>
            </a:r>
            <a:r>
              <a:rPr lang="it-IT" dirty="0" err="1" smtClean="0"/>
              <a:t>chemokine</a:t>
            </a:r>
            <a:r>
              <a:rPr lang="it-IT" dirty="0" smtClean="0"/>
              <a:t> </a:t>
            </a:r>
            <a:r>
              <a:rPr lang="it-IT" dirty="0" err="1" smtClean="0"/>
              <a:t>receptors</a:t>
            </a:r>
            <a:r>
              <a:rPr lang="it-IT" dirty="0" smtClean="0"/>
              <a:t> </a:t>
            </a:r>
            <a:r>
              <a:rPr lang="it-IT" dirty="0" err="1" smtClean="0"/>
              <a:t>give</a:t>
            </a:r>
            <a:r>
              <a:rPr lang="it-IT" dirty="0" smtClean="0"/>
              <a:t> a </a:t>
            </a:r>
            <a:r>
              <a:rPr lang="it-IT" dirty="0" err="1" smtClean="0"/>
              <a:t>much</a:t>
            </a:r>
            <a:r>
              <a:rPr lang="it-IT" dirty="0" smtClean="0"/>
              <a:t> </a:t>
            </a:r>
            <a:r>
              <a:rPr lang="it-IT" dirty="0" err="1" smtClean="0"/>
              <a:t>higher</a:t>
            </a:r>
            <a:r>
              <a:rPr lang="it-IT" dirty="0" smtClean="0"/>
              <a:t> </a:t>
            </a:r>
            <a:r>
              <a:rPr lang="it-IT" dirty="0" err="1" smtClean="0"/>
              <a:t>fluorescence</a:t>
            </a:r>
            <a:r>
              <a:rPr lang="it-IT" dirty="0" smtClean="0"/>
              <a:t> </a:t>
            </a:r>
            <a:r>
              <a:rPr lang="it-IT" dirty="0" err="1" smtClean="0"/>
              <a:t>when</a:t>
            </a:r>
            <a:r>
              <a:rPr lang="it-IT" dirty="0" smtClean="0"/>
              <a:t> </a:t>
            </a:r>
            <a:r>
              <a:rPr lang="it-IT" dirty="0" err="1" smtClean="0"/>
              <a:t>stained</a:t>
            </a:r>
            <a:r>
              <a:rPr lang="it-IT" dirty="0" smtClean="0"/>
              <a:t> </a:t>
            </a:r>
            <a:r>
              <a:rPr lang="it-IT" dirty="0" err="1" smtClean="0"/>
              <a:t>at</a:t>
            </a:r>
            <a:r>
              <a:rPr lang="it-IT" dirty="0" smtClean="0"/>
              <a:t> 37°C </a:t>
            </a:r>
            <a:r>
              <a:rPr lang="it-IT" dirty="0" err="1" smtClean="0"/>
              <a:t>compared</a:t>
            </a:r>
            <a:r>
              <a:rPr lang="it-IT" dirty="0" smtClean="0"/>
              <a:t> to RT or 4°C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it-IT" u="sng" dirty="0" smtClean="0"/>
              <a:t>BUFFER</a:t>
            </a:r>
            <a:r>
              <a:rPr lang="it-IT" dirty="0" smtClean="0"/>
              <a:t>: </a:t>
            </a:r>
            <a:r>
              <a:rPr lang="it-IT" dirty="0" err="1" smtClean="0"/>
              <a:t>intracellular</a:t>
            </a:r>
            <a:r>
              <a:rPr lang="it-IT" dirty="0" smtClean="0"/>
              <a:t> </a:t>
            </a:r>
            <a:r>
              <a:rPr lang="it-IT" dirty="0" err="1" smtClean="0"/>
              <a:t>staining</a:t>
            </a:r>
            <a:r>
              <a:rPr lang="it-IT" dirty="0" smtClean="0"/>
              <a:t> (</a:t>
            </a:r>
            <a:r>
              <a:rPr lang="it-IT" dirty="0" err="1" smtClean="0"/>
              <a:t>Fix</a:t>
            </a:r>
            <a:r>
              <a:rPr lang="it-IT" dirty="0" smtClean="0"/>
              <a:t>/Perm buffers) can alter the </a:t>
            </a:r>
            <a:r>
              <a:rPr lang="it-IT" dirty="0" err="1" smtClean="0"/>
              <a:t>optimized</a:t>
            </a:r>
            <a:r>
              <a:rPr lang="it-IT" dirty="0" smtClean="0"/>
              <a:t> </a:t>
            </a:r>
            <a:r>
              <a:rPr lang="it-IT" dirty="0" err="1" smtClean="0"/>
              <a:t>titer</a:t>
            </a:r>
            <a:r>
              <a:rPr lang="it-IT" dirty="0"/>
              <a:t> </a:t>
            </a:r>
            <a:r>
              <a:rPr lang="it-IT" dirty="0" smtClean="0">
                <a:sym typeface="Wingdings"/>
              </a:rPr>
              <a:t> </a:t>
            </a:r>
            <a:r>
              <a:rPr lang="it-IT" dirty="0" err="1" smtClean="0">
                <a:sym typeface="Wingdings"/>
              </a:rPr>
              <a:t>titrate</a:t>
            </a:r>
            <a:r>
              <a:rPr lang="it-IT" dirty="0" smtClean="0">
                <a:sym typeface="Wingdings"/>
              </a:rPr>
              <a:t> </a:t>
            </a:r>
            <a:r>
              <a:rPr lang="it-IT" dirty="0" err="1" smtClean="0">
                <a:sym typeface="Wingdings"/>
              </a:rPr>
              <a:t>antibodies</a:t>
            </a:r>
            <a:r>
              <a:rPr lang="it-IT" dirty="0" smtClean="0">
                <a:sym typeface="Wingdings"/>
              </a:rPr>
              <a:t> with the buffer </a:t>
            </a:r>
            <a:r>
              <a:rPr lang="it-IT" dirty="0" err="1" smtClean="0">
                <a:sym typeface="Wingdings"/>
              </a:rPr>
              <a:t>used</a:t>
            </a:r>
            <a:r>
              <a:rPr lang="it-IT" dirty="0" smtClean="0">
                <a:sym typeface="Wingdings"/>
              </a:rPr>
              <a:t> in the </a:t>
            </a:r>
            <a:r>
              <a:rPr lang="it-IT" dirty="0" err="1" smtClean="0">
                <a:sym typeface="Wingdings"/>
              </a:rPr>
              <a:t>staining</a:t>
            </a:r>
            <a:endParaRPr lang="it-IT" dirty="0" smtClean="0">
              <a:sym typeface="Wingdings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it-IT" dirty="0">
              <a:sym typeface="Wingdings"/>
            </a:endParaRPr>
          </a:p>
          <a:p>
            <a:pPr>
              <a:lnSpc>
                <a:spcPct val="150000"/>
              </a:lnSpc>
            </a:pPr>
            <a:r>
              <a:rPr lang="it-IT" sz="2000" dirty="0" smtClean="0">
                <a:sym typeface="Wingdings"/>
              </a:rPr>
              <a:t>Cell </a:t>
            </a:r>
            <a:r>
              <a:rPr lang="it-IT" sz="2000" dirty="0" err="1" smtClean="0">
                <a:sym typeface="Wingdings"/>
              </a:rPr>
              <a:t>number</a:t>
            </a:r>
            <a:r>
              <a:rPr lang="it-IT" sz="2000" dirty="0" smtClean="0">
                <a:sym typeface="Wingdings"/>
              </a:rPr>
              <a:t> DOES NOT </a:t>
            </a:r>
            <a:r>
              <a:rPr lang="it-IT" sz="2000" dirty="0" err="1" smtClean="0">
                <a:sym typeface="Wingdings"/>
              </a:rPr>
              <a:t>affect</a:t>
            </a:r>
            <a:r>
              <a:rPr lang="it-IT" sz="2000" dirty="0" smtClean="0">
                <a:sym typeface="Wingdings"/>
              </a:rPr>
              <a:t> the Ab </a:t>
            </a:r>
            <a:r>
              <a:rPr lang="it-IT" sz="2000" dirty="0" err="1" smtClean="0">
                <a:sym typeface="Wingdings"/>
              </a:rPr>
              <a:t>titer</a:t>
            </a:r>
            <a:r>
              <a:rPr lang="it-IT" sz="2000" dirty="0" smtClean="0">
                <a:sym typeface="Wingdings"/>
              </a:rPr>
              <a:t>. The Ab </a:t>
            </a:r>
            <a:r>
              <a:rPr lang="it-IT" sz="2000" dirty="0" err="1" smtClean="0">
                <a:sym typeface="Wingdings"/>
              </a:rPr>
              <a:t>is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always</a:t>
            </a:r>
            <a:r>
              <a:rPr lang="it-IT" sz="2000" dirty="0" smtClean="0">
                <a:sym typeface="Wingdings"/>
              </a:rPr>
              <a:t> in </a:t>
            </a:r>
            <a:r>
              <a:rPr lang="it-IT" sz="2000" dirty="0" err="1" smtClean="0">
                <a:sym typeface="Wingdings"/>
              </a:rPr>
              <a:t>vast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excess</a:t>
            </a:r>
            <a:r>
              <a:rPr lang="it-IT" sz="2000" dirty="0" smtClean="0">
                <a:sym typeface="Wingdings"/>
              </a:rPr>
              <a:t> to the </a:t>
            </a:r>
            <a:r>
              <a:rPr lang="it-IT" sz="2000" dirty="0" err="1" smtClean="0">
                <a:sym typeface="Wingdings"/>
              </a:rPr>
              <a:t>number</a:t>
            </a:r>
            <a:r>
              <a:rPr lang="it-IT" sz="2000" dirty="0" smtClean="0">
                <a:sym typeface="Wingdings"/>
              </a:rPr>
              <a:t> of </a:t>
            </a:r>
            <a:r>
              <a:rPr lang="it-IT" sz="2000" dirty="0" err="1" smtClean="0">
                <a:sym typeface="Wingdings"/>
              </a:rPr>
              <a:t>molecules</a:t>
            </a:r>
            <a:r>
              <a:rPr lang="it-IT" sz="2000" dirty="0" smtClean="0">
                <a:sym typeface="Wingdings"/>
              </a:rPr>
              <a:t>, </a:t>
            </a:r>
            <a:r>
              <a:rPr lang="it-IT" sz="2000" dirty="0" err="1" smtClean="0">
                <a:sym typeface="Wingdings"/>
              </a:rPr>
              <a:t>unless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cell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number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changes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dramatically</a:t>
            </a:r>
            <a:r>
              <a:rPr lang="it-IT" sz="2000" dirty="0" smtClean="0">
                <a:sym typeface="Wingdings"/>
              </a:rPr>
              <a:t>. </a:t>
            </a:r>
          </a:p>
          <a:p>
            <a:pPr>
              <a:lnSpc>
                <a:spcPct val="150000"/>
              </a:lnSpc>
            </a:pPr>
            <a:endParaRPr lang="it-IT" sz="2000" dirty="0" smtClean="0">
              <a:sym typeface="Wingdings"/>
            </a:endParaRPr>
          </a:p>
          <a:p>
            <a:pPr>
              <a:lnSpc>
                <a:spcPct val="150000"/>
              </a:lnSpc>
            </a:pPr>
            <a:r>
              <a:rPr lang="it-IT" sz="2000" dirty="0" smtClean="0">
                <a:sym typeface="Wingdings"/>
              </a:rPr>
              <a:t>General </a:t>
            </a:r>
            <a:r>
              <a:rPr lang="it-IT" sz="2000" dirty="0" err="1" smtClean="0">
                <a:sym typeface="Wingdings"/>
              </a:rPr>
              <a:t>rule</a:t>
            </a:r>
            <a:r>
              <a:rPr lang="it-IT" sz="2000" dirty="0" smtClean="0">
                <a:sym typeface="Wingdings"/>
              </a:rPr>
              <a:t>: the </a:t>
            </a:r>
            <a:r>
              <a:rPr lang="it-IT" sz="2000" dirty="0" err="1" smtClean="0">
                <a:sym typeface="Wingdings"/>
              </a:rPr>
              <a:t>optimized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titer</a:t>
            </a:r>
            <a:r>
              <a:rPr lang="it-IT" sz="2000" dirty="0" smtClean="0">
                <a:sym typeface="Wingdings"/>
              </a:rPr>
              <a:t> can be </a:t>
            </a:r>
            <a:r>
              <a:rPr lang="it-IT" sz="2000" dirty="0" err="1" smtClean="0">
                <a:sym typeface="Wingdings"/>
              </a:rPr>
              <a:t>used</a:t>
            </a:r>
            <a:r>
              <a:rPr lang="it-IT" sz="2000" dirty="0" smtClean="0">
                <a:sym typeface="Wingdings"/>
              </a:rPr>
              <a:t> to </a:t>
            </a:r>
            <a:r>
              <a:rPr lang="it-IT" sz="2000" dirty="0" err="1" smtClean="0">
                <a:sym typeface="Wingdings"/>
              </a:rPr>
              <a:t>stain</a:t>
            </a:r>
            <a:r>
              <a:rPr lang="it-IT" sz="2000" dirty="0" smtClean="0">
                <a:sym typeface="Wingdings"/>
              </a:rPr>
              <a:t> up to 10-15 x10</a:t>
            </a:r>
            <a:r>
              <a:rPr lang="it-IT" sz="2000" baseline="30000" dirty="0" smtClean="0">
                <a:sym typeface="Wingdings"/>
              </a:rPr>
              <a:t>6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cells</a:t>
            </a:r>
            <a:r>
              <a:rPr lang="it-IT" sz="2000" dirty="0" smtClean="0">
                <a:sym typeface="Wingdings"/>
              </a:rPr>
              <a:t> in 100 </a:t>
            </a:r>
            <a:r>
              <a:rPr lang="it-IT" sz="2000" dirty="0" err="1" smtClean="0">
                <a:sym typeface="Wingdings"/>
              </a:rPr>
              <a:t>uL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total</a:t>
            </a:r>
            <a:r>
              <a:rPr lang="it-IT" sz="2000" dirty="0" smtClean="0">
                <a:sym typeface="Wingdings"/>
              </a:rPr>
              <a:t> volume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100186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smtClean="0">
                <a:solidFill>
                  <a:srgbClr val="000090"/>
                </a:solidFill>
              </a:rPr>
              <a:t>Pro and </a:t>
            </a:r>
            <a:r>
              <a:rPr lang="it-IT" sz="3200" b="1" dirty="0" err="1" smtClean="0">
                <a:solidFill>
                  <a:srgbClr val="000090"/>
                </a:solidFill>
              </a:rPr>
              <a:t>cons</a:t>
            </a:r>
            <a:r>
              <a:rPr lang="it-IT" sz="3200" b="1" dirty="0" smtClean="0">
                <a:solidFill>
                  <a:srgbClr val="000090"/>
                </a:solidFill>
              </a:rPr>
              <a:t> of </a:t>
            </a:r>
            <a:r>
              <a:rPr lang="it-IT" sz="3200" b="1" dirty="0" err="1" smtClean="0">
                <a:solidFill>
                  <a:srgbClr val="000090"/>
                </a:solidFill>
              </a:rPr>
              <a:t>antibody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titration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287421" y="1228751"/>
            <a:ext cx="8691479" cy="3713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it-IT" u="sng" dirty="0" smtClean="0"/>
              <a:t>PRO: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it-IT" sz="2000" dirty="0" smtClean="0"/>
              <a:t>Can </a:t>
            </a:r>
            <a:r>
              <a:rPr lang="it-IT" sz="2000" dirty="0" err="1" smtClean="0"/>
              <a:t>save</a:t>
            </a:r>
            <a:r>
              <a:rPr lang="it-IT" sz="2000" dirty="0" smtClean="0"/>
              <a:t> a </a:t>
            </a:r>
            <a:r>
              <a:rPr lang="it-IT" sz="2000" dirty="0" err="1" smtClean="0"/>
              <a:t>lot</a:t>
            </a:r>
            <a:r>
              <a:rPr lang="it-IT" sz="2000" dirty="0" smtClean="0"/>
              <a:t> of </a:t>
            </a:r>
            <a:r>
              <a:rPr lang="it-IT" sz="2000" dirty="0" err="1" smtClean="0"/>
              <a:t>money</a:t>
            </a:r>
            <a:r>
              <a:rPr lang="it-IT" sz="2000" dirty="0" smtClean="0"/>
              <a:t> (100 </a:t>
            </a:r>
            <a:r>
              <a:rPr lang="it-IT" sz="2000" dirty="0" err="1" smtClean="0"/>
              <a:t>tests</a:t>
            </a:r>
            <a:r>
              <a:rPr lang="it-IT" sz="2000" dirty="0" smtClean="0"/>
              <a:t> can </a:t>
            </a:r>
            <a:r>
              <a:rPr lang="it-IT" sz="2000" dirty="0" err="1" smtClean="0"/>
              <a:t>become</a:t>
            </a:r>
            <a:r>
              <a:rPr lang="it-IT" sz="2000" dirty="0" smtClean="0"/>
              <a:t> 400)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it-IT" sz="2000" dirty="0" err="1" smtClean="0"/>
              <a:t>Better</a:t>
            </a:r>
            <a:r>
              <a:rPr lang="it-IT" sz="2000" dirty="0" smtClean="0"/>
              <a:t> </a:t>
            </a:r>
            <a:r>
              <a:rPr lang="it-IT" sz="2000" dirty="0" err="1" smtClean="0"/>
              <a:t>separation</a:t>
            </a:r>
            <a:r>
              <a:rPr lang="it-IT" sz="2000" dirty="0" smtClean="0"/>
              <a:t>, </a:t>
            </a:r>
            <a:r>
              <a:rPr lang="it-IT" sz="2000" dirty="0" err="1" smtClean="0"/>
              <a:t>less</a:t>
            </a:r>
            <a:r>
              <a:rPr lang="it-IT" sz="2000" dirty="0" smtClean="0"/>
              <a:t> background 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it-IT" sz="2000" dirty="0" smtClean="0"/>
              <a:t>VERY </a:t>
            </a:r>
            <a:r>
              <a:rPr lang="it-IT" sz="2000" dirty="0" err="1" smtClean="0"/>
              <a:t>important</a:t>
            </a:r>
            <a:r>
              <a:rPr lang="it-IT" sz="2000" dirty="0" smtClean="0"/>
              <a:t> </a:t>
            </a:r>
            <a:r>
              <a:rPr lang="it-IT" sz="2000" dirty="0" err="1" smtClean="0"/>
              <a:t>when</a:t>
            </a:r>
            <a:r>
              <a:rPr lang="it-IT" sz="2000" dirty="0" smtClean="0"/>
              <a:t> </a:t>
            </a:r>
            <a:r>
              <a:rPr lang="it-IT" sz="2000" dirty="0" err="1" smtClean="0"/>
              <a:t>performing</a:t>
            </a:r>
            <a:r>
              <a:rPr lang="it-IT" sz="2000" dirty="0" smtClean="0"/>
              <a:t> </a:t>
            </a:r>
            <a:r>
              <a:rPr lang="it-IT" sz="2000" dirty="0" err="1" smtClean="0"/>
              <a:t>multicolor</a:t>
            </a:r>
            <a:r>
              <a:rPr lang="it-IT" sz="2000" dirty="0" smtClean="0"/>
              <a:t> </a:t>
            </a:r>
            <a:r>
              <a:rPr lang="it-IT" sz="2000" dirty="0" err="1" smtClean="0"/>
              <a:t>analysis</a:t>
            </a:r>
            <a:r>
              <a:rPr lang="it-IT" sz="2000" dirty="0" smtClean="0"/>
              <a:t> (can </a:t>
            </a:r>
            <a:r>
              <a:rPr lang="it-IT" sz="2000" dirty="0" err="1" smtClean="0"/>
              <a:t>minimize</a:t>
            </a:r>
            <a:r>
              <a:rPr lang="it-IT" sz="2000" dirty="0" smtClean="0"/>
              <a:t> “</a:t>
            </a:r>
            <a:r>
              <a:rPr lang="it-IT" sz="2000" dirty="0" err="1" smtClean="0"/>
              <a:t>spreading</a:t>
            </a:r>
            <a:r>
              <a:rPr lang="it-IT" sz="2000" dirty="0" smtClean="0"/>
              <a:t>” in </a:t>
            </a:r>
            <a:r>
              <a:rPr lang="it-IT" sz="2000" dirty="0" err="1" smtClean="0"/>
              <a:t>other</a:t>
            </a:r>
            <a:r>
              <a:rPr lang="it-IT" sz="2000" dirty="0" smtClean="0"/>
              <a:t> </a:t>
            </a:r>
            <a:r>
              <a:rPr lang="it-IT" sz="2000" dirty="0" err="1" smtClean="0"/>
              <a:t>channels</a:t>
            </a:r>
            <a:r>
              <a:rPr lang="it-IT" sz="2000" dirty="0" smtClean="0"/>
              <a:t>)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it-IT" sz="2000" dirty="0"/>
          </a:p>
          <a:p>
            <a:pPr>
              <a:lnSpc>
                <a:spcPct val="150000"/>
              </a:lnSpc>
            </a:pPr>
            <a:r>
              <a:rPr lang="it-IT" sz="2000" dirty="0" smtClean="0"/>
              <a:t>CONS: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it-IT" sz="2000" dirty="0" smtClean="0"/>
              <a:t>None</a:t>
            </a:r>
            <a:endParaRPr lang="it-IT" sz="2000" dirty="0"/>
          </a:p>
        </p:txBody>
      </p:sp>
    </p:spTree>
    <p:extLst>
      <p:ext uri="{BB962C8B-B14F-4D97-AF65-F5344CB8AC3E}">
        <p14:creationId xmlns:p14="http://schemas.microsoft.com/office/powerpoint/2010/main" val="851826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/>
          <p:cNvSpPr txBox="1"/>
          <p:nvPr/>
        </p:nvSpPr>
        <p:spPr>
          <a:xfrm>
            <a:off x="230800" y="1980968"/>
            <a:ext cx="87121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 err="1" smtClean="0">
                <a:solidFill>
                  <a:srgbClr val="000090"/>
                </a:solidFill>
              </a:rPr>
              <a:t>Optimized</a:t>
            </a:r>
            <a:r>
              <a:rPr lang="it-IT" sz="4800" b="1" dirty="0" smtClean="0">
                <a:solidFill>
                  <a:srgbClr val="000090"/>
                </a:solidFill>
              </a:rPr>
              <a:t> </a:t>
            </a:r>
            <a:r>
              <a:rPr lang="it-IT" sz="4800" b="1" dirty="0" err="1" smtClean="0">
                <a:solidFill>
                  <a:srgbClr val="000090"/>
                </a:solidFill>
              </a:rPr>
              <a:t>voltage</a:t>
            </a:r>
            <a:r>
              <a:rPr lang="it-IT" sz="4800" b="1" dirty="0" smtClean="0">
                <a:solidFill>
                  <a:srgbClr val="000090"/>
                </a:solidFill>
              </a:rPr>
              <a:t> </a:t>
            </a:r>
            <a:r>
              <a:rPr lang="it-IT" sz="4800" b="1" dirty="0" err="1" smtClean="0">
                <a:solidFill>
                  <a:srgbClr val="000090"/>
                </a:solidFill>
              </a:rPr>
              <a:t>settings</a:t>
            </a:r>
            <a:r>
              <a:rPr lang="it-IT" sz="4800" b="1" dirty="0" smtClean="0">
                <a:solidFill>
                  <a:srgbClr val="000090"/>
                </a:solidFill>
              </a:rPr>
              <a:t> in FACS </a:t>
            </a:r>
            <a:r>
              <a:rPr lang="it-IT" sz="4800" b="1" dirty="0" err="1" smtClean="0">
                <a:solidFill>
                  <a:srgbClr val="000090"/>
                </a:solidFill>
              </a:rPr>
              <a:t>experiments</a:t>
            </a:r>
            <a:endParaRPr lang="it-IT" sz="4800" b="1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573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ttore 1 5"/>
          <p:cNvCxnSpPr/>
          <p:nvPr/>
        </p:nvCxnSpPr>
        <p:spPr>
          <a:xfrm flipV="1">
            <a:off x="230800" y="915118"/>
            <a:ext cx="8712199" cy="6224"/>
          </a:xfrm>
          <a:prstGeom prst="line">
            <a:avLst/>
          </a:prstGeom>
          <a:ln w="57150" cmpd="sng"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230800" y="9206"/>
            <a:ext cx="8712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 smtClean="0">
                <a:solidFill>
                  <a:srgbClr val="000090"/>
                </a:solidFill>
              </a:rPr>
              <a:t>Voltage </a:t>
            </a:r>
            <a:r>
              <a:rPr lang="it-IT" sz="4800" b="1" dirty="0" err="1" smtClean="0">
                <a:solidFill>
                  <a:srgbClr val="000090"/>
                </a:solidFill>
              </a:rPr>
              <a:t>calibration</a:t>
            </a:r>
            <a:endParaRPr lang="it-IT" sz="4800" b="1" dirty="0">
              <a:solidFill>
                <a:srgbClr val="000090"/>
              </a:solidFill>
            </a:endParaRPr>
          </a:p>
        </p:txBody>
      </p:sp>
      <p:sp>
        <p:nvSpPr>
          <p:cNvPr id="8" name="CasellaDiTesto 7"/>
          <p:cNvSpPr txBox="1"/>
          <p:nvPr/>
        </p:nvSpPr>
        <p:spPr>
          <a:xfrm>
            <a:off x="268899" y="1167573"/>
            <a:ext cx="8646501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t-IT" sz="2400" dirty="0" err="1">
                <a:latin typeface="Arial"/>
                <a:cs typeface="Arial"/>
              </a:rPr>
              <a:t>Historically</a:t>
            </a:r>
            <a:r>
              <a:rPr lang="it-IT" sz="2400" dirty="0">
                <a:latin typeface="Arial"/>
                <a:cs typeface="Arial"/>
              </a:rPr>
              <a:t>, </a:t>
            </a:r>
            <a:r>
              <a:rPr lang="it-IT" sz="2400" dirty="0" err="1">
                <a:latin typeface="Arial"/>
                <a:cs typeface="Arial"/>
              </a:rPr>
              <a:t>voltage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>
                <a:latin typeface="Arial"/>
                <a:cs typeface="Arial"/>
              </a:rPr>
              <a:t>setting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>
                <a:latin typeface="Arial"/>
                <a:cs typeface="Arial"/>
              </a:rPr>
              <a:t>has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>
                <a:latin typeface="Arial"/>
                <a:cs typeface="Arial"/>
              </a:rPr>
              <a:t>been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>
                <a:latin typeface="Arial"/>
                <a:cs typeface="Arial"/>
              </a:rPr>
              <a:t>determined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empirically</a:t>
            </a:r>
            <a:r>
              <a:rPr lang="it-IT" sz="2400" dirty="0">
                <a:latin typeface="Arial"/>
                <a:cs typeface="Arial"/>
              </a:rPr>
              <a:t>, i.e. </a:t>
            </a:r>
            <a:r>
              <a:rPr lang="it-IT" sz="2400" dirty="0" err="1">
                <a:latin typeface="Arial"/>
                <a:cs typeface="Arial"/>
              </a:rPr>
              <a:t>voltage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>
                <a:latin typeface="Arial"/>
                <a:cs typeface="Arial"/>
              </a:rPr>
              <a:t>is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>
                <a:latin typeface="Arial"/>
                <a:cs typeface="Arial"/>
              </a:rPr>
              <a:t>increased</a:t>
            </a:r>
            <a:r>
              <a:rPr lang="it-IT" sz="2400" dirty="0">
                <a:latin typeface="Arial"/>
                <a:cs typeface="Arial"/>
              </a:rPr>
              <a:t> (or </a:t>
            </a:r>
            <a:r>
              <a:rPr lang="it-IT" sz="2400" dirty="0" err="1">
                <a:latin typeface="Arial"/>
                <a:cs typeface="Arial"/>
              </a:rPr>
              <a:t>decreased</a:t>
            </a:r>
            <a:r>
              <a:rPr lang="it-IT" sz="2400" dirty="0">
                <a:latin typeface="Arial"/>
                <a:cs typeface="Arial"/>
              </a:rPr>
              <a:t>) to a </a:t>
            </a:r>
            <a:r>
              <a:rPr lang="it-IT" sz="2400" dirty="0" err="1">
                <a:latin typeface="Arial"/>
                <a:cs typeface="Arial"/>
              </a:rPr>
              <a:t>value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>
                <a:latin typeface="Arial"/>
                <a:cs typeface="Arial"/>
              </a:rPr>
              <a:t>capable</a:t>
            </a:r>
            <a:r>
              <a:rPr lang="it-IT" sz="2400" dirty="0">
                <a:latin typeface="Arial"/>
                <a:cs typeface="Arial"/>
              </a:rPr>
              <a:t> to show </a:t>
            </a:r>
            <a:r>
              <a:rPr lang="it-IT" sz="2400" dirty="0" err="1">
                <a:latin typeface="Arial"/>
                <a:cs typeface="Arial"/>
              </a:rPr>
              <a:t>our</a:t>
            </a:r>
            <a:r>
              <a:rPr lang="it-IT" sz="2400" dirty="0">
                <a:latin typeface="Arial"/>
                <a:cs typeface="Arial"/>
              </a:rPr>
              <a:t> positive </a:t>
            </a:r>
            <a:r>
              <a:rPr lang="it-IT" sz="2400" dirty="0" err="1">
                <a:latin typeface="Arial"/>
                <a:cs typeface="Arial"/>
              </a:rPr>
              <a:t>cells</a:t>
            </a:r>
            <a:r>
              <a:rPr lang="x-none" sz="2400" dirty="0">
                <a:latin typeface="Arial"/>
                <a:cs typeface="Arial"/>
              </a:rPr>
              <a:t> </a:t>
            </a:r>
            <a:endParaRPr lang="it-IT" sz="2400" dirty="0" smtClean="0">
              <a:latin typeface="Arial"/>
              <a:cs typeface="Arial"/>
            </a:endParaRPr>
          </a:p>
          <a:p>
            <a:pPr>
              <a:spcAft>
                <a:spcPts val="1200"/>
              </a:spcAft>
            </a:pPr>
            <a:r>
              <a:rPr lang="it-IT" sz="2400" dirty="0" smtClean="0">
                <a:latin typeface="Arial"/>
                <a:cs typeface="Arial"/>
              </a:rPr>
              <a:t>Intuitive </a:t>
            </a:r>
            <a:r>
              <a:rPr lang="it-IT" sz="2400" dirty="0" err="1">
                <a:latin typeface="Arial"/>
                <a:cs typeface="Arial"/>
              </a:rPr>
              <a:t>when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>
                <a:latin typeface="Arial"/>
                <a:cs typeface="Arial"/>
              </a:rPr>
              <a:t>very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>
                <a:latin typeface="Arial"/>
                <a:cs typeface="Arial"/>
              </a:rPr>
              <a:t>bright</a:t>
            </a:r>
            <a:r>
              <a:rPr lang="it-IT" sz="2400" dirty="0">
                <a:latin typeface="Arial"/>
                <a:cs typeface="Arial"/>
              </a:rPr>
              <a:t> </a:t>
            </a:r>
            <a:r>
              <a:rPr lang="it-IT" sz="2400" dirty="0" err="1">
                <a:latin typeface="Arial"/>
                <a:cs typeface="Arial"/>
              </a:rPr>
              <a:t>signals</a:t>
            </a:r>
            <a:r>
              <a:rPr lang="it-IT" sz="2400" dirty="0">
                <a:latin typeface="Arial"/>
                <a:cs typeface="Arial"/>
              </a:rPr>
              <a:t> are </a:t>
            </a:r>
            <a:r>
              <a:rPr lang="it-IT" sz="2400" dirty="0" err="1">
                <a:latin typeface="Arial"/>
                <a:cs typeface="Arial"/>
              </a:rPr>
              <a:t>analyzed</a:t>
            </a:r>
            <a:r>
              <a:rPr lang="it-IT" sz="2400" dirty="0">
                <a:latin typeface="Arial"/>
                <a:cs typeface="Arial"/>
              </a:rPr>
              <a:t> (e.g., CD8, CD14, </a:t>
            </a:r>
            <a:r>
              <a:rPr lang="it-IT" sz="2400" dirty="0" smtClean="0">
                <a:latin typeface="Arial"/>
                <a:cs typeface="Arial"/>
              </a:rPr>
              <a:t>GFP)</a:t>
            </a:r>
          </a:p>
          <a:p>
            <a:pPr>
              <a:spcAft>
                <a:spcPts val="1200"/>
              </a:spcAft>
            </a:pP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Not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clear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when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dim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antigens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are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investigated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chemokine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receptors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,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phosphoepitopes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>
              <a:spcAft>
                <a:spcPts val="1200"/>
              </a:spcAft>
            </a:pPr>
            <a:endParaRPr lang="it-IT" sz="2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4566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ttore 1 5"/>
          <p:cNvCxnSpPr/>
          <p:nvPr/>
        </p:nvCxnSpPr>
        <p:spPr>
          <a:xfrm flipV="1">
            <a:off x="230800" y="915118"/>
            <a:ext cx="8712199" cy="6224"/>
          </a:xfrm>
          <a:prstGeom prst="line">
            <a:avLst/>
          </a:prstGeom>
          <a:ln w="57150" cmpd="sng"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/>
          <p:cNvSpPr txBox="1"/>
          <p:nvPr/>
        </p:nvSpPr>
        <p:spPr>
          <a:xfrm>
            <a:off x="230800" y="9206"/>
            <a:ext cx="87121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800" b="1" dirty="0" smtClean="0">
                <a:solidFill>
                  <a:srgbClr val="000090"/>
                </a:solidFill>
              </a:rPr>
              <a:t>Voltage </a:t>
            </a:r>
            <a:r>
              <a:rPr lang="it-IT" sz="4800" b="1" dirty="0" err="1" smtClean="0">
                <a:solidFill>
                  <a:srgbClr val="000090"/>
                </a:solidFill>
              </a:rPr>
              <a:t>calibration</a:t>
            </a:r>
            <a:endParaRPr lang="it-IT" sz="4800" b="1" dirty="0">
              <a:solidFill>
                <a:srgbClr val="000090"/>
              </a:solidFill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771" y="1220103"/>
            <a:ext cx="3886200" cy="3848100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 rot="16200000">
            <a:off x="2005386" y="2573865"/>
            <a:ext cx="981409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000" dirty="0" smtClean="0"/>
              <a:t>Voltage</a:t>
            </a:r>
            <a:endParaRPr lang="it-IT" sz="2000" dirty="0"/>
          </a:p>
        </p:txBody>
      </p:sp>
      <p:cxnSp>
        <p:nvCxnSpPr>
          <p:cNvPr id="5" name="Connettore 1 4"/>
          <p:cNvCxnSpPr/>
          <p:nvPr/>
        </p:nvCxnSpPr>
        <p:spPr>
          <a:xfrm flipH="1">
            <a:off x="6562066" y="2395078"/>
            <a:ext cx="668461" cy="0"/>
          </a:xfrm>
          <a:prstGeom prst="line">
            <a:avLst/>
          </a:prstGeom>
          <a:ln w="38100" cmpd="sng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/>
          <p:cNvSpPr txBox="1"/>
          <p:nvPr/>
        </p:nvSpPr>
        <p:spPr>
          <a:xfrm>
            <a:off x="7416352" y="2195023"/>
            <a:ext cx="1259555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it-IT" sz="2000" dirty="0" err="1" smtClean="0"/>
              <a:t>Optimized</a:t>
            </a:r>
            <a:endParaRPr lang="it-IT" sz="2000" dirty="0"/>
          </a:p>
        </p:txBody>
      </p:sp>
      <p:grpSp>
        <p:nvGrpSpPr>
          <p:cNvPr id="19" name="Gruppo 18"/>
          <p:cNvGrpSpPr/>
          <p:nvPr/>
        </p:nvGrpSpPr>
        <p:grpSpPr>
          <a:xfrm>
            <a:off x="4163171" y="1511930"/>
            <a:ext cx="4980829" cy="668394"/>
            <a:chOff x="4163171" y="1511930"/>
            <a:chExt cx="4980829" cy="668394"/>
          </a:xfrm>
        </p:grpSpPr>
        <p:sp>
          <p:nvSpPr>
            <p:cNvPr id="12" name="CasellaDiTesto 11"/>
            <p:cNvSpPr txBox="1"/>
            <p:nvPr/>
          </p:nvSpPr>
          <p:spPr>
            <a:xfrm>
              <a:off x="6658649" y="1511930"/>
              <a:ext cx="2485351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sz="2000" dirty="0" err="1" smtClean="0"/>
                <a:t>Increased</a:t>
              </a:r>
              <a:r>
                <a:rPr lang="it-IT" sz="2000" dirty="0" smtClean="0"/>
                <a:t> background</a:t>
              </a:r>
              <a:endParaRPr lang="it-IT" sz="2000" dirty="0"/>
            </a:p>
          </p:txBody>
        </p:sp>
        <p:cxnSp>
          <p:nvCxnSpPr>
            <p:cNvPr id="14" name="Connettore 1 13"/>
            <p:cNvCxnSpPr/>
            <p:nvPr/>
          </p:nvCxnSpPr>
          <p:spPr>
            <a:xfrm flipH="1">
              <a:off x="4163171" y="1804664"/>
              <a:ext cx="2398895" cy="375660"/>
            </a:xfrm>
            <a:prstGeom prst="line">
              <a:avLst/>
            </a:prstGeom>
            <a:ln w="38100" cmpd="sng">
              <a:solidFill>
                <a:schemeClr val="bg1">
                  <a:lumMod val="50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uppo 19"/>
          <p:cNvGrpSpPr/>
          <p:nvPr/>
        </p:nvGrpSpPr>
        <p:grpSpPr>
          <a:xfrm>
            <a:off x="4445271" y="2595134"/>
            <a:ext cx="4566578" cy="669491"/>
            <a:chOff x="4445271" y="2595134"/>
            <a:chExt cx="4566578" cy="669491"/>
          </a:xfrm>
        </p:grpSpPr>
        <p:sp>
          <p:nvSpPr>
            <p:cNvPr id="13" name="CasellaDiTesto 12"/>
            <p:cNvSpPr txBox="1"/>
            <p:nvPr/>
          </p:nvSpPr>
          <p:spPr>
            <a:xfrm>
              <a:off x="6562065" y="2864515"/>
              <a:ext cx="2449784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it-IT" sz="2000" dirty="0" err="1" smtClean="0"/>
                <a:t>Decreased</a:t>
              </a:r>
              <a:r>
                <a:rPr lang="it-IT" sz="2000" dirty="0" smtClean="0"/>
                <a:t> </a:t>
              </a:r>
              <a:r>
                <a:rPr lang="it-IT" sz="2000" dirty="0" err="1" smtClean="0"/>
                <a:t>separation</a:t>
              </a:r>
              <a:endParaRPr lang="it-IT" sz="2000" dirty="0"/>
            </a:p>
          </p:txBody>
        </p:sp>
        <p:cxnSp>
          <p:nvCxnSpPr>
            <p:cNvPr id="16" name="Connettore 1 15"/>
            <p:cNvCxnSpPr>
              <a:stCxn id="13" idx="1"/>
            </p:cNvCxnSpPr>
            <p:nvPr/>
          </p:nvCxnSpPr>
          <p:spPr>
            <a:xfrm flipH="1" flipV="1">
              <a:off x="4445271" y="2595134"/>
              <a:ext cx="2116794" cy="469436"/>
            </a:xfrm>
            <a:prstGeom prst="line">
              <a:avLst/>
            </a:prstGeom>
            <a:ln w="38100" cmpd="sng">
              <a:solidFill>
                <a:schemeClr val="bg1">
                  <a:lumMod val="50000"/>
                </a:schemeClr>
              </a:solidFill>
              <a:headEnd type="non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CasellaDiTesto 20"/>
          <p:cNvSpPr txBox="1"/>
          <p:nvPr/>
        </p:nvSpPr>
        <p:spPr>
          <a:xfrm>
            <a:off x="365348" y="5140558"/>
            <a:ext cx="86465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it-IT" sz="2000" dirty="0" err="1" smtClean="0">
                <a:latin typeface="Arial"/>
                <a:cs typeface="Arial"/>
              </a:rPr>
              <a:t>Optimized</a:t>
            </a:r>
            <a:r>
              <a:rPr lang="it-IT" sz="2000" dirty="0" smtClean="0">
                <a:latin typeface="Arial"/>
                <a:cs typeface="Arial"/>
              </a:rPr>
              <a:t> </a:t>
            </a:r>
            <a:r>
              <a:rPr lang="it-IT" sz="2000" dirty="0" err="1" smtClean="0">
                <a:latin typeface="Arial"/>
                <a:cs typeface="Arial"/>
              </a:rPr>
              <a:t>voltages</a:t>
            </a:r>
            <a:r>
              <a:rPr lang="it-IT" sz="2000" dirty="0" smtClean="0">
                <a:latin typeface="Arial"/>
                <a:cs typeface="Arial"/>
              </a:rPr>
              <a:t> to generate the </a:t>
            </a:r>
            <a:r>
              <a:rPr lang="it-IT" sz="2000" b="1" dirty="0" smtClean="0">
                <a:solidFill>
                  <a:srgbClr val="800000"/>
                </a:solidFill>
                <a:latin typeface="Arial"/>
                <a:cs typeface="Arial"/>
              </a:rPr>
              <a:t>best </a:t>
            </a:r>
            <a:r>
              <a:rPr lang="it-IT" sz="2000" b="1" dirty="0" err="1" smtClean="0">
                <a:solidFill>
                  <a:srgbClr val="800000"/>
                </a:solidFill>
                <a:latin typeface="Arial"/>
                <a:cs typeface="Arial"/>
              </a:rPr>
              <a:t>possible</a:t>
            </a:r>
            <a:r>
              <a:rPr lang="it-IT" sz="2000" b="1" dirty="0" smtClean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it-IT" sz="2000" b="1" dirty="0" err="1" smtClean="0">
                <a:solidFill>
                  <a:srgbClr val="800000"/>
                </a:solidFill>
                <a:latin typeface="Arial"/>
                <a:cs typeface="Arial"/>
              </a:rPr>
              <a:t>separation</a:t>
            </a:r>
            <a:r>
              <a:rPr lang="it-IT" sz="2000" dirty="0" smtClean="0">
                <a:solidFill>
                  <a:srgbClr val="800000"/>
                </a:solidFill>
                <a:latin typeface="Arial"/>
                <a:cs typeface="Arial"/>
              </a:rPr>
              <a:t> </a:t>
            </a:r>
            <a:r>
              <a:rPr lang="it-IT" sz="2000" dirty="0" smtClean="0">
                <a:latin typeface="Arial"/>
                <a:cs typeface="Arial"/>
              </a:rPr>
              <a:t>over background. </a:t>
            </a:r>
            <a:r>
              <a:rPr lang="it-IT" sz="2000" dirty="0" err="1" smtClean="0">
                <a:latin typeface="Arial"/>
                <a:cs typeface="Arial"/>
              </a:rPr>
              <a:t>Optimized</a:t>
            </a:r>
            <a:r>
              <a:rPr lang="it-IT" sz="2000" dirty="0" smtClean="0">
                <a:latin typeface="Arial"/>
                <a:cs typeface="Arial"/>
              </a:rPr>
              <a:t> for </a:t>
            </a:r>
            <a:r>
              <a:rPr lang="it-IT" sz="2000" dirty="0" err="1" smtClean="0">
                <a:latin typeface="Arial"/>
                <a:cs typeface="Arial"/>
              </a:rPr>
              <a:t>dim</a:t>
            </a:r>
            <a:r>
              <a:rPr lang="it-IT" sz="2000" dirty="0" smtClean="0">
                <a:latin typeface="Arial"/>
                <a:cs typeface="Arial"/>
              </a:rPr>
              <a:t> </a:t>
            </a:r>
            <a:r>
              <a:rPr lang="it-IT" sz="2000" dirty="0" err="1" smtClean="0">
                <a:latin typeface="Arial"/>
                <a:cs typeface="Arial"/>
              </a:rPr>
              <a:t>signals</a:t>
            </a:r>
            <a:endParaRPr lang="it-IT" sz="2000" dirty="0" smtClean="0">
              <a:latin typeface="Arial"/>
              <a:cs typeface="Arial"/>
            </a:endParaRPr>
          </a:p>
          <a:p>
            <a:pPr>
              <a:spcAft>
                <a:spcPts val="600"/>
              </a:spcAft>
            </a:pPr>
            <a:r>
              <a:rPr lang="it-IT" sz="2000" dirty="0" err="1" smtClean="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lang="it-IT" sz="20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rgbClr val="000000"/>
                </a:solidFill>
                <a:latin typeface="Arial"/>
                <a:cs typeface="Arial"/>
              </a:rPr>
              <a:t>analyzing</a:t>
            </a:r>
            <a:r>
              <a:rPr lang="it-IT" sz="20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rgbClr val="000000"/>
                </a:solidFill>
                <a:latin typeface="Arial"/>
                <a:cs typeface="Arial"/>
              </a:rPr>
              <a:t>bright</a:t>
            </a:r>
            <a:r>
              <a:rPr lang="it-IT" sz="20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rgbClr val="000000"/>
                </a:solidFill>
                <a:latin typeface="Arial"/>
                <a:cs typeface="Arial"/>
              </a:rPr>
              <a:t>signals</a:t>
            </a:r>
            <a:r>
              <a:rPr lang="it-IT" sz="2000" dirty="0" smtClean="0">
                <a:solidFill>
                  <a:srgbClr val="000000"/>
                </a:solidFill>
                <a:latin typeface="Arial"/>
                <a:cs typeface="Arial"/>
              </a:rPr>
              <a:t>, </a:t>
            </a:r>
            <a:r>
              <a:rPr lang="it-IT" sz="2000" b="1" dirty="0" smtClean="0">
                <a:solidFill>
                  <a:srgbClr val="000000"/>
                </a:solidFill>
                <a:latin typeface="Arial"/>
                <a:cs typeface="Arial"/>
              </a:rPr>
              <a:t>turn down </a:t>
            </a:r>
            <a:r>
              <a:rPr lang="it-IT" sz="2000" b="1" dirty="0" err="1" smtClean="0">
                <a:solidFill>
                  <a:srgbClr val="000000"/>
                </a:solidFill>
                <a:latin typeface="Arial"/>
                <a:cs typeface="Arial"/>
              </a:rPr>
              <a:t>voltage</a:t>
            </a:r>
            <a:r>
              <a:rPr lang="it-IT" sz="2000" b="1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000" dirty="0" smtClean="0">
                <a:solidFill>
                  <a:srgbClr val="000000"/>
                </a:solidFill>
                <a:latin typeface="Arial"/>
                <a:cs typeface="Arial"/>
              </a:rPr>
              <a:t>to </a:t>
            </a:r>
            <a:r>
              <a:rPr lang="it-IT" sz="2000" dirty="0" err="1" smtClean="0">
                <a:solidFill>
                  <a:srgbClr val="000000"/>
                </a:solidFill>
                <a:latin typeface="Arial"/>
                <a:cs typeface="Arial"/>
              </a:rPr>
              <a:t>bring</a:t>
            </a:r>
            <a:r>
              <a:rPr lang="it-IT" sz="20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rgbClr val="000000"/>
                </a:solidFill>
                <a:latin typeface="Arial"/>
                <a:cs typeface="Arial"/>
              </a:rPr>
              <a:t>your</a:t>
            </a:r>
            <a:r>
              <a:rPr lang="it-IT" sz="20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000" dirty="0" err="1" smtClean="0">
                <a:solidFill>
                  <a:srgbClr val="000000"/>
                </a:solidFill>
                <a:latin typeface="Arial"/>
                <a:cs typeface="Arial"/>
              </a:rPr>
              <a:t>cells</a:t>
            </a:r>
            <a:r>
              <a:rPr lang="it-IT" sz="2000" dirty="0" smtClean="0">
                <a:solidFill>
                  <a:srgbClr val="000000"/>
                </a:solidFill>
                <a:latin typeface="Arial"/>
                <a:cs typeface="Arial"/>
              </a:rPr>
              <a:t> on scale</a:t>
            </a:r>
          </a:p>
          <a:p>
            <a:pPr>
              <a:spcAft>
                <a:spcPts val="1200"/>
              </a:spcAft>
            </a:pPr>
            <a:endParaRPr lang="it-IT" sz="200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CasellaDiTesto 14"/>
          <p:cNvSpPr txBox="1"/>
          <p:nvPr/>
        </p:nvSpPr>
        <p:spPr>
          <a:xfrm>
            <a:off x="6320812" y="6400199"/>
            <a:ext cx="2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i="1" dirty="0" smtClean="0"/>
              <a:t>Perfetto SP, </a:t>
            </a:r>
            <a:r>
              <a:rPr lang="it-IT" sz="1600" i="1" dirty="0" err="1" smtClean="0"/>
              <a:t>Nat</a:t>
            </a:r>
            <a:r>
              <a:rPr lang="it-IT" sz="1600" i="1" dirty="0" smtClean="0"/>
              <a:t> </a:t>
            </a:r>
            <a:r>
              <a:rPr lang="it-IT" sz="1600" i="1" dirty="0" err="1" smtClean="0"/>
              <a:t>Protoc</a:t>
            </a:r>
            <a:r>
              <a:rPr lang="it-IT" sz="1600" i="1" dirty="0" smtClean="0"/>
              <a:t>, 2012</a:t>
            </a:r>
            <a:endParaRPr lang="it-IT" sz="1600" i="1" dirty="0"/>
          </a:p>
        </p:txBody>
      </p:sp>
    </p:spTree>
    <p:extLst>
      <p:ext uri="{BB962C8B-B14F-4D97-AF65-F5344CB8AC3E}">
        <p14:creationId xmlns:p14="http://schemas.microsoft.com/office/powerpoint/2010/main" val="319390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76829" y="1301098"/>
            <a:ext cx="7458391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err="1" smtClean="0">
                <a:solidFill>
                  <a:srgbClr val="000090"/>
                </a:solidFill>
              </a:rPr>
              <a:t>Fluorescence</a:t>
            </a:r>
            <a:r>
              <a:rPr lang="it-IT" sz="5400" dirty="0" smtClean="0">
                <a:solidFill>
                  <a:srgbClr val="000090"/>
                </a:solidFill>
              </a:rPr>
              <a:t> </a:t>
            </a:r>
            <a:r>
              <a:rPr lang="it-IT" sz="5400" dirty="0" err="1" smtClean="0">
                <a:solidFill>
                  <a:srgbClr val="000090"/>
                </a:solidFill>
              </a:rPr>
              <a:t>Compensation</a:t>
            </a:r>
            <a:endParaRPr lang="it-IT" sz="5400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65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Compensation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/>
          <p:cNvSpPr txBox="1"/>
          <p:nvPr/>
        </p:nvSpPr>
        <p:spPr>
          <a:xfrm>
            <a:off x="429973" y="5184490"/>
            <a:ext cx="81316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dirty="0" smtClean="0">
                <a:solidFill>
                  <a:srgbClr val="000090"/>
                </a:solidFill>
              </a:rPr>
              <a:t>Procedure </a:t>
            </a:r>
            <a:r>
              <a:rPr lang="it-IT" sz="2000" dirty="0" err="1" smtClean="0">
                <a:solidFill>
                  <a:srgbClr val="000090"/>
                </a:solidFill>
              </a:rPr>
              <a:t>through</a:t>
            </a:r>
            <a:r>
              <a:rPr lang="it-IT" sz="2000" dirty="0" smtClean="0">
                <a:solidFill>
                  <a:srgbClr val="000090"/>
                </a:solidFill>
              </a:rPr>
              <a:t> </a:t>
            </a:r>
            <a:r>
              <a:rPr lang="it-IT" sz="2000" dirty="0" err="1" smtClean="0">
                <a:solidFill>
                  <a:srgbClr val="000090"/>
                </a:solidFill>
              </a:rPr>
              <a:t>which</a:t>
            </a:r>
            <a:r>
              <a:rPr lang="it-IT" sz="2000" dirty="0" smtClean="0">
                <a:solidFill>
                  <a:srgbClr val="000090"/>
                </a:solidFill>
              </a:rPr>
              <a:t> the “</a:t>
            </a:r>
            <a:r>
              <a:rPr lang="it-IT" sz="2000" dirty="0" err="1" smtClean="0">
                <a:solidFill>
                  <a:srgbClr val="000090"/>
                </a:solidFill>
              </a:rPr>
              <a:t>unwanted</a:t>
            </a:r>
            <a:r>
              <a:rPr lang="it-IT" sz="2000" dirty="0" smtClean="0">
                <a:solidFill>
                  <a:srgbClr val="000090"/>
                </a:solidFill>
              </a:rPr>
              <a:t>” </a:t>
            </a:r>
            <a:r>
              <a:rPr lang="it-IT" sz="2000" dirty="0" err="1" smtClean="0">
                <a:solidFill>
                  <a:srgbClr val="000090"/>
                </a:solidFill>
              </a:rPr>
              <a:t>fluorescence</a:t>
            </a:r>
            <a:r>
              <a:rPr lang="it-IT" sz="2000" dirty="0" smtClean="0">
                <a:solidFill>
                  <a:srgbClr val="000090"/>
                </a:solidFill>
              </a:rPr>
              <a:t> from the </a:t>
            </a:r>
            <a:r>
              <a:rPr lang="it-IT" sz="2000" dirty="0" err="1" smtClean="0">
                <a:solidFill>
                  <a:srgbClr val="000090"/>
                </a:solidFill>
              </a:rPr>
              <a:t>primary</a:t>
            </a:r>
            <a:r>
              <a:rPr lang="it-IT" sz="2000" dirty="0" smtClean="0">
                <a:solidFill>
                  <a:srgbClr val="000090"/>
                </a:solidFill>
              </a:rPr>
              <a:t> </a:t>
            </a:r>
            <a:r>
              <a:rPr lang="it-IT" sz="2000" dirty="0" err="1" smtClean="0">
                <a:solidFill>
                  <a:srgbClr val="000090"/>
                </a:solidFill>
              </a:rPr>
              <a:t>channel</a:t>
            </a:r>
            <a:r>
              <a:rPr lang="it-IT" sz="2000" dirty="0" smtClean="0">
                <a:solidFill>
                  <a:srgbClr val="000090"/>
                </a:solidFill>
              </a:rPr>
              <a:t> (FITC) </a:t>
            </a:r>
            <a:r>
              <a:rPr lang="it-IT" sz="2000" dirty="0" err="1" smtClean="0">
                <a:solidFill>
                  <a:srgbClr val="000090"/>
                </a:solidFill>
              </a:rPr>
              <a:t>is</a:t>
            </a:r>
            <a:r>
              <a:rPr lang="it-IT" sz="2000" dirty="0" smtClean="0">
                <a:solidFill>
                  <a:srgbClr val="000090"/>
                </a:solidFill>
              </a:rPr>
              <a:t> </a:t>
            </a:r>
            <a:r>
              <a:rPr lang="it-IT" sz="2000" dirty="0" err="1" smtClean="0">
                <a:solidFill>
                  <a:srgbClr val="000090"/>
                </a:solidFill>
              </a:rPr>
              <a:t>removed</a:t>
            </a:r>
            <a:r>
              <a:rPr lang="it-IT" sz="2000" dirty="0" smtClean="0">
                <a:solidFill>
                  <a:srgbClr val="000090"/>
                </a:solidFill>
              </a:rPr>
              <a:t> from the </a:t>
            </a:r>
            <a:r>
              <a:rPr lang="it-IT" sz="2000" dirty="0" err="1" smtClean="0">
                <a:solidFill>
                  <a:srgbClr val="000090"/>
                </a:solidFill>
              </a:rPr>
              <a:t>secondary</a:t>
            </a:r>
            <a:r>
              <a:rPr lang="it-IT" sz="2000" dirty="0" smtClean="0">
                <a:solidFill>
                  <a:srgbClr val="000090"/>
                </a:solidFill>
              </a:rPr>
              <a:t> </a:t>
            </a:r>
            <a:r>
              <a:rPr lang="it-IT" sz="2000" dirty="0" err="1" smtClean="0">
                <a:solidFill>
                  <a:srgbClr val="000090"/>
                </a:solidFill>
              </a:rPr>
              <a:t>channel</a:t>
            </a:r>
            <a:r>
              <a:rPr lang="it-IT" sz="2000" dirty="0" smtClean="0">
                <a:solidFill>
                  <a:srgbClr val="000090"/>
                </a:solidFill>
              </a:rPr>
              <a:t> (PE)</a:t>
            </a: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526" y="1369122"/>
            <a:ext cx="3959474" cy="34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9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Compensation</a:t>
            </a:r>
            <a:r>
              <a:rPr lang="it-IT" sz="3200" b="1" dirty="0" smtClean="0">
                <a:solidFill>
                  <a:srgbClr val="000090"/>
                </a:solidFill>
              </a:rPr>
              <a:t>: just linear algebra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magin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073" y="3068535"/>
            <a:ext cx="5449647" cy="2367606"/>
          </a:xfrm>
          <a:prstGeom prst="rect">
            <a:avLst/>
          </a:prstGeom>
        </p:spPr>
      </p:pic>
      <p:sp>
        <p:nvSpPr>
          <p:cNvPr id="9" name="CasellaDiTesto 8"/>
          <p:cNvSpPr txBox="1"/>
          <p:nvPr/>
        </p:nvSpPr>
        <p:spPr>
          <a:xfrm>
            <a:off x="2616824" y="5818173"/>
            <a:ext cx="1810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 smtClean="0"/>
              <a:t>Primary</a:t>
            </a:r>
            <a:r>
              <a:rPr lang="it-IT" b="1" dirty="0" smtClean="0"/>
              <a:t> detector</a:t>
            </a:r>
            <a:endParaRPr lang="it-IT" b="1" dirty="0"/>
          </a:p>
        </p:txBody>
      </p:sp>
      <p:sp>
        <p:nvSpPr>
          <p:cNvPr id="10" name="CasellaDiTesto 9"/>
          <p:cNvSpPr txBox="1"/>
          <p:nvPr/>
        </p:nvSpPr>
        <p:spPr>
          <a:xfrm rot="16200000">
            <a:off x="-736042" y="3956591"/>
            <a:ext cx="20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 smtClean="0"/>
              <a:t>Secondary</a:t>
            </a:r>
            <a:r>
              <a:rPr lang="it-IT" b="1" dirty="0" smtClean="0"/>
              <a:t> detector</a:t>
            </a:r>
            <a:endParaRPr lang="it-IT" b="1" dirty="0"/>
          </a:p>
        </p:txBody>
      </p:sp>
      <p:cxnSp>
        <p:nvCxnSpPr>
          <p:cNvPr id="11" name="Connettore 1 10"/>
          <p:cNvCxnSpPr/>
          <p:nvPr/>
        </p:nvCxnSpPr>
        <p:spPr>
          <a:xfrm>
            <a:off x="972501" y="4137624"/>
            <a:ext cx="1439998" cy="0"/>
          </a:xfrm>
          <a:prstGeom prst="line">
            <a:avLst/>
          </a:prstGeom>
          <a:ln w="28575" cmpd="sng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/>
          <p:cNvCxnSpPr/>
          <p:nvPr/>
        </p:nvCxnSpPr>
        <p:spPr>
          <a:xfrm>
            <a:off x="2483800" y="4182074"/>
            <a:ext cx="0" cy="1038167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sellaDiTesto 17"/>
          <p:cNvSpPr txBox="1"/>
          <p:nvPr/>
        </p:nvSpPr>
        <p:spPr>
          <a:xfrm>
            <a:off x="1867028" y="5436141"/>
            <a:ext cx="11458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>
                <a:solidFill>
                  <a:srgbClr val="FF0000"/>
                </a:solidFill>
              </a:rPr>
              <a:t>ca</a:t>
            </a:r>
            <a:r>
              <a:rPr lang="it-IT" dirty="0" smtClean="0">
                <a:solidFill>
                  <a:srgbClr val="FF0000"/>
                </a:solidFill>
              </a:rPr>
              <a:t>. 13,000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19" name="CasellaDiTesto 18"/>
          <p:cNvSpPr txBox="1"/>
          <p:nvPr/>
        </p:nvSpPr>
        <p:spPr>
          <a:xfrm>
            <a:off x="959475" y="3696651"/>
            <a:ext cx="1028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>
                <a:solidFill>
                  <a:srgbClr val="0000FF"/>
                </a:solidFill>
              </a:rPr>
              <a:t>ca</a:t>
            </a:r>
            <a:r>
              <a:rPr lang="it-IT" dirty="0" smtClean="0">
                <a:solidFill>
                  <a:srgbClr val="0000FF"/>
                </a:solidFill>
              </a:rPr>
              <a:t>. 1,100</a:t>
            </a:r>
            <a:endParaRPr lang="it-IT" dirty="0">
              <a:solidFill>
                <a:srgbClr val="0000FF"/>
              </a:solidFill>
            </a:endParaRPr>
          </a:p>
        </p:txBody>
      </p:sp>
      <p:cxnSp>
        <p:nvCxnSpPr>
          <p:cNvPr id="20" name="Connettore 1 19"/>
          <p:cNvCxnSpPr/>
          <p:nvPr/>
        </p:nvCxnSpPr>
        <p:spPr>
          <a:xfrm>
            <a:off x="4172901" y="4817074"/>
            <a:ext cx="1439998" cy="0"/>
          </a:xfrm>
          <a:prstGeom prst="line">
            <a:avLst/>
          </a:prstGeom>
          <a:ln w="12700" cmpd="sng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ttore 1 20"/>
          <p:cNvCxnSpPr/>
          <p:nvPr/>
        </p:nvCxnSpPr>
        <p:spPr>
          <a:xfrm>
            <a:off x="4172901" y="4607524"/>
            <a:ext cx="1439998" cy="0"/>
          </a:xfrm>
          <a:prstGeom prst="line">
            <a:avLst/>
          </a:prstGeom>
          <a:ln w="12700" cmpd="sng">
            <a:solidFill>
              <a:srgbClr val="0000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asellaDiTesto 21"/>
          <p:cNvSpPr txBox="1"/>
          <p:nvPr/>
        </p:nvSpPr>
        <p:spPr>
          <a:xfrm>
            <a:off x="6369518" y="3068535"/>
            <a:ext cx="26767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>
                <a:solidFill>
                  <a:srgbClr val="FF0000"/>
                </a:solidFill>
              </a:rPr>
              <a:t>Compensation</a:t>
            </a:r>
            <a:r>
              <a:rPr lang="it-IT" dirty="0" smtClean="0">
                <a:solidFill>
                  <a:srgbClr val="FF0000"/>
                </a:solidFill>
              </a:rPr>
              <a:t>:</a:t>
            </a:r>
          </a:p>
          <a:p>
            <a:endParaRPr lang="it-IT" dirty="0" smtClean="0">
              <a:solidFill>
                <a:srgbClr val="FF0000"/>
              </a:solidFill>
            </a:endParaRPr>
          </a:p>
          <a:p>
            <a:r>
              <a:rPr lang="it-IT" dirty="0" smtClean="0">
                <a:solidFill>
                  <a:srgbClr val="FF0000"/>
                </a:solidFill>
              </a:rPr>
              <a:t>1,100:13,000 = x:100</a:t>
            </a:r>
          </a:p>
          <a:p>
            <a:endParaRPr lang="it-IT" dirty="0" smtClean="0">
              <a:solidFill>
                <a:srgbClr val="FF0000"/>
              </a:solidFill>
            </a:endParaRPr>
          </a:p>
          <a:p>
            <a:r>
              <a:rPr lang="it-IT" dirty="0" smtClean="0">
                <a:solidFill>
                  <a:srgbClr val="FF0000"/>
                </a:solidFill>
              </a:rPr>
              <a:t>x = 1,100*100/13,000  = 8.46</a:t>
            </a:r>
          </a:p>
          <a:p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23" name="CasellaDiTesto 22"/>
          <p:cNvSpPr txBox="1"/>
          <p:nvPr/>
        </p:nvSpPr>
        <p:spPr>
          <a:xfrm>
            <a:off x="321579" y="1219485"/>
            <a:ext cx="81316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it-IT" sz="2000" dirty="0" smtClean="0">
                <a:solidFill>
                  <a:srgbClr val="000090"/>
                </a:solidFill>
              </a:rPr>
              <a:t>LINEAR </a:t>
            </a:r>
            <a:r>
              <a:rPr lang="it-IT" sz="2000" dirty="0" err="1" smtClean="0">
                <a:solidFill>
                  <a:srgbClr val="000090"/>
                </a:solidFill>
              </a:rPr>
              <a:t>subtraction</a:t>
            </a:r>
            <a:r>
              <a:rPr lang="it-IT" sz="2000" dirty="0" smtClean="0">
                <a:solidFill>
                  <a:srgbClr val="000090"/>
                </a:solidFill>
              </a:rPr>
              <a:t> of the </a:t>
            </a:r>
            <a:r>
              <a:rPr lang="it-IT" sz="2000" dirty="0" err="1" smtClean="0">
                <a:solidFill>
                  <a:srgbClr val="000090"/>
                </a:solidFill>
              </a:rPr>
              <a:t>contaminating</a:t>
            </a:r>
            <a:r>
              <a:rPr lang="it-IT" sz="2000" dirty="0" smtClean="0">
                <a:solidFill>
                  <a:srgbClr val="000090"/>
                </a:solidFill>
              </a:rPr>
              <a:t> </a:t>
            </a:r>
            <a:r>
              <a:rPr lang="it-IT" sz="2000" dirty="0" err="1" smtClean="0">
                <a:solidFill>
                  <a:srgbClr val="000090"/>
                </a:solidFill>
              </a:rPr>
              <a:t>fluorescence</a:t>
            </a:r>
            <a:r>
              <a:rPr lang="it-IT" sz="2000" dirty="0" smtClean="0">
                <a:solidFill>
                  <a:srgbClr val="000090"/>
                </a:solidFill>
              </a:rPr>
              <a:t> </a:t>
            </a:r>
            <a:r>
              <a:rPr lang="it-IT" sz="2000" dirty="0" err="1" smtClean="0">
                <a:solidFill>
                  <a:srgbClr val="000090"/>
                </a:solidFill>
              </a:rPr>
              <a:t>signal</a:t>
            </a:r>
            <a:r>
              <a:rPr lang="it-IT" sz="2000" dirty="0" smtClean="0">
                <a:solidFill>
                  <a:srgbClr val="000090"/>
                </a:solidFill>
              </a:rPr>
              <a:t> from the </a:t>
            </a:r>
            <a:r>
              <a:rPr lang="it-IT" sz="2000" dirty="0" err="1" smtClean="0">
                <a:solidFill>
                  <a:srgbClr val="000090"/>
                </a:solidFill>
              </a:rPr>
              <a:t>primary</a:t>
            </a:r>
            <a:r>
              <a:rPr lang="it-IT" sz="2000" dirty="0" smtClean="0">
                <a:solidFill>
                  <a:srgbClr val="000090"/>
                </a:solidFill>
              </a:rPr>
              <a:t> detector 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 smtClean="0">
                <a:solidFill>
                  <a:srgbClr val="000090"/>
                </a:solidFill>
              </a:rPr>
              <a:t>The </a:t>
            </a:r>
            <a:r>
              <a:rPr lang="it-IT" sz="2000" dirty="0" err="1" smtClean="0">
                <a:solidFill>
                  <a:srgbClr val="000090"/>
                </a:solidFill>
              </a:rPr>
              <a:t>same</a:t>
            </a:r>
            <a:r>
              <a:rPr lang="it-IT" sz="2000" dirty="0" smtClean="0">
                <a:solidFill>
                  <a:srgbClr val="000090"/>
                </a:solidFill>
              </a:rPr>
              <a:t> </a:t>
            </a:r>
            <a:r>
              <a:rPr lang="it-IT" sz="2000" dirty="0" err="1" smtClean="0">
                <a:solidFill>
                  <a:srgbClr val="000090"/>
                </a:solidFill>
              </a:rPr>
              <a:t>value</a:t>
            </a:r>
            <a:r>
              <a:rPr lang="it-IT" sz="2000" dirty="0" smtClean="0">
                <a:solidFill>
                  <a:srgbClr val="000090"/>
                </a:solidFill>
              </a:rPr>
              <a:t> </a:t>
            </a:r>
            <a:r>
              <a:rPr lang="it-IT" sz="2000" dirty="0" err="1" smtClean="0">
                <a:solidFill>
                  <a:srgbClr val="000090"/>
                </a:solidFill>
              </a:rPr>
              <a:t>will</a:t>
            </a:r>
            <a:r>
              <a:rPr lang="it-IT" sz="2000" dirty="0" smtClean="0">
                <a:solidFill>
                  <a:srgbClr val="000090"/>
                </a:solidFill>
              </a:rPr>
              <a:t> be </a:t>
            </a:r>
            <a:r>
              <a:rPr lang="it-IT" sz="2000" dirty="0" err="1" smtClean="0">
                <a:solidFill>
                  <a:srgbClr val="000090"/>
                </a:solidFill>
              </a:rPr>
              <a:t>subtracted</a:t>
            </a:r>
            <a:r>
              <a:rPr lang="it-IT" sz="2000" dirty="0" smtClean="0">
                <a:solidFill>
                  <a:srgbClr val="000090"/>
                </a:solidFill>
              </a:rPr>
              <a:t> from </a:t>
            </a:r>
            <a:r>
              <a:rPr lang="it-IT" sz="2000" dirty="0" err="1" smtClean="0">
                <a:solidFill>
                  <a:srgbClr val="000090"/>
                </a:solidFill>
              </a:rPr>
              <a:t>all</a:t>
            </a:r>
            <a:r>
              <a:rPr lang="it-IT" sz="2000" dirty="0" smtClean="0">
                <a:solidFill>
                  <a:srgbClr val="000090"/>
                </a:solidFill>
              </a:rPr>
              <a:t> the </a:t>
            </a:r>
            <a:r>
              <a:rPr lang="it-IT" sz="2000" dirty="0" err="1" smtClean="0">
                <a:solidFill>
                  <a:srgbClr val="000090"/>
                </a:solidFill>
              </a:rPr>
              <a:t>cells</a:t>
            </a:r>
            <a:r>
              <a:rPr lang="it-IT" sz="2000" dirty="0" smtClean="0">
                <a:solidFill>
                  <a:srgbClr val="000090"/>
                </a:solidFill>
              </a:rPr>
              <a:t> in the </a:t>
            </a:r>
            <a:r>
              <a:rPr lang="it-IT" sz="2000" dirty="0" err="1" smtClean="0">
                <a:solidFill>
                  <a:srgbClr val="000090"/>
                </a:solidFill>
              </a:rPr>
              <a:t>fluorescence</a:t>
            </a:r>
            <a:r>
              <a:rPr lang="it-IT" sz="2000" dirty="0" smtClean="0">
                <a:solidFill>
                  <a:srgbClr val="000090"/>
                </a:solidFill>
              </a:rPr>
              <a:t> </a:t>
            </a:r>
            <a:r>
              <a:rPr lang="it-IT" sz="2000" dirty="0" err="1" smtClean="0">
                <a:solidFill>
                  <a:srgbClr val="000090"/>
                </a:solidFill>
              </a:rPr>
              <a:t>range</a:t>
            </a:r>
            <a:endParaRPr lang="it-IT" sz="2000" dirty="0" smtClean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1812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Is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this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correctly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compensated</a:t>
            </a:r>
            <a:r>
              <a:rPr lang="it-IT" sz="3200" b="1" dirty="0" smtClean="0">
                <a:solidFill>
                  <a:srgbClr val="000090"/>
                </a:solidFill>
              </a:rPr>
              <a:t>?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939" y="1570564"/>
            <a:ext cx="5023345" cy="4958735"/>
          </a:xfrm>
          <a:prstGeom prst="rect">
            <a:avLst/>
          </a:prstGeom>
        </p:spPr>
      </p:pic>
      <p:sp>
        <p:nvSpPr>
          <p:cNvPr id="2" name="CasellaDiTesto 1"/>
          <p:cNvSpPr txBox="1"/>
          <p:nvPr/>
        </p:nvSpPr>
        <p:spPr>
          <a:xfrm>
            <a:off x="5994400" y="6400199"/>
            <a:ext cx="2980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i="1" dirty="0" smtClean="0"/>
              <a:t>Credit: Mario </a:t>
            </a:r>
            <a:r>
              <a:rPr lang="it-IT" sz="1600" i="1" dirty="0" err="1" smtClean="0"/>
              <a:t>Roederer</a:t>
            </a:r>
            <a:r>
              <a:rPr lang="it-IT" sz="1600" i="1" dirty="0" smtClean="0"/>
              <a:t>, VRC, NIH</a:t>
            </a:r>
            <a:endParaRPr lang="it-IT" sz="1600" i="1" dirty="0"/>
          </a:p>
        </p:txBody>
      </p:sp>
    </p:spTree>
    <p:extLst>
      <p:ext uri="{BB962C8B-B14F-4D97-AF65-F5344CB8AC3E}">
        <p14:creationId xmlns:p14="http://schemas.microsoft.com/office/powerpoint/2010/main" val="374057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Aspects</a:t>
            </a:r>
            <a:r>
              <a:rPr lang="it-IT" sz="3200" b="1" dirty="0" smtClean="0">
                <a:solidFill>
                  <a:srgbClr val="000090"/>
                </a:solidFill>
              </a:rPr>
              <a:t> to </a:t>
            </a:r>
            <a:r>
              <a:rPr lang="it-IT" sz="3200" b="1" dirty="0" err="1" smtClean="0">
                <a:solidFill>
                  <a:srgbClr val="000090"/>
                </a:solidFill>
              </a:rPr>
              <a:t>consider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/>
          <p:cNvSpPr txBox="1"/>
          <p:nvPr/>
        </p:nvSpPr>
        <p:spPr>
          <a:xfrm>
            <a:off x="268900" y="1041227"/>
            <a:ext cx="827592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Compensation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can be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performed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manually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at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the machine) or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automatically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(via software)</a:t>
            </a:r>
          </a:p>
          <a:p>
            <a:pPr marL="457200" indent="-457200">
              <a:buFont typeface="Arial"/>
              <a:buChar char="•"/>
            </a:pPr>
            <a:endParaRPr lang="it-IT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Manual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compensation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: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tedious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,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need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to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check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carefully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that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positive and negative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signals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have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to match</a:t>
            </a:r>
          </a:p>
          <a:p>
            <a:endParaRPr lang="it-IT" sz="24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Automated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compensation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: no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errors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,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using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the </a:t>
            </a:r>
            <a:r>
              <a:rPr lang="it-IT" sz="2400" b="1" dirty="0" smtClean="0">
                <a:solidFill>
                  <a:srgbClr val="0000FF"/>
                </a:solidFill>
                <a:latin typeface="Arial"/>
                <a:cs typeface="Arial"/>
              </a:rPr>
              <a:t>right </a:t>
            </a:r>
            <a:r>
              <a:rPr lang="it-IT" sz="2400" b="1" dirty="0" err="1" smtClean="0">
                <a:solidFill>
                  <a:srgbClr val="0000FF"/>
                </a:solidFill>
                <a:latin typeface="Arial"/>
                <a:cs typeface="Arial"/>
              </a:rPr>
              <a:t>controls</a:t>
            </a:r>
            <a:endParaRPr lang="it-IT" sz="2400" b="1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endParaRPr lang="it-IT" sz="2400" dirty="0" smtClean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Manual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compensation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is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impractical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in a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multicolor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experiment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(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roughly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2</a:t>
            </a:r>
            <a:r>
              <a:rPr lang="it-IT" sz="2400" baseline="30000" dirty="0" smtClean="0">
                <a:solidFill>
                  <a:srgbClr val="000000"/>
                </a:solidFill>
                <a:latin typeface="Arial"/>
                <a:cs typeface="Arial"/>
              </a:rPr>
              <a:t>n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pairwise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combinations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)</a:t>
            </a:r>
          </a:p>
          <a:p>
            <a:pPr marL="457200" indent="-457200">
              <a:buFont typeface="Arial"/>
              <a:buChar char="•"/>
            </a:pPr>
            <a:endParaRPr lang="it-IT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Changing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compensation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in a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pairwise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00"/>
                </a:solidFill>
                <a:latin typeface="Arial"/>
                <a:cs typeface="Arial"/>
              </a:rPr>
              <a:t>combination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it-IT" sz="2400" b="1" dirty="0" err="1" smtClean="0">
                <a:solidFill>
                  <a:srgbClr val="0000FF"/>
                </a:solidFill>
                <a:latin typeface="Arial"/>
                <a:cs typeface="Arial"/>
              </a:rPr>
              <a:t>affects</a:t>
            </a:r>
            <a:r>
              <a:rPr lang="it-IT" sz="2400" b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400" b="1" dirty="0" err="1" smtClean="0">
                <a:solidFill>
                  <a:srgbClr val="0000FF"/>
                </a:solidFill>
                <a:latin typeface="Arial"/>
                <a:cs typeface="Arial"/>
              </a:rPr>
              <a:t>distribution</a:t>
            </a:r>
            <a:r>
              <a:rPr lang="it-IT" sz="2400" b="1" dirty="0" smtClean="0">
                <a:solidFill>
                  <a:srgbClr val="0000FF"/>
                </a:solidFill>
                <a:latin typeface="Arial"/>
                <a:cs typeface="Arial"/>
              </a:rPr>
              <a:t> in </a:t>
            </a:r>
            <a:r>
              <a:rPr lang="it-IT" sz="2400" b="1" dirty="0" err="1" smtClean="0">
                <a:solidFill>
                  <a:srgbClr val="0000FF"/>
                </a:solidFill>
                <a:latin typeface="Arial"/>
                <a:cs typeface="Arial"/>
              </a:rPr>
              <a:t>other</a:t>
            </a:r>
            <a:r>
              <a:rPr lang="it-IT" sz="2400" b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400" b="1" dirty="0" err="1" smtClean="0">
                <a:solidFill>
                  <a:srgbClr val="0000FF"/>
                </a:solidFill>
                <a:latin typeface="Arial"/>
                <a:cs typeface="Arial"/>
              </a:rPr>
              <a:t>channels</a:t>
            </a:r>
            <a:r>
              <a:rPr lang="it-IT" sz="2400" dirty="0" smtClean="0">
                <a:solidFill>
                  <a:srgbClr val="000000"/>
                </a:solidFill>
                <a:latin typeface="Arial"/>
                <a:cs typeface="Arial"/>
              </a:rPr>
              <a:t>.</a:t>
            </a:r>
            <a:endParaRPr lang="it-IT" sz="2400" dirty="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209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Practical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compensation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/>
          <p:cNvSpPr txBox="1"/>
          <p:nvPr/>
        </p:nvSpPr>
        <p:spPr>
          <a:xfrm>
            <a:off x="327515" y="1132402"/>
            <a:ext cx="745839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smtClean="0">
                <a:solidFill>
                  <a:srgbClr val="000090"/>
                </a:solidFill>
              </a:rPr>
              <a:t>How do </a:t>
            </a:r>
            <a:r>
              <a:rPr lang="it-IT" sz="2400" dirty="0" err="1" smtClean="0">
                <a:solidFill>
                  <a:srgbClr val="000090"/>
                </a:solidFill>
              </a:rPr>
              <a:t>we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correctly</a:t>
            </a:r>
            <a:r>
              <a:rPr lang="it-IT" sz="2400" dirty="0" smtClean="0">
                <a:solidFill>
                  <a:srgbClr val="000090"/>
                </a:solidFill>
              </a:rPr>
              <a:t> estimate the “</a:t>
            </a:r>
            <a:r>
              <a:rPr lang="it-IT" sz="2400" dirty="0" err="1" smtClean="0">
                <a:solidFill>
                  <a:srgbClr val="000090"/>
                </a:solidFill>
              </a:rPr>
              <a:t>spillover</a:t>
            </a:r>
            <a:r>
              <a:rPr lang="it-IT" sz="2400" dirty="0" smtClean="0">
                <a:solidFill>
                  <a:srgbClr val="000090"/>
                </a:solidFill>
              </a:rPr>
              <a:t>” of a </a:t>
            </a:r>
            <a:r>
              <a:rPr lang="it-IT" sz="2400" dirty="0" err="1" smtClean="0">
                <a:solidFill>
                  <a:srgbClr val="000090"/>
                </a:solidFill>
              </a:rPr>
              <a:t>given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fluorochrome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into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other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channels</a:t>
            </a:r>
            <a:r>
              <a:rPr lang="it-IT" sz="2400" dirty="0" smtClean="0">
                <a:solidFill>
                  <a:srgbClr val="000090"/>
                </a:solidFill>
              </a:rPr>
              <a:t>?</a:t>
            </a:r>
          </a:p>
          <a:p>
            <a:endParaRPr lang="it-IT" sz="2400" dirty="0">
              <a:solidFill>
                <a:srgbClr val="000090"/>
              </a:solidFill>
            </a:endParaRPr>
          </a:p>
          <a:p>
            <a:r>
              <a:rPr lang="it-IT" sz="2400" dirty="0" smtClean="0">
                <a:solidFill>
                  <a:srgbClr val="000090"/>
                </a:solidFill>
              </a:rPr>
              <a:t>SINGLE-STAINED CONTROLS</a:t>
            </a:r>
          </a:p>
        </p:txBody>
      </p:sp>
      <p:pic>
        <p:nvPicPr>
          <p:cNvPr id="2" name="Immagine 1" descr="Single stained.pic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8"/>
          <a:stretch/>
        </p:blipFill>
        <p:spPr>
          <a:xfrm>
            <a:off x="1641230" y="2852614"/>
            <a:ext cx="6389077" cy="4210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9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73128" y="174306"/>
            <a:ext cx="80172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Compbeads</a:t>
            </a:r>
            <a:r>
              <a:rPr lang="it-IT" sz="3200" b="1" dirty="0" smtClean="0">
                <a:solidFill>
                  <a:srgbClr val="000090"/>
                </a:solidFill>
              </a:rPr>
              <a:t> for single </a:t>
            </a:r>
            <a:r>
              <a:rPr lang="it-IT" sz="3200" b="1" dirty="0" err="1" smtClean="0">
                <a:solidFill>
                  <a:srgbClr val="000090"/>
                </a:solidFill>
              </a:rPr>
              <a:t>stained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controls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/>
          <p:cNvSpPr txBox="1"/>
          <p:nvPr/>
        </p:nvSpPr>
        <p:spPr>
          <a:xfrm>
            <a:off x="177721" y="1060756"/>
            <a:ext cx="826289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/>
              <a:buChar char="•"/>
            </a:pPr>
            <a:r>
              <a:rPr lang="it-IT" sz="2000" dirty="0" smtClean="0"/>
              <a:t>Plastic </a:t>
            </a:r>
            <a:r>
              <a:rPr lang="it-IT" sz="2000" dirty="0" err="1" smtClean="0"/>
              <a:t>beads</a:t>
            </a:r>
            <a:r>
              <a:rPr lang="it-IT" sz="2000" dirty="0" smtClean="0"/>
              <a:t> </a:t>
            </a:r>
            <a:r>
              <a:rPr lang="it-IT" sz="2000" dirty="0" err="1" smtClean="0"/>
              <a:t>covered</a:t>
            </a:r>
            <a:r>
              <a:rPr lang="it-IT" sz="2000" dirty="0" smtClean="0"/>
              <a:t> with </a:t>
            </a:r>
            <a:r>
              <a:rPr lang="it-IT" sz="2000" dirty="0" err="1" smtClean="0"/>
              <a:t>species-specific</a:t>
            </a:r>
            <a:r>
              <a:rPr lang="it-IT" sz="2000" dirty="0" smtClean="0"/>
              <a:t> anti-</a:t>
            </a:r>
            <a:r>
              <a:rPr lang="it-IT" sz="2000" dirty="0" err="1" smtClean="0"/>
              <a:t>Fc</a:t>
            </a:r>
            <a:r>
              <a:rPr lang="it-IT" sz="2000" dirty="0" smtClean="0"/>
              <a:t> </a:t>
            </a:r>
            <a:r>
              <a:rPr lang="it-IT" sz="2000" dirty="0" err="1" smtClean="0"/>
              <a:t>antibodies</a:t>
            </a:r>
            <a:r>
              <a:rPr lang="it-IT" sz="2000" dirty="0" smtClean="0"/>
              <a:t> (anti-mouse, -</a:t>
            </a:r>
            <a:r>
              <a:rPr lang="it-IT" sz="2000" dirty="0" err="1" smtClean="0"/>
              <a:t>rat</a:t>
            </a:r>
            <a:r>
              <a:rPr lang="it-IT" sz="2000" dirty="0" smtClean="0"/>
              <a:t>, -</a:t>
            </a:r>
            <a:r>
              <a:rPr lang="it-IT" sz="2000" dirty="0" err="1" smtClean="0"/>
              <a:t>hamster</a:t>
            </a:r>
            <a:r>
              <a:rPr lang="it-IT" sz="2000" dirty="0" smtClean="0"/>
              <a:t>, etc.)</a:t>
            </a:r>
          </a:p>
          <a:p>
            <a:pPr marL="514350" indent="-514800">
              <a:buFont typeface="Arial"/>
              <a:buChar char="•"/>
            </a:pPr>
            <a:r>
              <a:rPr lang="it-IT" sz="2000" dirty="0" err="1" smtClean="0"/>
              <a:t>Very</a:t>
            </a:r>
            <a:r>
              <a:rPr lang="it-IT" sz="2000" dirty="0" smtClean="0"/>
              <a:t> </a:t>
            </a:r>
            <a:r>
              <a:rPr lang="it-IT" sz="2000" dirty="0" err="1" smtClean="0"/>
              <a:t>bright</a:t>
            </a:r>
            <a:endParaRPr lang="it-IT" sz="2000" dirty="0" smtClean="0"/>
          </a:p>
          <a:p>
            <a:pPr marL="514350" indent="-514800">
              <a:buFont typeface="Arial"/>
              <a:buChar char="•"/>
            </a:pPr>
            <a:endParaRPr lang="it-IT" sz="2000" dirty="0"/>
          </a:p>
          <a:p>
            <a:r>
              <a:rPr lang="it-IT" sz="2000" b="1" dirty="0" smtClean="0"/>
              <a:t>PROCEDURE:</a:t>
            </a:r>
          </a:p>
          <a:p>
            <a:pPr marL="342900" indent="-342900">
              <a:buFontTx/>
              <a:buChar char="-"/>
            </a:pPr>
            <a:r>
              <a:rPr lang="it-IT" sz="2000" dirty="0" err="1" smtClean="0"/>
              <a:t>Vortex</a:t>
            </a:r>
            <a:r>
              <a:rPr lang="it-IT" sz="2000" dirty="0" smtClean="0"/>
              <a:t> </a:t>
            </a:r>
            <a:r>
              <a:rPr lang="it-IT" sz="2000" dirty="0" err="1" smtClean="0"/>
              <a:t>beads</a:t>
            </a:r>
            <a:endParaRPr lang="it-IT" sz="2000" dirty="0" smtClean="0"/>
          </a:p>
          <a:p>
            <a:pPr marL="342900" indent="-342900">
              <a:buFontTx/>
              <a:buChar char="-"/>
            </a:pPr>
            <a:r>
              <a:rPr lang="it-IT" sz="2000" dirty="0" err="1" smtClean="0"/>
              <a:t>Aliquot</a:t>
            </a:r>
            <a:r>
              <a:rPr lang="it-IT" sz="2000" dirty="0" smtClean="0"/>
              <a:t> 30 </a:t>
            </a:r>
            <a:r>
              <a:rPr lang="it-IT" sz="2000" dirty="0" err="1" smtClean="0"/>
              <a:t>uL</a:t>
            </a:r>
            <a:r>
              <a:rPr lang="it-IT" sz="2000" dirty="0" smtClean="0"/>
              <a:t> to </a:t>
            </a:r>
            <a:r>
              <a:rPr lang="it-IT" sz="2000" dirty="0" err="1" smtClean="0"/>
              <a:t>each</a:t>
            </a:r>
            <a:r>
              <a:rPr lang="it-IT" sz="2000" dirty="0" smtClean="0"/>
              <a:t> tube (</a:t>
            </a:r>
            <a:r>
              <a:rPr lang="it-IT" sz="2000" dirty="0" err="1" smtClean="0"/>
              <a:t>including</a:t>
            </a:r>
            <a:r>
              <a:rPr lang="it-IT" sz="2000" dirty="0" smtClean="0"/>
              <a:t> a negative control)</a:t>
            </a:r>
          </a:p>
          <a:p>
            <a:pPr marL="342900" indent="-342900">
              <a:buFontTx/>
              <a:buChar char="-"/>
            </a:pPr>
            <a:r>
              <a:rPr lang="it-IT" sz="2000" dirty="0" err="1" smtClean="0"/>
              <a:t>Add</a:t>
            </a:r>
            <a:r>
              <a:rPr lang="it-IT" sz="2000" dirty="0" smtClean="0"/>
              <a:t> Ab (the </a:t>
            </a:r>
            <a:r>
              <a:rPr lang="it-IT" sz="2000" dirty="0" err="1" smtClean="0"/>
              <a:t>same</a:t>
            </a:r>
            <a:r>
              <a:rPr lang="it-IT" sz="2000" dirty="0" smtClean="0"/>
              <a:t> </a:t>
            </a:r>
            <a:r>
              <a:rPr lang="it-IT" sz="2000" dirty="0" err="1" smtClean="0"/>
              <a:t>titer</a:t>
            </a:r>
            <a:r>
              <a:rPr lang="it-IT" sz="2000" dirty="0" smtClean="0"/>
              <a:t> </a:t>
            </a:r>
            <a:r>
              <a:rPr lang="it-IT" sz="2000" dirty="0" err="1" smtClean="0"/>
              <a:t>used</a:t>
            </a:r>
            <a:r>
              <a:rPr lang="it-IT" sz="2000" dirty="0" smtClean="0"/>
              <a:t> in the </a:t>
            </a:r>
            <a:r>
              <a:rPr lang="it-IT" sz="2000" dirty="0" err="1" smtClean="0"/>
              <a:t>staining</a:t>
            </a:r>
            <a:r>
              <a:rPr lang="it-IT" sz="2000" dirty="0" smtClean="0"/>
              <a:t>)</a:t>
            </a:r>
          </a:p>
          <a:p>
            <a:pPr marL="342900" indent="-342900">
              <a:buFontTx/>
              <a:buChar char="-"/>
            </a:pPr>
            <a:r>
              <a:rPr lang="it-IT" sz="2000" dirty="0" err="1" smtClean="0"/>
              <a:t>Vortex</a:t>
            </a:r>
            <a:endParaRPr lang="it-IT" sz="2000" dirty="0" smtClean="0"/>
          </a:p>
          <a:p>
            <a:pPr marL="342900" indent="-342900">
              <a:buFontTx/>
              <a:buChar char="-"/>
            </a:pPr>
            <a:r>
              <a:rPr lang="it-IT" sz="2000" dirty="0" smtClean="0"/>
              <a:t>Incubate 15’ RT</a:t>
            </a:r>
          </a:p>
          <a:p>
            <a:pPr marL="342900" indent="-342900">
              <a:buFontTx/>
              <a:buChar char="-"/>
            </a:pPr>
            <a:r>
              <a:rPr lang="it-IT" sz="2000" dirty="0" smtClean="0"/>
              <a:t>Wash</a:t>
            </a: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743" y="3998872"/>
            <a:ext cx="5375678" cy="255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679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Minimizing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compensation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magine 2"/>
          <p:cNvPicPr>
            <a:picLocks noChangeAspect="1"/>
          </p:cNvPicPr>
          <p:nvPr/>
        </p:nvPicPr>
        <p:blipFill rotWithShape="1">
          <a:blip r:embed="rId2"/>
          <a:srcRect l="13092" r="9909" b="7425"/>
          <a:stretch/>
        </p:blipFill>
        <p:spPr>
          <a:xfrm>
            <a:off x="222249" y="1092200"/>
            <a:ext cx="4679951" cy="5664200"/>
          </a:xfrm>
          <a:prstGeom prst="rect">
            <a:avLst/>
          </a:prstGeom>
        </p:spPr>
      </p:pic>
      <p:sp>
        <p:nvSpPr>
          <p:cNvPr id="7" name="CasellaDiTesto 6"/>
          <p:cNvSpPr txBox="1"/>
          <p:nvPr/>
        </p:nvSpPr>
        <p:spPr>
          <a:xfrm>
            <a:off x="4902200" y="1377950"/>
            <a:ext cx="4088422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/>
              <a:t>Good</a:t>
            </a:r>
            <a:r>
              <a:rPr lang="it-IT" dirty="0" smtClean="0"/>
              <a:t> 4 color </a:t>
            </a:r>
            <a:r>
              <a:rPr lang="it-IT" dirty="0" err="1" smtClean="0"/>
              <a:t>combinations</a:t>
            </a:r>
            <a:r>
              <a:rPr lang="it-IT" dirty="0" smtClean="0"/>
              <a:t>:</a:t>
            </a:r>
          </a:p>
          <a:p>
            <a:endParaRPr lang="it-IT" dirty="0" smtClean="0"/>
          </a:p>
          <a:p>
            <a:r>
              <a:rPr lang="it-IT" dirty="0" smtClean="0"/>
              <a:t>FITC </a:t>
            </a:r>
            <a:r>
              <a:rPr lang="it-IT" dirty="0"/>
              <a:t>–</a:t>
            </a:r>
            <a:r>
              <a:rPr lang="it-IT" dirty="0" smtClean="0"/>
              <a:t> PE-Cy7 – </a:t>
            </a:r>
            <a:r>
              <a:rPr lang="it-IT" dirty="0" err="1" smtClean="0"/>
              <a:t>PacBlue</a:t>
            </a:r>
            <a:r>
              <a:rPr lang="it-IT" dirty="0" smtClean="0"/>
              <a:t> – APC</a:t>
            </a:r>
          </a:p>
          <a:p>
            <a:endParaRPr lang="it-IT" dirty="0"/>
          </a:p>
          <a:p>
            <a:r>
              <a:rPr lang="it-IT" dirty="0"/>
              <a:t>FITC </a:t>
            </a:r>
            <a:r>
              <a:rPr lang="it-IT" dirty="0" smtClean="0"/>
              <a:t>– PE – </a:t>
            </a:r>
            <a:r>
              <a:rPr lang="it-IT" dirty="0" err="1"/>
              <a:t>PacBlue</a:t>
            </a:r>
            <a:r>
              <a:rPr lang="it-IT" dirty="0"/>
              <a:t> – APC</a:t>
            </a:r>
          </a:p>
          <a:p>
            <a:endParaRPr lang="it-IT" dirty="0" smtClean="0"/>
          </a:p>
          <a:p>
            <a:r>
              <a:rPr lang="it-IT" dirty="0"/>
              <a:t>FITC – PE – </a:t>
            </a:r>
            <a:r>
              <a:rPr lang="it-IT" dirty="0" err="1"/>
              <a:t>PacBlue</a:t>
            </a:r>
            <a:r>
              <a:rPr lang="it-IT" dirty="0"/>
              <a:t> – </a:t>
            </a:r>
            <a:r>
              <a:rPr lang="it-IT" dirty="0" smtClean="0"/>
              <a:t>APC-Cy7</a:t>
            </a:r>
          </a:p>
          <a:p>
            <a:endParaRPr lang="it-IT" dirty="0" smtClean="0"/>
          </a:p>
          <a:p>
            <a:r>
              <a:rPr lang="it-IT" sz="2400" dirty="0" smtClean="0">
                <a:solidFill>
                  <a:srgbClr val="000090"/>
                </a:solidFill>
              </a:rPr>
              <a:t>Success </a:t>
            </a:r>
            <a:r>
              <a:rPr lang="it-IT" sz="2400" dirty="0" err="1" smtClean="0">
                <a:solidFill>
                  <a:srgbClr val="000090"/>
                </a:solidFill>
              </a:rPr>
              <a:t>of</a:t>
            </a:r>
            <a:r>
              <a:rPr lang="it-IT" sz="2400" dirty="0" smtClean="0">
                <a:solidFill>
                  <a:srgbClr val="000090"/>
                </a:solidFill>
              </a:rPr>
              <a:t> a </a:t>
            </a:r>
            <a:r>
              <a:rPr lang="it-IT" sz="2400" dirty="0" err="1" smtClean="0">
                <a:solidFill>
                  <a:srgbClr val="000090"/>
                </a:solidFill>
              </a:rPr>
              <a:t>panel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does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not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depend</a:t>
            </a:r>
            <a:r>
              <a:rPr lang="it-IT" sz="2400" dirty="0" smtClean="0">
                <a:solidFill>
                  <a:srgbClr val="000090"/>
                </a:solidFill>
              </a:rPr>
              <a:t> on </a:t>
            </a:r>
            <a:r>
              <a:rPr lang="it-IT" sz="2400" dirty="0" err="1" smtClean="0">
                <a:solidFill>
                  <a:srgbClr val="000090"/>
                </a:solidFill>
              </a:rPr>
              <a:t>compensation</a:t>
            </a:r>
            <a:r>
              <a:rPr lang="it-IT" sz="2400" dirty="0" smtClean="0">
                <a:solidFill>
                  <a:srgbClr val="000090"/>
                </a:solidFill>
              </a:rPr>
              <a:t>. </a:t>
            </a:r>
            <a:r>
              <a:rPr lang="it-IT" sz="2400" dirty="0" err="1" smtClean="0">
                <a:solidFill>
                  <a:srgbClr val="000090"/>
                </a:solidFill>
              </a:rPr>
              <a:t>Panels</a:t>
            </a:r>
            <a:r>
              <a:rPr lang="it-IT" sz="2400" dirty="0" smtClean="0">
                <a:solidFill>
                  <a:srgbClr val="000090"/>
                </a:solidFill>
              </a:rPr>
              <a:t> work fine </a:t>
            </a:r>
            <a:r>
              <a:rPr lang="it-IT" sz="2400" dirty="0" err="1" smtClean="0">
                <a:solidFill>
                  <a:srgbClr val="000090"/>
                </a:solidFill>
              </a:rPr>
              <a:t>even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when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compensation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is</a:t>
            </a:r>
            <a:r>
              <a:rPr lang="it-IT" sz="2400" dirty="0" smtClean="0">
                <a:solidFill>
                  <a:srgbClr val="000090"/>
                </a:solidFill>
              </a:rPr>
              <a:t> &gt;100%</a:t>
            </a:r>
          </a:p>
          <a:p>
            <a:endParaRPr lang="it-IT" sz="2400" dirty="0" smtClean="0">
              <a:solidFill>
                <a:srgbClr val="000090"/>
              </a:solidFill>
            </a:endParaRPr>
          </a:p>
          <a:p>
            <a:r>
              <a:rPr lang="it-IT" sz="2400" dirty="0" err="1" smtClean="0">
                <a:solidFill>
                  <a:srgbClr val="000090"/>
                </a:solidFill>
              </a:rPr>
              <a:t>Spreading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error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between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channels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determines</a:t>
            </a:r>
            <a:r>
              <a:rPr lang="it-IT" sz="2400" dirty="0" smtClean="0">
                <a:solidFill>
                  <a:srgbClr val="000090"/>
                </a:solidFill>
              </a:rPr>
              <a:t> the success </a:t>
            </a:r>
            <a:r>
              <a:rPr lang="it-IT" sz="2400" dirty="0" err="1" smtClean="0">
                <a:solidFill>
                  <a:srgbClr val="000090"/>
                </a:solidFill>
              </a:rPr>
              <a:t>of</a:t>
            </a:r>
            <a:r>
              <a:rPr lang="it-IT" sz="2400" dirty="0" smtClean="0">
                <a:solidFill>
                  <a:srgbClr val="000090"/>
                </a:solidFill>
              </a:rPr>
              <a:t> the </a:t>
            </a:r>
            <a:r>
              <a:rPr lang="it-IT" sz="2400" dirty="0" err="1" smtClean="0">
                <a:solidFill>
                  <a:srgbClr val="000090"/>
                </a:solidFill>
              </a:rPr>
              <a:t>panel</a:t>
            </a:r>
            <a:endParaRPr lang="it-IT" sz="2400" dirty="0" smtClean="0">
              <a:solidFill>
                <a:srgbClr val="000090"/>
              </a:solidFill>
            </a:endParaRP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355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smtClean="0">
                <a:solidFill>
                  <a:srgbClr val="000090"/>
                </a:solidFill>
              </a:rPr>
              <a:t>The 3 </a:t>
            </a:r>
            <a:r>
              <a:rPr lang="it-IT" sz="3200" b="1" dirty="0" err="1" smtClean="0">
                <a:solidFill>
                  <a:srgbClr val="000090"/>
                </a:solidFill>
              </a:rPr>
              <a:t>golden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rules</a:t>
            </a:r>
            <a:r>
              <a:rPr lang="it-IT" sz="3200" b="1" dirty="0" smtClean="0">
                <a:solidFill>
                  <a:srgbClr val="000090"/>
                </a:solidFill>
              </a:rPr>
              <a:t> of </a:t>
            </a:r>
            <a:r>
              <a:rPr lang="it-IT" sz="3200" b="1" dirty="0" err="1" smtClean="0">
                <a:solidFill>
                  <a:srgbClr val="000090"/>
                </a:solidFill>
              </a:rPr>
              <a:t>compensation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/>
          <p:cNvSpPr txBox="1"/>
          <p:nvPr/>
        </p:nvSpPr>
        <p:spPr>
          <a:xfrm>
            <a:off x="301465" y="1295218"/>
            <a:ext cx="820427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sz="2600" dirty="0" smtClean="0">
                <a:solidFill>
                  <a:srgbClr val="000090"/>
                </a:solidFill>
              </a:rPr>
              <a:t>Use a single-</a:t>
            </a:r>
            <a:r>
              <a:rPr lang="it-IT" sz="2600" dirty="0" err="1" smtClean="0">
                <a:solidFill>
                  <a:srgbClr val="000090"/>
                </a:solidFill>
              </a:rPr>
              <a:t>stained</a:t>
            </a:r>
            <a:r>
              <a:rPr lang="it-IT" sz="2600" dirty="0" smtClean="0">
                <a:solidFill>
                  <a:srgbClr val="000090"/>
                </a:solidFill>
              </a:rPr>
              <a:t> control </a:t>
            </a:r>
            <a:r>
              <a:rPr lang="it-IT" sz="2600" dirty="0" err="1" smtClean="0">
                <a:solidFill>
                  <a:srgbClr val="000090"/>
                </a:solidFill>
              </a:rPr>
              <a:t>that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is</a:t>
            </a:r>
            <a:r>
              <a:rPr lang="it-IT" sz="2600" dirty="0" smtClean="0">
                <a:solidFill>
                  <a:srgbClr val="000090"/>
                </a:solidFill>
              </a:rPr>
              <a:t> AT LEAST </a:t>
            </a:r>
            <a:r>
              <a:rPr lang="it-IT" sz="2600" dirty="0" err="1" smtClean="0">
                <a:solidFill>
                  <a:srgbClr val="000090"/>
                </a:solidFill>
              </a:rPr>
              <a:t>as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bright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as</a:t>
            </a:r>
            <a:r>
              <a:rPr lang="it-IT" sz="2600" dirty="0" smtClean="0">
                <a:solidFill>
                  <a:srgbClr val="000090"/>
                </a:solidFill>
              </a:rPr>
              <a:t> the test </a:t>
            </a:r>
            <a:r>
              <a:rPr lang="it-IT" sz="2600" dirty="0" err="1" smtClean="0">
                <a:solidFill>
                  <a:srgbClr val="000090"/>
                </a:solidFill>
              </a:rPr>
              <a:t>staining</a:t>
            </a:r>
            <a:endParaRPr lang="it-IT" sz="2600" dirty="0" smtClean="0">
              <a:solidFill>
                <a:srgbClr val="000090"/>
              </a:solidFill>
            </a:endParaRPr>
          </a:p>
          <a:p>
            <a:endParaRPr lang="it-IT" sz="2600" dirty="0" smtClean="0">
              <a:solidFill>
                <a:srgbClr val="000090"/>
              </a:solidFill>
            </a:endParaRPr>
          </a:p>
          <a:p>
            <a:pPr marL="514350" indent="-514800">
              <a:buFont typeface="+mj-lt"/>
              <a:buAutoNum type="arabicPeriod"/>
            </a:pPr>
            <a:r>
              <a:rPr lang="it-IT" sz="2600" dirty="0" smtClean="0">
                <a:solidFill>
                  <a:srgbClr val="000090"/>
                </a:solidFill>
              </a:rPr>
              <a:t>Use the </a:t>
            </a:r>
            <a:r>
              <a:rPr lang="it-IT" sz="2600" dirty="0" err="1" smtClean="0">
                <a:solidFill>
                  <a:srgbClr val="000090"/>
                </a:solidFill>
              </a:rPr>
              <a:t>same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reagent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that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is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being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used</a:t>
            </a:r>
            <a:r>
              <a:rPr lang="it-IT" sz="2600" dirty="0" smtClean="0">
                <a:solidFill>
                  <a:srgbClr val="000090"/>
                </a:solidFill>
              </a:rPr>
              <a:t> in the </a:t>
            </a:r>
            <a:r>
              <a:rPr lang="it-IT" sz="2600" dirty="0" err="1" smtClean="0">
                <a:solidFill>
                  <a:srgbClr val="000090"/>
                </a:solidFill>
              </a:rPr>
              <a:t>staining</a:t>
            </a:r>
            <a:r>
              <a:rPr lang="it-IT" sz="2600" dirty="0" smtClean="0">
                <a:solidFill>
                  <a:srgbClr val="000090"/>
                </a:solidFill>
              </a:rPr>
              <a:t> (</a:t>
            </a:r>
            <a:r>
              <a:rPr lang="it-IT" sz="2600" dirty="0" err="1" smtClean="0">
                <a:solidFill>
                  <a:srgbClr val="000090"/>
                </a:solidFill>
              </a:rPr>
              <a:t>valid</a:t>
            </a:r>
            <a:r>
              <a:rPr lang="it-IT" sz="2600" dirty="0" smtClean="0">
                <a:solidFill>
                  <a:srgbClr val="000090"/>
                </a:solidFill>
              </a:rPr>
              <a:t> for </a:t>
            </a:r>
            <a:r>
              <a:rPr lang="it-IT" sz="2600" dirty="0" err="1" smtClean="0">
                <a:solidFill>
                  <a:srgbClr val="000090"/>
                </a:solidFill>
              </a:rPr>
              <a:t>tandems</a:t>
            </a:r>
            <a:r>
              <a:rPr lang="it-IT" sz="2600" dirty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such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as</a:t>
            </a:r>
            <a:r>
              <a:rPr lang="it-IT" sz="2600" dirty="0" smtClean="0">
                <a:solidFill>
                  <a:srgbClr val="000090"/>
                </a:solidFill>
              </a:rPr>
              <a:t> PE-Cy7, APC-Cy7, etc. – for non </a:t>
            </a:r>
            <a:r>
              <a:rPr lang="it-IT" sz="2600" dirty="0" err="1" smtClean="0">
                <a:solidFill>
                  <a:srgbClr val="000090"/>
                </a:solidFill>
              </a:rPr>
              <a:t>tandems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any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reagent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is</a:t>
            </a:r>
            <a:r>
              <a:rPr lang="it-IT" sz="2600" dirty="0" smtClean="0">
                <a:solidFill>
                  <a:srgbClr val="000090"/>
                </a:solidFill>
              </a:rPr>
              <a:t> OK)</a:t>
            </a:r>
          </a:p>
          <a:p>
            <a:endParaRPr lang="it-IT" sz="2600" dirty="0" smtClean="0">
              <a:solidFill>
                <a:srgbClr val="00009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it-IT" sz="2600" dirty="0" err="1" smtClean="0">
                <a:solidFill>
                  <a:srgbClr val="000090"/>
                </a:solidFill>
              </a:rPr>
              <a:t>Have</a:t>
            </a:r>
            <a:r>
              <a:rPr lang="it-IT" sz="2600" dirty="0" smtClean="0">
                <a:solidFill>
                  <a:srgbClr val="000090"/>
                </a:solidFill>
              </a:rPr>
              <a:t> a </a:t>
            </a:r>
            <a:r>
              <a:rPr lang="it-IT" sz="2600" dirty="0" err="1" smtClean="0">
                <a:solidFill>
                  <a:srgbClr val="000090"/>
                </a:solidFill>
              </a:rPr>
              <a:t>paired</a:t>
            </a:r>
            <a:r>
              <a:rPr lang="it-IT" sz="2600" dirty="0" smtClean="0">
                <a:solidFill>
                  <a:srgbClr val="000090"/>
                </a:solidFill>
              </a:rPr>
              <a:t>-negative control with the SAME </a:t>
            </a:r>
            <a:r>
              <a:rPr lang="it-IT" sz="2600" dirty="0" err="1" smtClean="0">
                <a:solidFill>
                  <a:srgbClr val="000090"/>
                </a:solidFill>
              </a:rPr>
              <a:t>autofluorescence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as</a:t>
            </a:r>
            <a:r>
              <a:rPr lang="it-IT" sz="2600" dirty="0" smtClean="0">
                <a:solidFill>
                  <a:srgbClr val="000090"/>
                </a:solidFill>
              </a:rPr>
              <a:t> the positive (</a:t>
            </a:r>
            <a:r>
              <a:rPr lang="it-IT" sz="2600" dirty="0" err="1" smtClean="0">
                <a:solidFill>
                  <a:srgbClr val="000090"/>
                </a:solidFill>
              </a:rPr>
              <a:t>cells</a:t>
            </a:r>
            <a:r>
              <a:rPr lang="it-IT" sz="2600" dirty="0" smtClean="0">
                <a:solidFill>
                  <a:srgbClr val="000090"/>
                </a:solidFill>
              </a:rPr>
              <a:t> with </a:t>
            </a:r>
            <a:r>
              <a:rPr lang="it-IT" sz="2600" dirty="0" err="1" smtClean="0">
                <a:solidFill>
                  <a:srgbClr val="000090"/>
                </a:solidFill>
              </a:rPr>
              <a:t>cells</a:t>
            </a:r>
            <a:r>
              <a:rPr lang="it-IT" sz="2600" dirty="0" smtClean="0">
                <a:solidFill>
                  <a:srgbClr val="000090"/>
                </a:solidFill>
              </a:rPr>
              <a:t>, </a:t>
            </a:r>
            <a:r>
              <a:rPr lang="it-IT" sz="2600" dirty="0" err="1" smtClean="0">
                <a:solidFill>
                  <a:srgbClr val="000090"/>
                </a:solidFill>
              </a:rPr>
              <a:t>beads</a:t>
            </a:r>
            <a:r>
              <a:rPr lang="it-IT" sz="2600" dirty="0" smtClean="0">
                <a:solidFill>
                  <a:srgbClr val="000090"/>
                </a:solidFill>
              </a:rPr>
              <a:t> with </a:t>
            </a:r>
            <a:r>
              <a:rPr lang="it-IT" sz="2600" dirty="0" err="1" smtClean="0">
                <a:solidFill>
                  <a:srgbClr val="000090"/>
                </a:solidFill>
              </a:rPr>
              <a:t>beads</a:t>
            </a:r>
            <a:r>
              <a:rPr lang="it-IT" sz="2600" dirty="0" smtClean="0">
                <a:solidFill>
                  <a:srgbClr val="000090"/>
                </a:solidFill>
              </a:rPr>
              <a:t>, etc.)</a:t>
            </a:r>
          </a:p>
          <a:p>
            <a:pPr marL="514350" indent="-514350">
              <a:buFont typeface="+mj-lt"/>
              <a:buAutoNum type="arabicPeriod"/>
            </a:pPr>
            <a:endParaRPr lang="it-IT" sz="2600" dirty="0">
              <a:solidFill>
                <a:srgbClr val="000090"/>
              </a:solidFill>
            </a:endParaRPr>
          </a:p>
          <a:p>
            <a:r>
              <a:rPr lang="it-IT" sz="2600" dirty="0" err="1" smtClean="0">
                <a:solidFill>
                  <a:srgbClr val="000090"/>
                </a:solidFill>
              </a:rPr>
              <a:t>Everything</a:t>
            </a:r>
            <a:r>
              <a:rPr lang="it-IT" sz="2600" dirty="0" smtClean="0">
                <a:solidFill>
                  <a:srgbClr val="000090"/>
                </a:solidFill>
              </a:rPr>
              <a:t> else </a:t>
            </a:r>
            <a:r>
              <a:rPr lang="it-IT" sz="2600" dirty="0" err="1" smtClean="0">
                <a:solidFill>
                  <a:srgbClr val="000090"/>
                </a:solidFill>
              </a:rPr>
              <a:t>is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not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necessary</a:t>
            </a:r>
            <a:r>
              <a:rPr lang="it-IT" sz="2600" dirty="0" smtClean="0">
                <a:solidFill>
                  <a:srgbClr val="000090"/>
                </a:solidFill>
              </a:rPr>
              <a:t>!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endParaRPr lang="it-IT" sz="2400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09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Experiment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plan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/>
          <p:cNvSpPr txBox="1"/>
          <p:nvPr/>
        </p:nvSpPr>
        <p:spPr>
          <a:xfrm>
            <a:off x="301465" y="1295218"/>
            <a:ext cx="820427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sz="2600" dirty="0" smtClean="0">
                <a:solidFill>
                  <a:srgbClr val="000090"/>
                </a:solidFill>
              </a:rPr>
              <a:t>A 5-color </a:t>
            </a:r>
            <a:r>
              <a:rPr lang="it-IT" sz="2600" dirty="0" err="1" smtClean="0">
                <a:solidFill>
                  <a:srgbClr val="000090"/>
                </a:solidFill>
              </a:rPr>
              <a:t>panel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is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designed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to</a:t>
            </a:r>
            <a:r>
              <a:rPr lang="it-IT" sz="2600" dirty="0" smtClean="0">
                <a:solidFill>
                  <a:srgbClr val="000090"/>
                </a:solidFill>
              </a:rPr>
              <a:t> investigate CD3 FITC, CD4 APC, CD8 Cy5PE, CD19 PE and </a:t>
            </a:r>
            <a:r>
              <a:rPr lang="it-IT" sz="2600" dirty="0" err="1" smtClean="0">
                <a:solidFill>
                  <a:srgbClr val="000090"/>
                </a:solidFill>
              </a:rPr>
              <a:t>Aqua</a:t>
            </a:r>
            <a:r>
              <a:rPr lang="it-IT" sz="2600" dirty="0" smtClean="0">
                <a:solidFill>
                  <a:srgbClr val="000090"/>
                </a:solidFill>
              </a:rPr>
              <a:t> live/dead (</a:t>
            </a:r>
            <a:r>
              <a:rPr lang="it-IT" sz="2600" dirty="0" err="1" smtClean="0">
                <a:solidFill>
                  <a:srgbClr val="000090"/>
                </a:solidFill>
              </a:rPr>
              <a:t>to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exclude</a:t>
            </a:r>
            <a:r>
              <a:rPr lang="it-IT" sz="2600" dirty="0" smtClean="0">
                <a:solidFill>
                  <a:srgbClr val="000090"/>
                </a:solidFill>
              </a:rPr>
              <a:t> dead </a:t>
            </a:r>
            <a:r>
              <a:rPr lang="it-IT" sz="2600" dirty="0" err="1" smtClean="0">
                <a:solidFill>
                  <a:srgbClr val="000090"/>
                </a:solidFill>
              </a:rPr>
              <a:t>cells</a:t>
            </a:r>
            <a:r>
              <a:rPr lang="it-IT" sz="2600" dirty="0" smtClean="0">
                <a:solidFill>
                  <a:srgbClr val="000090"/>
                </a:solidFill>
              </a:rPr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it-IT" sz="2600" dirty="0" err="1" smtClean="0">
                <a:solidFill>
                  <a:srgbClr val="000090"/>
                </a:solidFill>
              </a:rPr>
              <a:t>Tubes</a:t>
            </a:r>
            <a:r>
              <a:rPr lang="it-IT" sz="2600" dirty="0" smtClean="0">
                <a:solidFill>
                  <a:srgbClr val="000090"/>
                </a:solidFill>
              </a:rPr>
              <a:t>:</a:t>
            </a:r>
          </a:p>
          <a:p>
            <a:pPr marL="1252538" lvl="1" indent="-795338">
              <a:buFont typeface="+mj-lt"/>
              <a:buAutoNum type="arabicPeriod"/>
            </a:pPr>
            <a:r>
              <a:rPr lang="en-US" sz="2600" dirty="0" smtClean="0">
                <a:solidFill>
                  <a:srgbClr val="000090"/>
                </a:solidFill>
              </a:rPr>
              <a:t>U</a:t>
            </a:r>
            <a:r>
              <a:rPr lang="it-IT" sz="2600" dirty="0" err="1" smtClean="0">
                <a:solidFill>
                  <a:srgbClr val="000090"/>
                </a:solidFill>
              </a:rPr>
              <a:t>nstained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comp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control</a:t>
            </a:r>
            <a:endParaRPr lang="it-IT" sz="2600" dirty="0" smtClean="0">
              <a:solidFill>
                <a:srgbClr val="000090"/>
              </a:solidFill>
            </a:endParaRPr>
          </a:p>
          <a:p>
            <a:pPr marL="1252538" lvl="1" indent="-795338">
              <a:buFont typeface="+mj-lt"/>
              <a:buAutoNum type="arabicPeriod"/>
            </a:pPr>
            <a:r>
              <a:rPr lang="en-US" sz="2600" dirty="0" smtClean="0">
                <a:solidFill>
                  <a:srgbClr val="000090"/>
                </a:solidFill>
              </a:rPr>
              <a:t>B</a:t>
            </a:r>
            <a:r>
              <a:rPr lang="it-IT" sz="2600" dirty="0" err="1" smtClean="0">
                <a:solidFill>
                  <a:srgbClr val="000090"/>
                </a:solidFill>
              </a:rPr>
              <a:t>eads</a:t>
            </a:r>
            <a:r>
              <a:rPr lang="it-IT" sz="2600" dirty="0" smtClean="0">
                <a:solidFill>
                  <a:srgbClr val="000090"/>
                </a:solidFill>
              </a:rPr>
              <a:t>: CD3 FITC</a:t>
            </a:r>
          </a:p>
          <a:p>
            <a:pPr marL="1252538" lvl="1" indent="-795338">
              <a:buFont typeface="+mj-lt"/>
              <a:buAutoNum type="arabicPeriod"/>
            </a:pPr>
            <a:r>
              <a:rPr lang="en-US" sz="2600" dirty="0" smtClean="0">
                <a:solidFill>
                  <a:srgbClr val="000090"/>
                </a:solidFill>
              </a:rPr>
              <a:t>B</a:t>
            </a:r>
            <a:r>
              <a:rPr lang="it-IT" sz="2600" dirty="0" err="1" smtClean="0">
                <a:solidFill>
                  <a:srgbClr val="000090"/>
                </a:solidFill>
              </a:rPr>
              <a:t>eads</a:t>
            </a:r>
            <a:r>
              <a:rPr lang="it-IT" sz="2600" dirty="0" smtClean="0">
                <a:solidFill>
                  <a:srgbClr val="000090"/>
                </a:solidFill>
              </a:rPr>
              <a:t>: CD4 APC</a:t>
            </a:r>
          </a:p>
          <a:p>
            <a:pPr marL="1252538" lvl="1" indent="-795338">
              <a:buFont typeface="+mj-lt"/>
              <a:buAutoNum type="arabicPeriod"/>
            </a:pPr>
            <a:r>
              <a:rPr lang="en-US" sz="2600" dirty="0" smtClean="0">
                <a:solidFill>
                  <a:srgbClr val="000090"/>
                </a:solidFill>
              </a:rPr>
              <a:t>B</a:t>
            </a:r>
            <a:r>
              <a:rPr lang="it-IT" sz="2600" dirty="0" err="1" smtClean="0">
                <a:solidFill>
                  <a:srgbClr val="000090"/>
                </a:solidFill>
              </a:rPr>
              <a:t>eads</a:t>
            </a:r>
            <a:r>
              <a:rPr lang="it-IT" sz="2600" dirty="0" smtClean="0">
                <a:solidFill>
                  <a:srgbClr val="000090"/>
                </a:solidFill>
              </a:rPr>
              <a:t>: Cd8 Cy5PE</a:t>
            </a:r>
          </a:p>
          <a:p>
            <a:pPr marL="1252538" lvl="1" indent="-795338">
              <a:buFont typeface="+mj-lt"/>
              <a:buAutoNum type="arabicPeriod"/>
            </a:pPr>
            <a:r>
              <a:rPr lang="en-US" sz="2600" dirty="0" smtClean="0">
                <a:solidFill>
                  <a:srgbClr val="000090"/>
                </a:solidFill>
              </a:rPr>
              <a:t>B</a:t>
            </a:r>
            <a:r>
              <a:rPr lang="it-IT" sz="2600" dirty="0" err="1" smtClean="0">
                <a:solidFill>
                  <a:srgbClr val="000090"/>
                </a:solidFill>
              </a:rPr>
              <a:t>eads</a:t>
            </a:r>
            <a:r>
              <a:rPr lang="it-IT" sz="2600" dirty="0" smtClean="0">
                <a:solidFill>
                  <a:srgbClr val="000090"/>
                </a:solidFill>
              </a:rPr>
              <a:t>: CD19 PE</a:t>
            </a:r>
          </a:p>
          <a:p>
            <a:pPr marL="1252538" lvl="1" indent="-795338">
              <a:buFont typeface="+mj-lt"/>
              <a:buAutoNum type="arabicPeriod"/>
            </a:pPr>
            <a:r>
              <a:rPr lang="en-US" sz="2600" dirty="0" smtClean="0">
                <a:solidFill>
                  <a:srgbClr val="000090"/>
                </a:solidFill>
              </a:rPr>
              <a:t>B</a:t>
            </a:r>
            <a:r>
              <a:rPr lang="it-IT" sz="2600" dirty="0" err="1" smtClean="0">
                <a:solidFill>
                  <a:srgbClr val="000090"/>
                </a:solidFill>
              </a:rPr>
              <a:t>eads</a:t>
            </a:r>
            <a:r>
              <a:rPr lang="it-IT" sz="2600" dirty="0" smtClean="0">
                <a:solidFill>
                  <a:srgbClr val="000090"/>
                </a:solidFill>
              </a:rPr>
              <a:t>: </a:t>
            </a:r>
            <a:r>
              <a:rPr lang="it-IT" sz="2600" dirty="0" err="1" smtClean="0">
                <a:solidFill>
                  <a:srgbClr val="000090"/>
                </a:solidFill>
              </a:rPr>
              <a:t>Aqua</a:t>
            </a:r>
            <a:r>
              <a:rPr lang="it-IT" sz="2600" dirty="0" smtClean="0">
                <a:solidFill>
                  <a:srgbClr val="000090"/>
                </a:solidFill>
              </a:rPr>
              <a:t> (positive and negative)</a:t>
            </a:r>
          </a:p>
          <a:p>
            <a:pPr marL="1252538" lvl="1" indent="-795338">
              <a:buFont typeface="+mj-lt"/>
              <a:buAutoNum type="arabicPeriod"/>
            </a:pPr>
            <a:r>
              <a:rPr lang="it-IT" sz="2600" dirty="0" smtClean="0">
                <a:solidFill>
                  <a:srgbClr val="000090"/>
                </a:solidFill>
              </a:rPr>
              <a:t>Full </a:t>
            </a:r>
            <a:r>
              <a:rPr lang="it-IT" sz="2600" dirty="0" err="1" smtClean="0">
                <a:solidFill>
                  <a:srgbClr val="000090"/>
                </a:solidFill>
              </a:rPr>
              <a:t>stained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samples</a:t>
            </a:r>
            <a:endParaRPr lang="it-IT" sz="2600" dirty="0" smtClean="0">
              <a:solidFill>
                <a:srgbClr val="000090"/>
              </a:solidFill>
            </a:endParaRPr>
          </a:p>
          <a:p>
            <a:pPr marL="1252538" lvl="1" indent="-795338"/>
            <a:r>
              <a:rPr lang="it-IT" sz="2600" dirty="0" smtClean="0">
                <a:solidFill>
                  <a:srgbClr val="000090"/>
                </a:solidFill>
              </a:rPr>
              <a:t>8-12.	FMO </a:t>
            </a:r>
            <a:r>
              <a:rPr lang="it-IT" sz="2600" dirty="0" err="1" smtClean="0">
                <a:solidFill>
                  <a:srgbClr val="000090"/>
                </a:solidFill>
              </a:rPr>
              <a:t>controls</a:t>
            </a:r>
            <a:r>
              <a:rPr lang="it-IT" sz="2600" dirty="0" smtClean="0">
                <a:solidFill>
                  <a:srgbClr val="000090"/>
                </a:solidFill>
              </a:rPr>
              <a:t> (up </a:t>
            </a:r>
            <a:r>
              <a:rPr lang="it-IT" sz="2600" dirty="0" err="1" smtClean="0">
                <a:solidFill>
                  <a:srgbClr val="000090"/>
                </a:solidFill>
              </a:rPr>
              <a:t>to</a:t>
            </a:r>
            <a:r>
              <a:rPr lang="it-IT" sz="2600" dirty="0" smtClean="0">
                <a:solidFill>
                  <a:srgbClr val="000090"/>
                </a:solidFill>
              </a:rPr>
              <a:t> </a:t>
            </a:r>
            <a:r>
              <a:rPr lang="it-IT" sz="2600" dirty="0" err="1" smtClean="0">
                <a:solidFill>
                  <a:srgbClr val="000090"/>
                </a:solidFill>
              </a:rPr>
              <a:t>5</a:t>
            </a:r>
            <a:r>
              <a:rPr lang="it-IT" sz="2600" dirty="0" smtClean="0">
                <a:solidFill>
                  <a:srgbClr val="000090"/>
                </a:solidFill>
              </a:rPr>
              <a:t>) </a:t>
            </a:r>
          </a:p>
          <a:p>
            <a:pPr marL="514350" indent="-514350">
              <a:lnSpc>
                <a:spcPct val="200000"/>
              </a:lnSpc>
              <a:buFont typeface="+mj-lt"/>
              <a:buAutoNum type="arabicPeriod"/>
            </a:pPr>
            <a:endParaRPr lang="it-IT" sz="2400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2090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Rule</a:t>
            </a:r>
            <a:r>
              <a:rPr lang="it-IT" sz="3200" b="1" dirty="0" smtClean="0">
                <a:solidFill>
                  <a:srgbClr val="000090"/>
                </a:solidFill>
              </a:rPr>
              <a:t> #1: </a:t>
            </a:r>
            <a:r>
              <a:rPr lang="it-IT" sz="3200" b="1" dirty="0" err="1" smtClean="0">
                <a:solidFill>
                  <a:srgbClr val="000090"/>
                </a:solidFill>
              </a:rPr>
              <a:t>at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least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as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bright</a:t>
            </a:r>
            <a:r>
              <a:rPr lang="it-IT" sz="3200" b="1" dirty="0" smtClean="0">
                <a:solidFill>
                  <a:srgbClr val="000090"/>
                </a:solidFill>
              </a:rPr>
              <a:t>!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18" name="Connettore 1 17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Immagin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435" y="2658639"/>
            <a:ext cx="2525346" cy="2473277"/>
          </a:xfrm>
          <a:prstGeom prst="rect">
            <a:avLst/>
          </a:prstGeom>
        </p:spPr>
      </p:pic>
      <p:sp>
        <p:nvSpPr>
          <p:cNvPr id="22" name="CasellaDiTesto 21"/>
          <p:cNvSpPr txBox="1"/>
          <p:nvPr/>
        </p:nvSpPr>
        <p:spPr>
          <a:xfrm>
            <a:off x="2088718" y="5131916"/>
            <a:ext cx="1129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smtClean="0"/>
              <a:t>FITC IFN-</a:t>
            </a:r>
            <a:r>
              <a:rPr lang="it-IT" dirty="0" smtClean="0">
                <a:latin typeface="Symbol" charset="2"/>
                <a:cs typeface="Symbol" charset="2"/>
              </a:rPr>
              <a:t>g</a:t>
            </a:r>
            <a:endParaRPr lang="it-IT" dirty="0">
              <a:latin typeface="Symbol" charset="2"/>
              <a:cs typeface="Symbol" charset="2"/>
            </a:endParaRPr>
          </a:p>
        </p:txBody>
      </p:sp>
      <p:sp>
        <p:nvSpPr>
          <p:cNvPr id="23" name="CasellaDiTesto 22"/>
          <p:cNvSpPr txBox="1"/>
          <p:nvPr/>
        </p:nvSpPr>
        <p:spPr>
          <a:xfrm rot="16200000">
            <a:off x="152499" y="3617035"/>
            <a:ext cx="1640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Alexa</a:t>
            </a:r>
            <a:r>
              <a:rPr lang="it-IT" dirty="0" smtClean="0"/>
              <a:t> 594 CCR7</a:t>
            </a:r>
            <a:endParaRPr lang="it-IT" dirty="0"/>
          </a:p>
        </p:txBody>
      </p:sp>
      <p:sp>
        <p:nvSpPr>
          <p:cNvPr id="25" name="CasellaDiTesto 24"/>
          <p:cNvSpPr txBox="1"/>
          <p:nvPr/>
        </p:nvSpPr>
        <p:spPr>
          <a:xfrm>
            <a:off x="1262162" y="1663187"/>
            <a:ext cx="2704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 smtClean="0"/>
              <a:t>Overcompensation</a:t>
            </a:r>
            <a:r>
              <a:rPr lang="it-IT" sz="2400" dirty="0" smtClean="0"/>
              <a:t> of FITC </a:t>
            </a:r>
            <a:r>
              <a:rPr lang="it-IT" sz="2400" dirty="0" err="1" smtClean="0"/>
              <a:t>into</a:t>
            </a:r>
            <a:r>
              <a:rPr lang="it-IT" sz="2400" dirty="0" smtClean="0"/>
              <a:t> Alx594 </a:t>
            </a:r>
            <a:endParaRPr lang="it-IT" sz="2400" dirty="0">
              <a:latin typeface="Symbol" charset="2"/>
              <a:cs typeface="Symbol" charset="2"/>
            </a:endParaRPr>
          </a:p>
        </p:txBody>
      </p:sp>
      <p:cxnSp>
        <p:nvCxnSpPr>
          <p:cNvPr id="28" name="Connettore 1 27"/>
          <p:cNvCxnSpPr/>
          <p:nvPr/>
        </p:nvCxnSpPr>
        <p:spPr>
          <a:xfrm>
            <a:off x="1687310" y="4355402"/>
            <a:ext cx="1243459" cy="0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1 29"/>
          <p:cNvCxnSpPr/>
          <p:nvPr/>
        </p:nvCxnSpPr>
        <p:spPr>
          <a:xfrm>
            <a:off x="2765100" y="4245109"/>
            <a:ext cx="452803" cy="572199"/>
          </a:xfrm>
          <a:prstGeom prst="line">
            <a:avLst/>
          </a:prstGeom>
          <a:ln w="28575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uppo 1"/>
          <p:cNvGrpSpPr/>
          <p:nvPr/>
        </p:nvGrpSpPr>
        <p:grpSpPr>
          <a:xfrm>
            <a:off x="4534202" y="1663187"/>
            <a:ext cx="3131387" cy="4376722"/>
            <a:chOff x="4534202" y="1663187"/>
            <a:chExt cx="3131387" cy="4376722"/>
          </a:xfrm>
        </p:grpSpPr>
        <p:pic>
          <p:nvPicPr>
            <p:cNvPr id="24" name="Immagin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79283" y="2658639"/>
              <a:ext cx="2398199" cy="2340708"/>
            </a:xfrm>
            <a:prstGeom prst="rect">
              <a:avLst/>
            </a:prstGeom>
          </p:spPr>
        </p:pic>
        <p:sp>
          <p:nvSpPr>
            <p:cNvPr id="32" name="Rettangolo 31"/>
            <p:cNvSpPr>
              <a:spLocks noChangeAspect="1"/>
            </p:cNvSpPr>
            <p:nvPr/>
          </p:nvSpPr>
          <p:spPr>
            <a:xfrm>
              <a:off x="5165813" y="5440328"/>
              <a:ext cx="180000" cy="17305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3" name="CasellaDiTesto 32"/>
            <p:cNvSpPr txBox="1"/>
            <p:nvPr/>
          </p:nvSpPr>
          <p:spPr>
            <a:xfrm>
              <a:off x="5428934" y="5316582"/>
              <a:ext cx="1460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err="1" smtClean="0"/>
                <a:t>Comp</a:t>
              </a:r>
              <a:r>
                <a:rPr lang="it-IT" dirty="0" smtClean="0"/>
                <a:t> control</a:t>
              </a:r>
              <a:endParaRPr lang="it-IT" dirty="0"/>
            </a:p>
          </p:txBody>
        </p:sp>
        <p:sp>
          <p:nvSpPr>
            <p:cNvPr id="34" name="Rettangolo 33"/>
            <p:cNvSpPr>
              <a:spLocks noChangeAspect="1"/>
            </p:cNvSpPr>
            <p:nvPr/>
          </p:nvSpPr>
          <p:spPr>
            <a:xfrm>
              <a:off x="5165813" y="5800836"/>
              <a:ext cx="180000" cy="173056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35" name="CasellaDiTesto 34"/>
            <p:cNvSpPr txBox="1"/>
            <p:nvPr/>
          </p:nvSpPr>
          <p:spPr>
            <a:xfrm>
              <a:off x="5428934" y="5670577"/>
              <a:ext cx="19029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dirty="0" smtClean="0"/>
                <a:t>Test </a:t>
              </a:r>
              <a:r>
                <a:rPr lang="it-IT" dirty="0" err="1" smtClean="0"/>
                <a:t>staining</a:t>
              </a:r>
              <a:r>
                <a:rPr lang="it-IT" dirty="0" smtClean="0"/>
                <a:t>: </a:t>
              </a:r>
              <a:r>
                <a:rPr lang="it-IT" dirty="0" err="1" smtClean="0"/>
                <a:t>IFNg</a:t>
              </a:r>
              <a:endParaRPr lang="it-IT" dirty="0"/>
            </a:p>
          </p:txBody>
        </p:sp>
        <p:sp>
          <p:nvSpPr>
            <p:cNvPr id="36" name="CasellaDiTesto 35"/>
            <p:cNvSpPr txBox="1"/>
            <p:nvPr/>
          </p:nvSpPr>
          <p:spPr>
            <a:xfrm>
              <a:off x="4534202" y="1663187"/>
              <a:ext cx="313138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2400" dirty="0" err="1" smtClean="0"/>
                <a:t>Comp</a:t>
              </a:r>
              <a:r>
                <a:rPr lang="it-IT" sz="2400" dirty="0" smtClean="0"/>
                <a:t> control </a:t>
              </a:r>
              <a:r>
                <a:rPr lang="it-IT" sz="2400" dirty="0" err="1" smtClean="0"/>
                <a:t>is</a:t>
              </a:r>
              <a:r>
                <a:rPr lang="it-IT" sz="2400" dirty="0" smtClean="0"/>
                <a:t> </a:t>
              </a:r>
              <a:r>
                <a:rPr lang="it-IT" sz="2400" dirty="0" err="1" smtClean="0"/>
                <a:t>not</a:t>
              </a:r>
              <a:r>
                <a:rPr lang="it-IT" sz="2400" dirty="0" smtClean="0"/>
                <a:t> </a:t>
              </a:r>
              <a:r>
                <a:rPr lang="it-IT" sz="2400" dirty="0" err="1" smtClean="0"/>
                <a:t>as</a:t>
              </a:r>
              <a:r>
                <a:rPr lang="it-IT" sz="2400" dirty="0" smtClean="0"/>
                <a:t> </a:t>
              </a:r>
              <a:r>
                <a:rPr lang="it-IT" sz="2400" dirty="0" err="1" smtClean="0"/>
                <a:t>bright</a:t>
              </a:r>
              <a:r>
                <a:rPr lang="it-IT" sz="2400" dirty="0" smtClean="0"/>
                <a:t> </a:t>
              </a:r>
              <a:r>
                <a:rPr lang="it-IT" sz="2400" dirty="0" err="1" smtClean="0"/>
                <a:t>as</a:t>
              </a:r>
              <a:r>
                <a:rPr lang="it-IT" sz="2400" dirty="0" smtClean="0"/>
                <a:t> the test </a:t>
              </a:r>
              <a:r>
                <a:rPr lang="it-IT" sz="2400" dirty="0" err="1" smtClean="0"/>
                <a:t>stain</a:t>
              </a:r>
              <a:endParaRPr lang="it-IT" sz="2400" dirty="0">
                <a:latin typeface="Symbol" charset="2"/>
                <a:cs typeface="Symbol" charset="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209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smtClean="0">
                <a:solidFill>
                  <a:srgbClr val="000090"/>
                </a:solidFill>
              </a:rPr>
              <a:t>How to </a:t>
            </a:r>
            <a:r>
              <a:rPr lang="it-IT" sz="3200" b="1" dirty="0" err="1" smtClean="0">
                <a:solidFill>
                  <a:srgbClr val="000090"/>
                </a:solidFill>
              </a:rPr>
              <a:t>accomplish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Rule</a:t>
            </a:r>
            <a:r>
              <a:rPr lang="it-IT" sz="3200" b="1" dirty="0" smtClean="0">
                <a:solidFill>
                  <a:srgbClr val="000090"/>
                </a:solidFill>
              </a:rPr>
              <a:t> #1?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18" name="Connettore 1 17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18"/>
          <p:cNvSpPr txBox="1"/>
          <p:nvPr/>
        </p:nvSpPr>
        <p:spPr>
          <a:xfrm>
            <a:off x="301465" y="1295218"/>
            <a:ext cx="8204279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it-IT" sz="2600" dirty="0" err="1" smtClean="0">
                <a:solidFill>
                  <a:srgbClr val="000000"/>
                </a:solidFill>
              </a:rPr>
              <a:t>Get</a:t>
            </a:r>
            <a:r>
              <a:rPr lang="it-IT" sz="2600" dirty="0" smtClean="0">
                <a:solidFill>
                  <a:srgbClr val="000000"/>
                </a:solidFill>
              </a:rPr>
              <a:t> a </a:t>
            </a:r>
            <a:r>
              <a:rPr lang="it-IT" sz="2600" dirty="0" err="1" smtClean="0">
                <a:solidFill>
                  <a:srgbClr val="000000"/>
                </a:solidFill>
              </a:rPr>
              <a:t>brighter</a:t>
            </a:r>
            <a:r>
              <a:rPr lang="it-IT" sz="2600" dirty="0" smtClean="0">
                <a:solidFill>
                  <a:srgbClr val="000000"/>
                </a:solidFill>
              </a:rPr>
              <a:t> </a:t>
            </a:r>
            <a:r>
              <a:rPr lang="it-IT" sz="2600" dirty="0" err="1" smtClean="0">
                <a:solidFill>
                  <a:srgbClr val="000000"/>
                </a:solidFill>
              </a:rPr>
              <a:t>comp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smtClean="0">
                <a:solidFill>
                  <a:srgbClr val="000000"/>
                </a:solidFill>
              </a:rPr>
              <a:t>(</a:t>
            </a:r>
            <a:r>
              <a:rPr lang="it-IT" sz="2600" dirty="0" err="1" smtClean="0">
                <a:solidFill>
                  <a:srgbClr val="000000"/>
                </a:solidFill>
              </a:rPr>
              <a:t>stain</a:t>
            </a:r>
            <a:r>
              <a:rPr lang="it-IT" sz="2600" dirty="0" smtClean="0">
                <a:solidFill>
                  <a:srgbClr val="000000"/>
                </a:solidFill>
              </a:rPr>
              <a:t> with more Ab; use a </a:t>
            </a:r>
            <a:r>
              <a:rPr lang="it-IT" sz="2600" dirty="0" err="1" smtClean="0">
                <a:solidFill>
                  <a:srgbClr val="000000"/>
                </a:solidFill>
              </a:rPr>
              <a:t>different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smtClean="0">
                <a:solidFill>
                  <a:srgbClr val="000000"/>
                </a:solidFill>
              </a:rPr>
              <a:t>Ab, </a:t>
            </a:r>
            <a:r>
              <a:rPr lang="it-IT" sz="2600" dirty="0" err="1" smtClean="0">
                <a:solidFill>
                  <a:srgbClr val="000000"/>
                </a:solidFill>
              </a:rPr>
              <a:t>binding</a:t>
            </a:r>
            <a:r>
              <a:rPr lang="it-IT" sz="2600" dirty="0" smtClean="0">
                <a:solidFill>
                  <a:srgbClr val="000000"/>
                </a:solidFill>
              </a:rPr>
              <a:t> </a:t>
            </a:r>
            <a:r>
              <a:rPr lang="it-IT" sz="2600" dirty="0" err="1" smtClean="0">
                <a:solidFill>
                  <a:srgbClr val="000000"/>
                </a:solidFill>
              </a:rPr>
              <a:t>beads</a:t>
            </a:r>
            <a:r>
              <a:rPr lang="it-IT" sz="2600" dirty="0" smtClean="0">
                <a:solidFill>
                  <a:srgbClr val="000000"/>
                </a:solidFill>
              </a:rPr>
              <a:t> </a:t>
            </a:r>
            <a:r>
              <a:rPr lang="it-IT" sz="2600" dirty="0" err="1" smtClean="0">
                <a:solidFill>
                  <a:srgbClr val="000000"/>
                </a:solidFill>
              </a:rPr>
              <a:t>at</a:t>
            </a:r>
            <a:r>
              <a:rPr lang="it-IT" sz="2600" dirty="0" smtClean="0">
                <a:solidFill>
                  <a:srgbClr val="000000"/>
                </a:solidFill>
              </a:rPr>
              <a:t> </a:t>
            </a:r>
            <a:r>
              <a:rPr lang="it-IT" sz="2600" dirty="0" err="1" smtClean="0">
                <a:solidFill>
                  <a:srgbClr val="000000"/>
                </a:solidFill>
              </a:rPr>
              <a:t>higher</a:t>
            </a:r>
            <a:r>
              <a:rPr lang="it-IT" sz="2600" dirty="0" smtClean="0">
                <a:solidFill>
                  <a:srgbClr val="000000"/>
                </a:solidFill>
              </a:rPr>
              <a:t> </a:t>
            </a:r>
            <a:r>
              <a:rPr lang="it-IT" sz="2600" dirty="0" err="1" smtClean="0">
                <a:solidFill>
                  <a:srgbClr val="000000"/>
                </a:solidFill>
              </a:rPr>
              <a:t>efficiency</a:t>
            </a:r>
            <a:r>
              <a:rPr lang="it-IT" sz="2600" dirty="0" smtClean="0">
                <a:solidFill>
                  <a:srgbClr val="000000"/>
                </a:solidFill>
              </a:rPr>
              <a:t>, </a:t>
            </a:r>
            <a:r>
              <a:rPr lang="it-IT" sz="2600" dirty="0" err="1" smtClean="0">
                <a:solidFill>
                  <a:srgbClr val="000000"/>
                </a:solidFill>
              </a:rPr>
              <a:t>if</a:t>
            </a:r>
            <a:r>
              <a:rPr lang="it-IT" sz="2600" dirty="0" smtClean="0">
                <a:solidFill>
                  <a:srgbClr val="000000"/>
                </a:solidFill>
              </a:rPr>
              <a:t> the Ab </a:t>
            </a:r>
            <a:r>
              <a:rPr lang="it-IT" sz="2600" dirty="0" err="1" smtClean="0">
                <a:solidFill>
                  <a:srgbClr val="000000"/>
                </a:solidFill>
              </a:rPr>
              <a:t>is</a:t>
            </a:r>
            <a:r>
              <a:rPr lang="it-IT" sz="2600" dirty="0" smtClean="0">
                <a:solidFill>
                  <a:srgbClr val="000000"/>
                </a:solidFill>
              </a:rPr>
              <a:t> </a:t>
            </a:r>
            <a:r>
              <a:rPr lang="it-IT" sz="2600" dirty="0" err="1" smtClean="0">
                <a:solidFill>
                  <a:srgbClr val="000000"/>
                </a:solidFill>
              </a:rPr>
              <a:t>not</a:t>
            </a:r>
            <a:r>
              <a:rPr lang="it-IT" sz="2600" dirty="0" smtClean="0">
                <a:solidFill>
                  <a:srgbClr val="000000"/>
                </a:solidFill>
              </a:rPr>
              <a:t> a tandem)</a:t>
            </a:r>
          </a:p>
          <a:p>
            <a:endParaRPr lang="it-IT" sz="2600" dirty="0" smtClean="0">
              <a:solidFill>
                <a:srgbClr val="000000"/>
              </a:solidFill>
            </a:endParaRPr>
          </a:p>
          <a:p>
            <a:pPr marL="514350" indent="-514800">
              <a:buFont typeface="+mj-lt"/>
              <a:buAutoNum type="arabicPeriod"/>
            </a:pPr>
            <a:r>
              <a:rPr lang="it-IT" sz="2600" dirty="0" err="1" smtClean="0">
                <a:solidFill>
                  <a:srgbClr val="000000"/>
                </a:solidFill>
              </a:rPr>
              <a:t>Decrease</a:t>
            </a:r>
            <a:r>
              <a:rPr lang="it-IT" sz="2600" dirty="0" smtClean="0">
                <a:solidFill>
                  <a:srgbClr val="000000"/>
                </a:solidFill>
              </a:rPr>
              <a:t> Ab </a:t>
            </a:r>
            <a:r>
              <a:rPr lang="it-IT" sz="2600" dirty="0" err="1" smtClean="0">
                <a:solidFill>
                  <a:srgbClr val="000000"/>
                </a:solidFill>
              </a:rPr>
              <a:t>titer</a:t>
            </a:r>
            <a:r>
              <a:rPr lang="it-IT" sz="2600" dirty="0" smtClean="0">
                <a:solidFill>
                  <a:srgbClr val="000000"/>
                </a:solidFill>
              </a:rPr>
              <a:t> in </a:t>
            </a:r>
            <a:r>
              <a:rPr lang="it-IT" sz="2600" dirty="0" err="1" smtClean="0">
                <a:solidFill>
                  <a:srgbClr val="000000"/>
                </a:solidFill>
              </a:rPr>
              <a:t>staining</a:t>
            </a:r>
            <a:r>
              <a:rPr lang="it-IT" sz="2600" dirty="0" smtClean="0">
                <a:solidFill>
                  <a:srgbClr val="000000"/>
                </a:solidFill>
              </a:rPr>
              <a:t> (</a:t>
            </a:r>
            <a:r>
              <a:rPr lang="it-IT" sz="2600" dirty="0" err="1" smtClean="0">
                <a:solidFill>
                  <a:srgbClr val="000000"/>
                </a:solidFill>
              </a:rPr>
              <a:t>not</a:t>
            </a:r>
            <a:r>
              <a:rPr lang="it-IT" sz="2600" dirty="0" smtClean="0">
                <a:solidFill>
                  <a:srgbClr val="000000"/>
                </a:solidFill>
              </a:rPr>
              <a:t> in </a:t>
            </a:r>
            <a:r>
              <a:rPr lang="it-IT" sz="2600" dirty="0" err="1" smtClean="0">
                <a:solidFill>
                  <a:srgbClr val="000000"/>
                </a:solidFill>
              </a:rPr>
              <a:t>this</a:t>
            </a:r>
            <a:r>
              <a:rPr lang="it-IT" sz="2600" dirty="0" smtClean="0">
                <a:solidFill>
                  <a:srgbClr val="000000"/>
                </a:solidFill>
              </a:rPr>
              <a:t> case, </a:t>
            </a:r>
            <a:r>
              <a:rPr lang="it-IT" sz="2600" dirty="0" err="1" smtClean="0">
                <a:solidFill>
                  <a:srgbClr val="000000"/>
                </a:solidFill>
              </a:rPr>
              <a:t>you</a:t>
            </a:r>
            <a:r>
              <a:rPr lang="it-IT" sz="2600" dirty="0" smtClean="0">
                <a:solidFill>
                  <a:srgbClr val="000000"/>
                </a:solidFill>
              </a:rPr>
              <a:t> </a:t>
            </a:r>
            <a:r>
              <a:rPr lang="it-IT" sz="2600" dirty="0" err="1" smtClean="0">
                <a:solidFill>
                  <a:srgbClr val="000000"/>
                </a:solidFill>
              </a:rPr>
              <a:t>will</a:t>
            </a:r>
            <a:r>
              <a:rPr lang="it-IT" sz="2600" dirty="0">
                <a:solidFill>
                  <a:srgbClr val="000000"/>
                </a:solidFill>
              </a:rPr>
              <a:t> </a:t>
            </a:r>
            <a:r>
              <a:rPr lang="it-IT" sz="2600" dirty="0" err="1" smtClean="0">
                <a:solidFill>
                  <a:srgbClr val="000000"/>
                </a:solidFill>
              </a:rPr>
              <a:t>have</a:t>
            </a:r>
            <a:r>
              <a:rPr lang="it-IT" sz="2600" dirty="0" smtClean="0">
                <a:solidFill>
                  <a:srgbClr val="000000"/>
                </a:solidFill>
              </a:rPr>
              <a:t> </a:t>
            </a:r>
            <a:r>
              <a:rPr lang="it-IT" sz="2600" dirty="0" err="1" smtClean="0">
                <a:solidFill>
                  <a:srgbClr val="000000"/>
                </a:solidFill>
              </a:rPr>
              <a:t>loss</a:t>
            </a:r>
            <a:r>
              <a:rPr lang="it-IT" sz="2600" dirty="0" smtClean="0">
                <a:solidFill>
                  <a:srgbClr val="000000"/>
                </a:solidFill>
              </a:rPr>
              <a:t> of </a:t>
            </a:r>
            <a:r>
              <a:rPr lang="it-IT" sz="2600" dirty="0" err="1" smtClean="0">
                <a:solidFill>
                  <a:srgbClr val="000000"/>
                </a:solidFill>
              </a:rPr>
              <a:t>sensitivity</a:t>
            </a:r>
            <a:r>
              <a:rPr lang="it-IT" sz="2600" dirty="0" smtClean="0">
                <a:solidFill>
                  <a:srgbClr val="000000"/>
                </a:solidFill>
              </a:rPr>
              <a:t>)</a:t>
            </a:r>
          </a:p>
          <a:p>
            <a:endParaRPr lang="it-IT" sz="2600" dirty="0" smtClean="0">
              <a:solidFill>
                <a:srgbClr val="0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it-IT" sz="2600" dirty="0" smtClean="0">
                <a:solidFill>
                  <a:srgbClr val="000000"/>
                </a:solidFill>
              </a:rPr>
              <a:t>Use single-</a:t>
            </a:r>
            <a:r>
              <a:rPr lang="it-IT" sz="2600" dirty="0" err="1" smtClean="0">
                <a:solidFill>
                  <a:srgbClr val="000000"/>
                </a:solidFill>
              </a:rPr>
              <a:t>stained</a:t>
            </a:r>
            <a:r>
              <a:rPr lang="it-IT" sz="2600" dirty="0" smtClean="0">
                <a:solidFill>
                  <a:srgbClr val="000000"/>
                </a:solidFill>
              </a:rPr>
              <a:t> </a:t>
            </a:r>
            <a:r>
              <a:rPr lang="it-IT" sz="2600" dirty="0" err="1" smtClean="0">
                <a:solidFill>
                  <a:srgbClr val="000000"/>
                </a:solidFill>
              </a:rPr>
              <a:t>cells</a:t>
            </a:r>
            <a:endParaRPr lang="it-IT" sz="2600" dirty="0" smtClean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248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ttore 1 5"/>
          <p:cNvCxnSpPr/>
          <p:nvPr/>
        </p:nvCxnSpPr>
        <p:spPr>
          <a:xfrm flipV="1">
            <a:off x="0" y="1501270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/>
          <p:cNvSpPr txBox="1"/>
          <p:nvPr/>
        </p:nvSpPr>
        <p:spPr>
          <a:xfrm>
            <a:off x="845079" y="174306"/>
            <a:ext cx="7458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Rule</a:t>
            </a:r>
            <a:r>
              <a:rPr lang="it-IT" sz="3200" b="1" dirty="0" smtClean="0">
                <a:solidFill>
                  <a:srgbClr val="000090"/>
                </a:solidFill>
              </a:rPr>
              <a:t> #2: </a:t>
            </a:r>
            <a:r>
              <a:rPr lang="it-IT" sz="3200" b="1" dirty="0" err="1" smtClean="0">
                <a:solidFill>
                  <a:srgbClr val="000090"/>
                </a:solidFill>
              </a:rPr>
              <a:t>different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Abs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conjugated</a:t>
            </a:r>
            <a:r>
              <a:rPr lang="it-IT" sz="3200" b="1" dirty="0" smtClean="0">
                <a:solidFill>
                  <a:srgbClr val="000090"/>
                </a:solidFill>
              </a:rPr>
              <a:t> to the </a:t>
            </a:r>
            <a:r>
              <a:rPr lang="it-IT" sz="3200" b="1" dirty="0" err="1" smtClean="0">
                <a:solidFill>
                  <a:srgbClr val="000090"/>
                </a:solidFill>
              </a:rPr>
              <a:t>same</a:t>
            </a:r>
            <a:r>
              <a:rPr lang="it-IT" sz="3200" b="1" dirty="0" smtClean="0">
                <a:solidFill>
                  <a:srgbClr val="000090"/>
                </a:solidFill>
              </a:rPr>
              <a:t> FL </a:t>
            </a:r>
            <a:r>
              <a:rPr lang="it-IT" sz="3200" b="1" dirty="0" err="1" smtClean="0">
                <a:solidFill>
                  <a:srgbClr val="000090"/>
                </a:solidFill>
              </a:rPr>
              <a:t>require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different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compensation</a:t>
            </a:r>
            <a:endParaRPr lang="it-IT" sz="3200" b="1" dirty="0">
              <a:solidFill>
                <a:srgbClr val="000090"/>
              </a:solidFill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296546" y="5206972"/>
            <a:ext cx="814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>
                <a:latin typeface="Arial"/>
                <a:cs typeface="Arial"/>
              </a:rPr>
              <a:t>Compensation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requirements</a:t>
            </a:r>
            <a:r>
              <a:rPr lang="it-IT" dirty="0" smtClean="0">
                <a:latin typeface="Arial"/>
                <a:cs typeface="Arial"/>
              </a:rPr>
              <a:t> can be </a:t>
            </a:r>
            <a:r>
              <a:rPr lang="it-IT" dirty="0" err="1" smtClean="0">
                <a:latin typeface="Arial"/>
                <a:cs typeface="Arial"/>
              </a:rPr>
              <a:t>different</a:t>
            </a:r>
            <a:r>
              <a:rPr lang="it-IT" dirty="0" smtClean="0">
                <a:latin typeface="Arial"/>
                <a:cs typeface="Arial"/>
              </a:rPr>
              <a:t> from </a:t>
            </a:r>
            <a:r>
              <a:rPr lang="it-IT" dirty="0" err="1" smtClean="0">
                <a:latin typeface="Arial"/>
                <a:cs typeface="Arial"/>
              </a:rPr>
              <a:t>lot</a:t>
            </a:r>
            <a:r>
              <a:rPr lang="it-IT" dirty="0" smtClean="0">
                <a:latin typeface="Arial"/>
                <a:cs typeface="Arial"/>
              </a:rPr>
              <a:t> to </a:t>
            </a:r>
            <a:r>
              <a:rPr lang="it-IT" dirty="0" err="1" smtClean="0">
                <a:latin typeface="Arial"/>
                <a:cs typeface="Arial"/>
              </a:rPr>
              <a:t>lot</a:t>
            </a:r>
            <a:r>
              <a:rPr lang="it-IT" dirty="0" smtClean="0">
                <a:latin typeface="Arial"/>
                <a:cs typeface="Arial"/>
              </a:rPr>
              <a:t> of the </a:t>
            </a:r>
            <a:r>
              <a:rPr lang="it-IT" dirty="0" err="1" smtClean="0">
                <a:latin typeface="Arial"/>
                <a:cs typeface="Arial"/>
              </a:rPr>
              <a:t>same</a:t>
            </a:r>
            <a:r>
              <a:rPr lang="it-IT" dirty="0" smtClean="0">
                <a:latin typeface="Arial"/>
                <a:cs typeface="Arial"/>
              </a:rPr>
              <a:t> Ab</a:t>
            </a:r>
            <a:endParaRPr lang="it-IT" dirty="0">
              <a:latin typeface="Arial"/>
              <a:cs typeface="Arial"/>
            </a:endParaRPr>
          </a:p>
        </p:txBody>
      </p:sp>
      <p:grpSp>
        <p:nvGrpSpPr>
          <p:cNvPr id="2" name="Gruppo 1"/>
          <p:cNvGrpSpPr>
            <a:grpSpLocks noChangeAspect="1"/>
          </p:cNvGrpSpPr>
          <p:nvPr/>
        </p:nvGrpSpPr>
        <p:grpSpPr>
          <a:xfrm>
            <a:off x="185377" y="2194761"/>
            <a:ext cx="8592011" cy="2596868"/>
            <a:chOff x="638152" y="2515224"/>
            <a:chExt cx="6471867" cy="1956072"/>
          </a:xfrm>
        </p:grpSpPr>
        <p:pic>
          <p:nvPicPr>
            <p:cNvPr id="16" name="Immagine 1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4774" y="2838450"/>
              <a:ext cx="1479861" cy="1440000"/>
            </a:xfrm>
            <a:prstGeom prst="rect">
              <a:avLst/>
            </a:prstGeom>
          </p:spPr>
        </p:pic>
        <p:pic>
          <p:nvPicPr>
            <p:cNvPr id="21" name="Immagine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2600" y="2794000"/>
              <a:ext cx="1525542" cy="1484450"/>
            </a:xfrm>
            <a:prstGeom prst="rect">
              <a:avLst/>
            </a:prstGeom>
          </p:spPr>
        </p:pic>
        <p:pic>
          <p:nvPicPr>
            <p:cNvPr id="22" name="Immagine 2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79638" y="2838450"/>
              <a:ext cx="1330381" cy="1440000"/>
            </a:xfrm>
            <a:prstGeom prst="rect">
              <a:avLst/>
            </a:prstGeom>
          </p:spPr>
        </p:pic>
        <p:sp>
          <p:nvSpPr>
            <p:cNvPr id="23" name="Rettangolo 22"/>
            <p:cNvSpPr/>
            <p:nvPr/>
          </p:nvSpPr>
          <p:spPr>
            <a:xfrm>
              <a:off x="2455039" y="2806700"/>
              <a:ext cx="110183" cy="107950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000"/>
            </a:p>
          </p:txBody>
        </p:sp>
        <p:sp>
          <p:nvSpPr>
            <p:cNvPr id="24" name="Rettangolo 23"/>
            <p:cNvSpPr/>
            <p:nvPr/>
          </p:nvSpPr>
          <p:spPr>
            <a:xfrm>
              <a:off x="2455039" y="3403600"/>
              <a:ext cx="110183" cy="1079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000"/>
            </a:p>
          </p:txBody>
        </p:sp>
        <p:sp>
          <p:nvSpPr>
            <p:cNvPr id="25" name="CasellaDiTesto 24"/>
            <p:cNvSpPr txBox="1"/>
            <p:nvPr/>
          </p:nvSpPr>
          <p:spPr>
            <a:xfrm>
              <a:off x="2561914" y="2697261"/>
              <a:ext cx="1376282" cy="440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dirty="0" err="1" smtClean="0">
                  <a:latin typeface="Arial"/>
                  <a:cs typeface="Arial"/>
                </a:rPr>
                <a:t>Wrong</a:t>
              </a:r>
              <a:r>
                <a:rPr lang="it-IT" sz="1600" dirty="0" smtClean="0">
                  <a:latin typeface="Arial"/>
                  <a:cs typeface="Arial"/>
                </a:rPr>
                <a:t> </a:t>
              </a:r>
              <a:r>
                <a:rPr lang="it-IT" sz="1600" dirty="0" err="1" smtClean="0">
                  <a:latin typeface="Arial"/>
                  <a:cs typeface="Arial"/>
                </a:rPr>
                <a:t>comp</a:t>
              </a:r>
              <a:endParaRPr lang="it-IT" sz="1600" dirty="0" smtClean="0">
                <a:latin typeface="Arial"/>
                <a:cs typeface="Arial"/>
              </a:endParaRPr>
            </a:p>
            <a:p>
              <a:r>
                <a:rPr lang="it-IT" sz="1600" dirty="0" smtClean="0">
                  <a:latin typeface="Arial"/>
                  <a:cs typeface="Arial"/>
                </a:rPr>
                <a:t>13.2% </a:t>
              </a:r>
              <a:r>
                <a:rPr lang="it-IT" sz="1600" dirty="0" err="1" smtClean="0">
                  <a:latin typeface="Arial"/>
                  <a:cs typeface="Arial"/>
                </a:rPr>
                <a:t>subtraction</a:t>
              </a:r>
              <a:endParaRPr lang="it-IT" sz="1600" dirty="0">
                <a:latin typeface="Arial"/>
                <a:cs typeface="Arial"/>
              </a:endParaRPr>
            </a:p>
          </p:txBody>
        </p:sp>
        <p:sp>
          <p:nvSpPr>
            <p:cNvPr id="26" name="CasellaDiTesto 25"/>
            <p:cNvSpPr txBox="1"/>
            <p:nvPr/>
          </p:nvSpPr>
          <p:spPr>
            <a:xfrm>
              <a:off x="1315577" y="4216283"/>
              <a:ext cx="800479" cy="255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dirty="0" smtClean="0">
                  <a:latin typeface="Arial"/>
                  <a:cs typeface="Arial"/>
                </a:rPr>
                <a:t>PE-Cy5.5</a:t>
              </a:r>
              <a:endParaRPr lang="it-IT" sz="1600" dirty="0">
                <a:latin typeface="Arial"/>
                <a:cs typeface="Arial"/>
              </a:endParaRPr>
            </a:p>
          </p:txBody>
        </p:sp>
        <p:sp>
          <p:nvSpPr>
            <p:cNvPr id="27" name="CasellaDiTesto 26"/>
            <p:cNvSpPr txBox="1"/>
            <p:nvPr/>
          </p:nvSpPr>
          <p:spPr>
            <a:xfrm>
              <a:off x="2561914" y="3281690"/>
              <a:ext cx="1290326" cy="4404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dirty="0" err="1" smtClean="0">
                  <a:latin typeface="Arial"/>
                  <a:cs typeface="Arial"/>
                </a:rPr>
                <a:t>Correct</a:t>
              </a:r>
              <a:r>
                <a:rPr lang="it-IT" sz="1600" dirty="0" smtClean="0">
                  <a:latin typeface="Arial"/>
                  <a:cs typeface="Arial"/>
                </a:rPr>
                <a:t> </a:t>
              </a:r>
              <a:r>
                <a:rPr lang="it-IT" sz="1600" dirty="0" err="1" smtClean="0">
                  <a:latin typeface="Arial"/>
                  <a:cs typeface="Arial"/>
                </a:rPr>
                <a:t>comp</a:t>
              </a:r>
              <a:endParaRPr lang="it-IT" sz="1600" dirty="0" smtClean="0">
                <a:latin typeface="Arial"/>
                <a:cs typeface="Arial"/>
              </a:endParaRPr>
            </a:p>
            <a:p>
              <a:r>
                <a:rPr lang="it-IT" sz="1600" dirty="0" smtClean="0">
                  <a:latin typeface="Arial"/>
                  <a:cs typeface="Arial"/>
                </a:rPr>
                <a:t>3.4% </a:t>
              </a:r>
              <a:r>
                <a:rPr lang="it-IT" sz="1600" dirty="0" err="1" smtClean="0">
                  <a:latin typeface="Arial"/>
                  <a:cs typeface="Arial"/>
                </a:rPr>
                <a:t>subtraction</a:t>
              </a:r>
              <a:endParaRPr lang="it-IT" sz="1600" dirty="0">
                <a:latin typeface="Arial"/>
                <a:cs typeface="Arial"/>
              </a:endParaRPr>
            </a:p>
          </p:txBody>
        </p:sp>
        <p:sp>
          <p:nvSpPr>
            <p:cNvPr id="28" name="CasellaDiTesto 27"/>
            <p:cNvSpPr txBox="1"/>
            <p:nvPr/>
          </p:nvSpPr>
          <p:spPr>
            <a:xfrm rot="16200000">
              <a:off x="593023" y="3345943"/>
              <a:ext cx="345271" cy="255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dirty="0" smtClean="0">
                  <a:latin typeface="Arial"/>
                  <a:cs typeface="Arial"/>
                </a:rPr>
                <a:t>PE</a:t>
              </a:r>
              <a:endParaRPr lang="it-IT" sz="1600" dirty="0">
                <a:latin typeface="Arial"/>
                <a:cs typeface="Arial"/>
              </a:endParaRPr>
            </a:p>
          </p:txBody>
        </p:sp>
        <p:sp>
          <p:nvSpPr>
            <p:cNvPr id="29" name="Rettangolo 28"/>
            <p:cNvSpPr/>
            <p:nvPr/>
          </p:nvSpPr>
          <p:spPr>
            <a:xfrm>
              <a:off x="2455039" y="4000500"/>
              <a:ext cx="110183" cy="10795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sz="2000"/>
            </a:p>
          </p:txBody>
        </p:sp>
        <p:sp>
          <p:nvSpPr>
            <p:cNvPr id="30" name="CasellaDiTesto 29"/>
            <p:cNvSpPr txBox="1"/>
            <p:nvPr/>
          </p:nvSpPr>
          <p:spPr>
            <a:xfrm>
              <a:off x="2561914" y="3872240"/>
              <a:ext cx="1255913" cy="255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dirty="0" smtClean="0">
                  <a:latin typeface="Arial"/>
                  <a:cs typeface="Arial"/>
                </a:rPr>
                <a:t>Negative control</a:t>
              </a:r>
              <a:endParaRPr lang="it-IT" sz="1600" dirty="0">
                <a:latin typeface="Arial"/>
                <a:cs typeface="Arial"/>
              </a:endParaRPr>
            </a:p>
          </p:txBody>
        </p:sp>
        <p:sp>
          <p:nvSpPr>
            <p:cNvPr id="31" name="CasellaDiTesto 30"/>
            <p:cNvSpPr txBox="1"/>
            <p:nvPr/>
          </p:nvSpPr>
          <p:spPr>
            <a:xfrm>
              <a:off x="5338157" y="4216283"/>
              <a:ext cx="800479" cy="255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dirty="0" smtClean="0">
                  <a:latin typeface="Arial"/>
                  <a:cs typeface="Arial"/>
                </a:rPr>
                <a:t>PE-Cy5.5</a:t>
              </a:r>
              <a:endParaRPr lang="it-IT" sz="1600" dirty="0">
                <a:latin typeface="Arial"/>
                <a:cs typeface="Arial"/>
              </a:endParaRPr>
            </a:p>
          </p:txBody>
        </p:sp>
        <p:sp>
          <p:nvSpPr>
            <p:cNvPr id="32" name="CasellaDiTesto 31"/>
            <p:cNvSpPr txBox="1"/>
            <p:nvPr/>
          </p:nvSpPr>
          <p:spPr>
            <a:xfrm rot="16200000">
              <a:off x="4065150" y="3341023"/>
              <a:ext cx="345271" cy="255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dirty="0" smtClean="0">
                  <a:latin typeface="Arial"/>
                  <a:cs typeface="Arial"/>
                </a:rPr>
                <a:t>PE</a:t>
              </a:r>
              <a:endParaRPr lang="it-IT" sz="1600" dirty="0">
                <a:latin typeface="Arial"/>
                <a:cs typeface="Arial"/>
              </a:endParaRPr>
            </a:p>
          </p:txBody>
        </p:sp>
        <p:sp>
          <p:nvSpPr>
            <p:cNvPr id="33" name="CasellaDiTesto 32"/>
            <p:cNvSpPr txBox="1"/>
            <p:nvPr/>
          </p:nvSpPr>
          <p:spPr>
            <a:xfrm>
              <a:off x="4799504" y="2515224"/>
              <a:ext cx="631189" cy="255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i="1" dirty="0" err="1" smtClean="0">
                  <a:latin typeface="Arial"/>
                  <a:cs typeface="Arial"/>
                </a:rPr>
                <a:t>Wrong</a:t>
              </a:r>
              <a:endParaRPr lang="it-IT" sz="1600" i="1" dirty="0">
                <a:latin typeface="Arial"/>
                <a:cs typeface="Arial"/>
              </a:endParaRPr>
            </a:p>
          </p:txBody>
        </p:sp>
        <p:sp>
          <p:nvSpPr>
            <p:cNvPr id="34" name="CasellaDiTesto 33"/>
            <p:cNvSpPr txBox="1"/>
            <p:nvPr/>
          </p:nvSpPr>
          <p:spPr>
            <a:xfrm>
              <a:off x="6069504" y="2515224"/>
              <a:ext cx="682656" cy="25501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i="1" dirty="0" err="1" smtClean="0">
                  <a:latin typeface="Arial"/>
                  <a:cs typeface="Arial"/>
                </a:rPr>
                <a:t>Correct</a:t>
              </a:r>
              <a:endParaRPr lang="it-IT" sz="1600" i="1" dirty="0">
                <a:latin typeface="Arial"/>
                <a:cs typeface="Arial"/>
              </a:endParaRPr>
            </a:p>
          </p:txBody>
        </p:sp>
      </p:grpSp>
      <p:cxnSp>
        <p:nvCxnSpPr>
          <p:cNvPr id="35" name="Connettore 1 34"/>
          <p:cNvCxnSpPr/>
          <p:nvPr/>
        </p:nvCxnSpPr>
        <p:spPr>
          <a:xfrm>
            <a:off x="741801" y="3374163"/>
            <a:ext cx="1455299" cy="0"/>
          </a:xfrm>
          <a:prstGeom prst="line">
            <a:avLst/>
          </a:prstGeom>
          <a:ln w="28575" cmpd="sng">
            <a:solidFill>
              <a:schemeClr val="tx1">
                <a:lumMod val="65000"/>
                <a:lumOff val="35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/>
          <p:nvPr/>
        </p:nvCxnSpPr>
        <p:spPr>
          <a:xfrm>
            <a:off x="741801" y="2989458"/>
            <a:ext cx="1614049" cy="0"/>
          </a:xfrm>
          <a:prstGeom prst="line">
            <a:avLst/>
          </a:prstGeom>
          <a:ln w="28575" cmpd="sng">
            <a:solidFill>
              <a:schemeClr val="tx1">
                <a:lumMod val="65000"/>
                <a:lumOff val="35000"/>
              </a:schemeClr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33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ttore 1 5"/>
          <p:cNvCxnSpPr/>
          <p:nvPr/>
        </p:nvCxnSpPr>
        <p:spPr>
          <a:xfrm flipV="1">
            <a:off x="0" y="1190120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/>
          <p:cNvSpPr txBox="1"/>
          <p:nvPr/>
        </p:nvSpPr>
        <p:spPr>
          <a:xfrm>
            <a:off x="845079" y="28256"/>
            <a:ext cx="745839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Changing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compensation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affects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distribution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in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other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channels</a:t>
            </a:r>
            <a:endParaRPr lang="it-IT" sz="32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50" y="1294762"/>
            <a:ext cx="5314950" cy="5348378"/>
          </a:xfrm>
          <a:prstGeom prst="rect">
            <a:avLst/>
          </a:prstGeom>
        </p:spPr>
      </p:pic>
      <p:sp>
        <p:nvSpPr>
          <p:cNvPr id="35" name="CasellaDiTesto 34"/>
          <p:cNvSpPr txBox="1"/>
          <p:nvPr/>
        </p:nvSpPr>
        <p:spPr>
          <a:xfrm>
            <a:off x="157262" y="4063487"/>
            <a:ext cx="48719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FITC (l 525) and </a:t>
            </a:r>
            <a:r>
              <a:rPr lang="it-IT" sz="2400" dirty="0" err="1" smtClean="0">
                <a:solidFill>
                  <a:srgbClr val="0000FF"/>
                </a:solidFill>
                <a:latin typeface="Arial"/>
                <a:cs typeface="Arial"/>
              </a:rPr>
              <a:t>PerCP</a:t>
            </a:r>
            <a:r>
              <a:rPr lang="it-IT" sz="240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(l 670) are </a:t>
            </a:r>
            <a:r>
              <a:rPr lang="it-IT" sz="2400" dirty="0" err="1" smtClean="0">
                <a:solidFill>
                  <a:srgbClr val="0000FF"/>
                </a:solidFill>
                <a:latin typeface="Arial"/>
                <a:cs typeface="Arial"/>
              </a:rPr>
              <a:t>distant</a:t>
            </a:r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FF"/>
                </a:solidFill>
                <a:latin typeface="Arial"/>
                <a:cs typeface="Arial"/>
              </a:rPr>
              <a:t>enough</a:t>
            </a:r>
            <a:endParaRPr lang="it-IT" sz="2400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endParaRPr lang="it-IT" sz="2400" dirty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it-IT" sz="2400" dirty="0" err="1" smtClean="0">
                <a:solidFill>
                  <a:srgbClr val="0000FF"/>
                </a:solidFill>
                <a:latin typeface="Arial"/>
                <a:cs typeface="Arial"/>
              </a:rPr>
              <a:t>Possibly</a:t>
            </a:r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FF"/>
                </a:solidFill>
                <a:latin typeface="Arial"/>
                <a:cs typeface="Arial"/>
              </a:rPr>
              <a:t>wrong</a:t>
            </a:r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FF"/>
                </a:solidFill>
                <a:latin typeface="Arial"/>
                <a:cs typeface="Arial"/>
              </a:rPr>
              <a:t>comp</a:t>
            </a:r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FF"/>
                </a:solidFill>
                <a:latin typeface="Arial"/>
                <a:cs typeface="Arial"/>
              </a:rPr>
              <a:t>between</a:t>
            </a:r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400" dirty="0" err="1" smtClean="0">
                <a:solidFill>
                  <a:srgbClr val="0000FF"/>
                </a:solidFill>
                <a:latin typeface="Arial"/>
                <a:cs typeface="Arial"/>
              </a:rPr>
              <a:t>PerCP</a:t>
            </a:r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400" dirty="0">
                <a:solidFill>
                  <a:srgbClr val="0000FF"/>
                </a:solidFill>
                <a:latin typeface="Arial"/>
                <a:cs typeface="Arial"/>
              </a:rPr>
              <a:t>(l 670) </a:t>
            </a:r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and PE-</a:t>
            </a:r>
            <a:r>
              <a:rPr lang="it-IT" sz="2400" dirty="0" err="1" smtClean="0">
                <a:solidFill>
                  <a:srgbClr val="0000FF"/>
                </a:solidFill>
                <a:latin typeface="Arial"/>
                <a:cs typeface="Arial"/>
              </a:rPr>
              <a:t>TxR</a:t>
            </a:r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 (</a:t>
            </a:r>
            <a:r>
              <a:rPr lang="it-IT" sz="2400" dirty="0">
                <a:solidFill>
                  <a:srgbClr val="0000FF"/>
                </a:solidFill>
                <a:latin typeface="Arial"/>
                <a:cs typeface="Arial"/>
              </a:rPr>
              <a:t>l </a:t>
            </a:r>
            <a:r>
              <a:rPr lang="it-IT" sz="2400" dirty="0" smtClean="0">
                <a:solidFill>
                  <a:srgbClr val="0000FF"/>
                </a:solidFill>
                <a:latin typeface="Arial"/>
                <a:cs typeface="Arial"/>
              </a:rPr>
              <a:t>610)</a:t>
            </a:r>
            <a:endParaRPr lang="it-IT" sz="2400" dirty="0">
              <a:solidFill>
                <a:srgbClr val="0000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7689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73128" y="174306"/>
            <a:ext cx="801728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smtClean="0">
                <a:solidFill>
                  <a:srgbClr val="000090"/>
                </a:solidFill>
              </a:rPr>
              <a:t>How to compensate in </a:t>
            </a:r>
            <a:r>
              <a:rPr lang="it-IT" sz="3200" b="1" dirty="0" err="1" smtClean="0">
                <a:solidFill>
                  <a:srgbClr val="000090"/>
                </a:solidFill>
              </a:rPr>
              <a:t>FACSDiva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/>
          <p:cNvSpPr txBox="1"/>
          <p:nvPr/>
        </p:nvSpPr>
        <p:spPr>
          <a:xfrm>
            <a:off x="327515" y="1132397"/>
            <a:ext cx="826289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it-IT" sz="2000" dirty="0" err="1" smtClean="0"/>
              <a:t>Choose</a:t>
            </a:r>
            <a:r>
              <a:rPr lang="it-IT" sz="2000" dirty="0" smtClean="0"/>
              <a:t> Experiment </a:t>
            </a:r>
            <a:r>
              <a:rPr lang="it-IT" sz="2000" dirty="0" smtClean="0">
                <a:sym typeface="Wingdings"/>
              </a:rPr>
              <a:t> </a:t>
            </a:r>
            <a:r>
              <a:rPr lang="it-IT" sz="2000" dirty="0" err="1" smtClean="0">
                <a:sym typeface="Wingdings"/>
              </a:rPr>
              <a:t>Compensation</a:t>
            </a:r>
            <a:r>
              <a:rPr lang="it-IT" sz="2000" dirty="0" smtClean="0">
                <a:sym typeface="Wingdings"/>
              </a:rPr>
              <a:t> setup  Create </a:t>
            </a:r>
            <a:r>
              <a:rPr lang="it-IT" sz="2000" dirty="0" err="1" smtClean="0">
                <a:sym typeface="Wingdings"/>
              </a:rPr>
              <a:t>compensation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controls</a:t>
            </a:r>
            <a:endParaRPr lang="it-IT" sz="2000" dirty="0" smtClean="0">
              <a:sym typeface="Wingdings"/>
            </a:endParaRPr>
          </a:p>
          <a:p>
            <a:pPr marL="342900" indent="-342900">
              <a:buFont typeface="Arial"/>
              <a:buChar char="•"/>
            </a:pPr>
            <a:endParaRPr lang="it-IT" sz="2000" dirty="0">
              <a:sym typeface="Wingdings"/>
            </a:endParaRPr>
          </a:p>
          <a:p>
            <a:pPr marL="342900" indent="-342900">
              <a:buFont typeface="Arial"/>
              <a:buChar char="•"/>
            </a:pPr>
            <a:endParaRPr lang="it-IT" sz="2000" dirty="0" smtClean="0">
              <a:sym typeface="Wingdings"/>
            </a:endParaRPr>
          </a:p>
          <a:p>
            <a:pPr marL="342900" indent="-342900">
              <a:buFont typeface="Arial"/>
              <a:buChar char="•"/>
            </a:pPr>
            <a:endParaRPr lang="it-IT" sz="2000" dirty="0">
              <a:sym typeface="Wingdings"/>
            </a:endParaRPr>
          </a:p>
          <a:p>
            <a:pPr marL="342900" indent="-342900">
              <a:buFont typeface="Arial"/>
              <a:buChar char="•"/>
            </a:pPr>
            <a:endParaRPr lang="it-IT" sz="2000" dirty="0" smtClean="0">
              <a:sym typeface="Wingdings"/>
            </a:endParaRPr>
          </a:p>
          <a:p>
            <a:pPr marL="342900" indent="-342900">
              <a:buFont typeface="Arial"/>
              <a:buChar char="•"/>
            </a:pPr>
            <a:endParaRPr lang="it-IT" sz="2000" dirty="0">
              <a:sym typeface="Wingdings"/>
            </a:endParaRPr>
          </a:p>
          <a:p>
            <a:pPr marL="342900" indent="-342900">
              <a:buFont typeface="Arial"/>
              <a:buChar char="•"/>
            </a:pPr>
            <a:endParaRPr lang="it-IT" sz="2000" dirty="0" smtClean="0">
              <a:sym typeface="Wingdings"/>
            </a:endParaRPr>
          </a:p>
          <a:p>
            <a:pPr marL="342900" indent="-342900">
              <a:buFont typeface="Arial"/>
              <a:buChar char="•"/>
            </a:pPr>
            <a:endParaRPr lang="it-IT" sz="2000" dirty="0">
              <a:sym typeface="Wingdings"/>
            </a:endParaRPr>
          </a:p>
          <a:p>
            <a:pPr marL="342900" indent="-342900">
              <a:buFont typeface="Arial"/>
              <a:buChar char="•"/>
            </a:pPr>
            <a:endParaRPr lang="it-IT" sz="2000" dirty="0" smtClean="0">
              <a:sym typeface="Wingdings"/>
            </a:endParaRPr>
          </a:p>
          <a:p>
            <a:pPr marL="342900" indent="-342900">
              <a:buFont typeface="Arial"/>
              <a:buChar char="•"/>
            </a:pPr>
            <a:r>
              <a:rPr lang="it-IT" sz="2000" dirty="0" err="1" smtClean="0">
                <a:sym typeface="Wingdings"/>
              </a:rPr>
              <a:t>Run</a:t>
            </a:r>
            <a:r>
              <a:rPr lang="it-IT" sz="2000" dirty="0" smtClean="0">
                <a:sym typeface="Wingdings"/>
              </a:rPr>
              <a:t> single-</a:t>
            </a:r>
            <a:r>
              <a:rPr lang="it-IT" sz="2000" dirty="0" err="1" smtClean="0">
                <a:sym typeface="Wingdings"/>
              </a:rPr>
              <a:t>stained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controls</a:t>
            </a:r>
            <a:r>
              <a:rPr lang="it-IT" sz="2000" dirty="0" smtClean="0">
                <a:sym typeface="Wingdings"/>
              </a:rPr>
              <a:t>, </a:t>
            </a:r>
            <a:r>
              <a:rPr lang="it-IT" sz="2000" dirty="0" err="1" smtClean="0">
                <a:sym typeface="Wingdings"/>
              </a:rPr>
              <a:t>including</a:t>
            </a:r>
            <a:r>
              <a:rPr lang="it-IT" sz="2000" dirty="0" smtClean="0">
                <a:sym typeface="Wingdings"/>
              </a:rPr>
              <a:t> negative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 smtClean="0">
                <a:sym typeface="Wingdings"/>
              </a:rPr>
              <a:t>Select positive and negative </a:t>
            </a:r>
            <a:r>
              <a:rPr lang="it-IT" sz="2000" dirty="0" err="1" smtClean="0">
                <a:sym typeface="Wingdings"/>
              </a:rPr>
              <a:t>signal</a:t>
            </a:r>
            <a:r>
              <a:rPr lang="it-IT" sz="2000" dirty="0" smtClean="0">
                <a:sym typeface="Wingdings"/>
              </a:rPr>
              <a:t> from </a:t>
            </a:r>
            <a:r>
              <a:rPr lang="it-IT" sz="2000" dirty="0" err="1" smtClean="0">
                <a:sym typeface="Wingdings"/>
              </a:rPr>
              <a:t>each</a:t>
            </a:r>
            <a:r>
              <a:rPr lang="it-IT" sz="2000" dirty="0" smtClean="0">
                <a:sym typeface="Wingdings"/>
              </a:rPr>
              <a:t> control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 smtClean="0">
                <a:sym typeface="Wingdings"/>
              </a:rPr>
              <a:t>For </a:t>
            </a:r>
            <a:r>
              <a:rPr lang="it-IT" sz="2000" dirty="0" err="1" smtClean="0">
                <a:sym typeface="Wingdings"/>
              </a:rPr>
              <a:t>Comp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tubes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containing</a:t>
            </a:r>
            <a:r>
              <a:rPr lang="it-IT" sz="2000" dirty="0" smtClean="0">
                <a:sym typeface="Wingdings"/>
              </a:rPr>
              <a:t> </a:t>
            </a:r>
            <a:r>
              <a:rPr lang="it-IT" sz="2000" dirty="0" err="1" smtClean="0">
                <a:sym typeface="Wingdings"/>
              </a:rPr>
              <a:t>both</a:t>
            </a:r>
            <a:r>
              <a:rPr lang="it-IT" sz="2000" dirty="0" smtClean="0">
                <a:sym typeface="Wingdings"/>
              </a:rPr>
              <a:t> positive and negative, </a:t>
            </a:r>
            <a:r>
              <a:rPr lang="it-IT" sz="2000" dirty="0" err="1" smtClean="0">
                <a:sym typeface="Wingdings"/>
              </a:rPr>
              <a:t>draw</a:t>
            </a:r>
            <a:r>
              <a:rPr lang="it-IT" sz="2000" dirty="0" smtClean="0">
                <a:sym typeface="Wingdings"/>
              </a:rPr>
              <a:t> an </a:t>
            </a:r>
            <a:r>
              <a:rPr lang="it-IT" sz="2000" dirty="0" err="1" smtClean="0">
                <a:sym typeface="Wingdings"/>
              </a:rPr>
              <a:t>additional</a:t>
            </a:r>
            <a:r>
              <a:rPr lang="it-IT" sz="2000" dirty="0" smtClean="0">
                <a:sym typeface="Wingdings"/>
              </a:rPr>
              <a:t> gate to </a:t>
            </a:r>
            <a:r>
              <a:rPr lang="it-IT" sz="2000" dirty="0" err="1" smtClean="0">
                <a:sym typeface="Wingdings"/>
              </a:rPr>
              <a:t>select</a:t>
            </a:r>
            <a:r>
              <a:rPr lang="it-IT" sz="2000" dirty="0" smtClean="0">
                <a:sym typeface="Wingdings"/>
              </a:rPr>
              <a:t> the negative </a:t>
            </a:r>
            <a:r>
              <a:rPr lang="it-IT" sz="2000" dirty="0" err="1" smtClean="0">
                <a:sym typeface="Wingdings"/>
              </a:rPr>
              <a:t>population</a:t>
            </a:r>
            <a:endParaRPr lang="it-IT" sz="2000" dirty="0" smtClean="0">
              <a:sym typeface="Wingdings"/>
            </a:endParaRPr>
          </a:p>
          <a:p>
            <a:pPr marL="342900" indent="-342900">
              <a:buFont typeface="Arial"/>
              <a:buChar char="•"/>
            </a:pPr>
            <a:r>
              <a:rPr lang="it-IT" sz="2000" dirty="0" err="1" smtClean="0"/>
              <a:t>Choose</a:t>
            </a:r>
            <a:r>
              <a:rPr lang="it-IT" sz="2000" dirty="0" smtClean="0"/>
              <a:t> </a:t>
            </a:r>
            <a:r>
              <a:rPr lang="it-IT" sz="2000" dirty="0"/>
              <a:t>Experiment </a:t>
            </a:r>
            <a:r>
              <a:rPr lang="it-IT" sz="2000" dirty="0" smtClean="0">
                <a:sym typeface="Wingdings"/>
              </a:rPr>
              <a:t></a:t>
            </a:r>
            <a:r>
              <a:rPr lang="it-IT" sz="2000" dirty="0" smtClean="0"/>
              <a:t> </a:t>
            </a:r>
            <a:r>
              <a:rPr lang="it-IT" sz="2000" dirty="0" err="1"/>
              <a:t>Compensation</a:t>
            </a:r>
            <a:r>
              <a:rPr lang="it-IT" sz="2000" dirty="0"/>
              <a:t> Setup </a:t>
            </a:r>
            <a:r>
              <a:rPr lang="it-IT" sz="2000" dirty="0" smtClean="0">
                <a:sym typeface="Wingdings"/>
              </a:rPr>
              <a:t></a:t>
            </a:r>
            <a:r>
              <a:rPr lang="it-IT" sz="2000" dirty="0" smtClean="0"/>
              <a:t> </a:t>
            </a:r>
            <a:r>
              <a:rPr lang="it-IT" sz="2000" dirty="0" err="1"/>
              <a:t>Calculate</a:t>
            </a:r>
            <a:r>
              <a:rPr lang="it-IT" sz="2000" dirty="0"/>
              <a:t> </a:t>
            </a:r>
            <a:r>
              <a:rPr lang="it-IT" sz="2000" dirty="0" err="1"/>
              <a:t>Compensation</a:t>
            </a:r>
            <a:r>
              <a:rPr lang="it-IT" sz="2000" dirty="0"/>
              <a:t>. </a:t>
            </a:r>
            <a:endParaRPr lang="it-IT" sz="2000" dirty="0" smtClean="0"/>
          </a:p>
          <a:p>
            <a:pPr marL="342900" indent="-342900">
              <a:buFont typeface="Arial"/>
              <a:buChar char="•"/>
            </a:pPr>
            <a:r>
              <a:rPr lang="it-IT" sz="2000" dirty="0" err="1"/>
              <a:t>Enter</a:t>
            </a:r>
            <a:r>
              <a:rPr lang="it-IT" sz="2000" dirty="0"/>
              <a:t> a </a:t>
            </a:r>
            <a:r>
              <a:rPr lang="it-IT" sz="2000" dirty="0" err="1"/>
              <a:t>compensation</a:t>
            </a:r>
            <a:r>
              <a:rPr lang="it-IT" sz="2000" dirty="0"/>
              <a:t> setup </a:t>
            </a:r>
            <a:r>
              <a:rPr lang="it-IT" sz="2000" dirty="0" err="1"/>
              <a:t>name</a:t>
            </a:r>
            <a:r>
              <a:rPr lang="it-IT" sz="2000" dirty="0"/>
              <a:t>, click Link and Save, and click OK. </a:t>
            </a:r>
            <a:endParaRPr lang="it-IT" sz="2000" dirty="0" smtClean="0">
              <a:sym typeface="Wingdings"/>
            </a:endParaRPr>
          </a:p>
        </p:txBody>
      </p:sp>
      <p:pic>
        <p:nvPicPr>
          <p:cNvPr id="3" name="Immagine 2" descr="Schermata 2013-03-28 alle 2.39.5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486" y="1976011"/>
            <a:ext cx="3345867" cy="2140092"/>
          </a:xfrm>
          <a:prstGeom prst="rect">
            <a:avLst/>
          </a:prstGeom>
        </p:spPr>
      </p:pic>
      <p:pic>
        <p:nvPicPr>
          <p:cNvPr id="7" name="Immagine 6" descr="Schermata 2013-03-28 alle 2.44.17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762" y="1976011"/>
            <a:ext cx="4683647" cy="2185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917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76829" y="1301098"/>
            <a:ext cx="7458391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dirty="0" err="1" smtClean="0">
                <a:solidFill>
                  <a:srgbClr val="000090"/>
                </a:solidFill>
              </a:rPr>
              <a:t>Spreading</a:t>
            </a:r>
            <a:r>
              <a:rPr lang="it-IT" sz="5400" dirty="0" smtClean="0">
                <a:solidFill>
                  <a:srgbClr val="000090"/>
                </a:solidFill>
              </a:rPr>
              <a:t> </a:t>
            </a:r>
            <a:r>
              <a:rPr lang="it-IT" sz="5400" dirty="0" err="1" smtClean="0">
                <a:solidFill>
                  <a:srgbClr val="000090"/>
                </a:solidFill>
              </a:rPr>
              <a:t>error</a:t>
            </a:r>
            <a:r>
              <a:rPr lang="it-IT" sz="5400" dirty="0" smtClean="0">
                <a:solidFill>
                  <a:srgbClr val="000090"/>
                </a:solidFill>
              </a:rPr>
              <a:t> in the </a:t>
            </a:r>
            <a:r>
              <a:rPr lang="it-IT" sz="5400" dirty="0" err="1" smtClean="0">
                <a:solidFill>
                  <a:srgbClr val="000090"/>
                </a:solidFill>
              </a:rPr>
              <a:t>muticolor</a:t>
            </a:r>
            <a:r>
              <a:rPr lang="it-IT" sz="5400" dirty="0" smtClean="0">
                <a:solidFill>
                  <a:srgbClr val="000090"/>
                </a:solidFill>
              </a:rPr>
              <a:t> world</a:t>
            </a:r>
            <a:endParaRPr lang="it-IT" sz="5400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0523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</a:rPr>
              <a:t>Signal</a:t>
            </a:r>
            <a:r>
              <a:rPr lang="it-IT" sz="3200" b="1" dirty="0" smtClean="0">
                <a:solidFill>
                  <a:srgbClr val="000090"/>
                </a:solidFill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</a:rPr>
              <a:t>spreading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180" y="2631178"/>
            <a:ext cx="2589303" cy="2556000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402" y="2631178"/>
            <a:ext cx="2564095" cy="2531116"/>
          </a:xfrm>
          <a:prstGeom prst="rect">
            <a:avLst/>
          </a:prstGeom>
        </p:spPr>
      </p:pic>
      <p:sp>
        <p:nvSpPr>
          <p:cNvPr id="3" name="CasellaDiTesto 2"/>
          <p:cNvSpPr txBox="1"/>
          <p:nvPr/>
        </p:nvSpPr>
        <p:spPr>
          <a:xfrm>
            <a:off x="3826928" y="2181630"/>
            <a:ext cx="1485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Compensated</a:t>
            </a:r>
            <a:endParaRPr lang="it-IT" dirty="0"/>
          </a:p>
        </p:txBody>
      </p:sp>
      <p:sp>
        <p:nvSpPr>
          <p:cNvPr id="8" name="CasellaDiTesto 7"/>
          <p:cNvSpPr txBox="1"/>
          <p:nvPr/>
        </p:nvSpPr>
        <p:spPr>
          <a:xfrm>
            <a:off x="6145491" y="1974709"/>
            <a:ext cx="2507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 smtClean="0"/>
              <a:t>Compensated</a:t>
            </a:r>
            <a:r>
              <a:rPr lang="it-IT" dirty="0" smtClean="0"/>
              <a:t> with </a:t>
            </a:r>
            <a:r>
              <a:rPr lang="it-IT" dirty="0" err="1" smtClean="0"/>
              <a:t>transformation</a:t>
            </a:r>
            <a:endParaRPr lang="it-IT" dirty="0"/>
          </a:p>
        </p:txBody>
      </p:sp>
      <p:pic>
        <p:nvPicPr>
          <p:cNvPr id="10" name="Immagin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59" y="2619320"/>
            <a:ext cx="2589303" cy="2556000"/>
          </a:xfrm>
          <a:prstGeom prst="rect">
            <a:avLst/>
          </a:prstGeom>
        </p:spPr>
      </p:pic>
      <p:sp>
        <p:nvSpPr>
          <p:cNvPr id="11" name="CasellaDiTesto 10"/>
          <p:cNvSpPr txBox="1"/>
          <p:nvPr/>
        </p:nvSpPr>
        <p:spPr>
          <a:xfrm>
            <a:off x="830375" y="2181630"/>
            <a:ext cx="1754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 smtClean="0"/>
              <a:t>Uncompensated</a:t>
            </a:r>
            <a:endParaRPr lang="it-IT" dirty="0"/>
          </a:p>
        </p:txBody>
      </p:sp>
      <p:grpSp>
        <p:nvGrpSpPr>
          <p:cNvPr id="24" name="Gruppo 23"/>
          <p:cNvGrpSpPr/>
          <p:nvPr/>
        </p:nvGrpSpPr>
        <p:grpSpPr>
          <a:xfrm>
            <a:off x="618061" y="3234463"/>
            <a:ext cx="2237357" cy="1927831"/>
            <a:chOff x="770467" y="3234463"/>
            <a:chExt cx="2237357" cy="1927831"/>
          </a:xfrm>
        </p:grpSpPr>
        <p:cxnSp>
          <p:nvCxnSpPr>
            <p:cNvPr id="12" name="Connettore 1 11"/>
            <p:cNvCxnSpPr/>
            <p:nvPr/>
          </p:nvCxnSpPr>
          <p:spPr>
            <a:xfrm>
              <a:off x="770467" y="3639149"/>
              <a:ext cx="1636712" cy="0"/>
            </a:xfrm>
            <a:prstGeom prst="line">
              <a:avLst/>
            </a:prstGeom>
            <a:ln w="19050" cmpd="sng">
              <a:solidFill>
                <a:srgbClr val="0000FF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/>
          </p:nvCxnSpPr>
          <p:spPr>
            <a:xfrm flipH="1">
              <a:off x="2407179" y="3506857"/>
              <a:ext cx="14288" cy="1655437"/>
            </a:xfrm>
            <a:prstGeom prst="line">
              <a:avLst/>
            </a:prstGeom>
            <a:ln w="19050" cmpd="sng">
              <a:solidFill>
                <a:srgbClr val="FF0000"/>
              </a:solidFill>
              <a:prstDash val="soli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1 18"/>
            <p:cNvCxnSpPr/>
            <p:nvPr/>
          </p:nvCxnSpPr>
          <p:spPr>
            <a:xfrm>
              <a:off x="770467" y="3806366"/>
              <a:ext cx="1651000" cy="0"/>
            </a:xfrm>
            <a:prstGeom prst="line">
              <a:avLst/>
            </a:prstGeom>
            <a:ln w="19050" cmpd="sng">
              <a:solidFill>
                <a:srgbClr val="0000FF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asellaDiTesto 21"/>
            <p:cNvSpPr txBox="1"/>
            <p:nvPr/>
          </p:nvSpPr>
          <p:spPr>
            <a:xfrm>
              <a:off x="2407179" y="3686315"/>
              <a:ext cx="6006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dirty="0" smtClean="0"/>
                <a:t>1000</a:t>
              </a:r>
              <a:endParaRPr lang="it-IT" sz="1600" dirty="0"/>
            </a:p>
          </p:txBody>
        </p:sp>
        <p:sp>
          <p:nvSpPr>
            <p:cNvPr id="23" name="CasellaDiTesto 22"/>
            <p:cNvSpPr txBox="1"/>
            <p:nvPr/>
          </p:nvSpPr>
          <p:spPr>
            <a:xfrm>
              <a:off x="2407179" y="3234463"/>
              <a:ext cx="6006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1600" dirty="0" smtClean="0"/>
                <a:t>2000</a:t>
              </a:r>
              <a:endParaRPr lang="it-IT" sz="1600" dirty="0"/>
            </a:p>
          </p:txBody>
        </p:sp>
      </p:grpSp>
      <p:cxnSp>
        <p:nvCxnSpPr>
          <p:cNvPr id="25" name="Connettore 1 24"/>
          <p:cNvCxnSpPr/>
          <p:nvPr/>
        </p:nvCxnSpPr>
        <p:spPr>
          <a:xfrm>
            <a:off x="6299199" y="3775214"/>
            <a:ext cx="1727996" cy="0"/>
          </a:xfrm>
          <a:prstGeom prst="line">
            <a:avLst/>
          </a:prstGeom>
          <a:ln w="19050" cmpd="sng">
            <a:solidFill>
              <a:srgbClr val="0000F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ttore 1 25"/>
          <p:cNvCxnSpPr/>
          <p:nvPr/>
        </p:nvCxnSpPr>
        <p:spPr>
          <a:xfrm flipH="1">
            <a:off x="8030849" y="3439723"/>
            <a:ext cx="14288" cy="1655437"/>
          </a:xfrm>
          <a:prstGeom prst="line">
            <a:avLst/>
          </a:prstGeom>
          <a:ln w="19050" cmpd="sng">
            <a:solidFill>
              <a:srgbClr val="FF0000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1 26"/>
          <p:cNvCxnSpPr/>
          <p:nvPr/>
        </p:nvCxnSpPr>
        <p:spPr>
          <a:xfrm>
            <a:off x="6299199" y="4670566"/>
            <a:ext cx="1727996" cy="0"/>
          </a:xfrm>
          <a:prstGeom prst="line">
            <a:avLst/>
          </a:prstGeom>
          <a:ln w="19050" cmpd="sng">
            <a:solidFill>
              <a:srgbClr val="0000FF"/>
            </a:solidFill>
            <a:prstDash val="sys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asellaDiTesto 27"/>
          <p:cNvSpPr txBox="1"/>
          <p:nvPr/>
        </p:nvSpPr>
        <p:spPr>
          <a:xfrm>
            <a:off x="8457527" y="4423515"/>
            <a:ext cx="559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/>
              <a:t>-500</a:t>
            </a:r>
            <a:endParaRPr lang="it-IT" sz="1600" dirty="0"/>
          </a:p>
        </p:txBody>
      </p:sp>
      <p:sp>
        <p:nvSpPr>
          <p:cNvPr id="29" name="CasellaDiTesto 28"/>
          <p:cNvSpPr txBox="1"/>
          <p:nvPr/>
        </p:nvSpPr>
        <p:spPr>
          <a:xfrm>
            <a:off x="8457527" y="3524586"/>
            <a:ext cx="5988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dirty="0" smtClean="0"/>
              <a:t>+500</a:t>
            </a:r>
            <a:endParaRPr lang="it-IT" sz="1600" dirty="0"/>
          </a:p>
        </p:txBody>
      </p:sp>
      <p:sp>
        <p:nvSpPr>
          <p:cNvPr id="32" name="CasellaDiTesto 31"/>
          <p:cNvSpPr txBox="1"/>
          <p:nvPr/>
        </p:nvSpPr>
        <p:spPr>
          <a:xfrm>
            <a:off x="618062" y="5669897"/>
            <a:ext cx="83989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 err="1" smtClean="0"/>
              <a:t>What</a:t>
            </a:r>
            <a:r>
              <a:rPr lang="it-IT" sz="2400" dirty="0" smtClean="0"/>
              <a:t> </a:t>
            </a:r>
            <a:r>
              <a:rPr lang="it-IT" sz="2400" dirty="0" err="1" smtClean="0"/>
              <a:t>causes</a:t>
            </a:r>
            <a:r>
              <a:rPr lang="it-IT" sz="2400" dirty="0" smtClean="0"/>
              <a:t> </a:t>
            </a:r>
            <a:r>
              <a:rPr lang="it-IT" sz="2400" dirty="0" err="1" smtClean="0"/>
              <a:t>this</a:t>
            </a:r>
            <a:r>
              <a:rPr lang="it-IT" sz="2400" dirty="0" smtClean="0"/>
              <a:t> spread? </a:t>
            </a:r>
            <a:r>
              <a:rPr lang="it-IT" sz="2400" dirty="0" err="1" smtClean="0"/>
              <a:t>Photon</a:t>
            </a:r>
            <a:r>
              <a:rPr lang="it-IT" sz="2400" dirty="0" smtClean="0"/>
              <a:t> </a:t>
            </a:r>
            <a:r>
              <a:rPr lang="it-IT" sz="2400" dirty="0" err="1" smtClean="0"/>
              <a:t>counting</a:t>
            </a:r>
            <a:r>
              <a:rPr lang="it-IT" sz="2400" dirty="0" smtClean="0"/>
              <a:t> </a:t>
            </a:r>
            <a:r>
              <a:rPr lang="it-IT" sz="2400" dirty="0" err="1" smtClean="0"/>
              <a:t>statistics</a:t>
            </a:r>
            <a:r>
              <a:rPr lang="it-IT" sz="2400" dirty="0" smtClean="0"/>
              <a:t> </a:t>
            </a:r>
            <a:r>
              <a:rPr lang="it-IT" sz="2400" dirty="0" err="1" smtClean="0"/>
              <a:t>introduces</a:t>
            </a:r>
            <a:r>
              <a:rPr lang="it-IT" sz="2400" dirty="0" smtClean="0"/>
              <a:t> a </a:t>
            </a:r>
            <a:r>
              <a:rPr lang="it-IT" sz="2400" i="1" dirty="0" err="1" smtClean="0"/>
              <a:t>measurement</a:t>
            </a:r>
            <a:r>
              <a:rPr lang="it-IT" sz="2400" i="1" dirty="0" smtClean="0"/>
              <a:t> </a:t>
            </a:r>
            <a:r>
              <a:rPr lang="it-IT" sz="2400" i="1" dirty="0" err="1" smtClean="0"/>
              <a:t>error</a:t>
            </a:r>
            <a:endParaRPr lang="it-IT" sz="2400" i="1" dirty="0"/>
          </a:p>
        </p:txBody>
      </p:sp>
      <p:sp>
        <p:nvSpPr>
          <p:cNvPr id="30" name="CasellaDiTesto 29"/>
          <p:cNvSpPr txBox="1"/>
          <p:nvPr/>
        </p:nvSpPr>
        <p:spPr>
          <a:xfrm>
            <a:off x="5994400" y="6400199"/>
            <a:ext cx="298039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it-IT" sz="1600" i="1" dirty="0" smtClean="0"/>
              <a:t>Credit: Mario </a:t>
            </a:r>
            <a:r>
              <a:rPr lang="it-IT" sz="1600" i="1" dirty="0" err="1" smtClean="0"/>
              <a:t>Roederer</a:t>
            </a:r>
            <a:r>
              <a:rPr lang="it-IT" sz="1600" i="1" dirty="0" smtClean="0"/>
              <a:t>, VRC, NIH</a:t>
            </a:r>
            <a:endParaRPr lang="it-IT" sz="1600" i="1" dirty="0"/>
          </a:p>
        </p:txBody>
      </p:sp>
    </p:spTree>
    <p:extLst>
      <p:ext uri="{BB962C8B-B14F-4D97-AF65-F5344CB8AC3E}">
        <p14:creationId xmlns:p14="http://schemas.microsoft.com/office/powerpoint/2010/main" val="2004127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28" grpId="0"/>
      <p:bldP spid="29" grpId="0"/>
      <p:bldP spid="3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743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smtClean="0">
                <a:solidFill>
                  <a:srgbClr val="000090"/>
                </a:solidFill>
              </a:rPr>
              <a:t>“</a:t>
            </a:r>
            <a:r>
              <a:rPr lang="it-IT" sz="3200" b="1" dirty="0" err="1" smtClean="0">
                <a:solidFill>
                  <a:srgbClr val="000090"/>
                </a:solidFill>
              </a:rPr>
              <a:t>Errors</a:t>
            </a:r>
            <a:r>
              <a:rPr lang="it-IT" sz="3200" b="1" dirty="0" smtClean="0">
                <a:solidFill>
                  <a:srgbClr val="000090"/>
                </a:solidFill>
              </a:rPr>
              <a:t>” in </a:t>
            </a:r>
            <a:r>
              <a:rPr lang="it-IT" sz="3200" b="1" dirty="0" err="1" smtClean="0">
                <a:solidFill>
                  <a:srgbClr val="000090"/>
                </a:solidFill>
              </a:rPr>
              <a:t>compensation</a:t>
            </a:r>
            <a:endParaRPr lang="it-IT" sz="3200" b="1" dirty="0">
              <a:solidFill>
                <a:srgbClr val="000090"/>
              </a:solidFill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/>
          <p:cNvSpPr txBox="1"/>
          <p:nvPr/>
        </p:nvSpPr>
        <p:spPr>
          <a:xfrm>
            <a:off x="423328" y="1334963"/>
            <a:ext cx="84074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it-IT" sz="2400" dirty="0" err="1" smtClean="0"/>
              <a:t>Properly</a:t>
            </a:r>
            <a:r>
              <a:rPr lang="it-IT" sz="2400" dirty="0" smtClean="0"/>
              <a:t> </a:t>
            </a:r>
            <a:r>
              <a:rPr lang="it-IT" sz="2400" dirty="0" err="1" smtClean="0"/>
              <a:t>compensated</a:t>
            </a:r>
            <a:r>
              <a:rPr lang="it-IT" sz="2400" dirty="0" smtClean="0"/>
              <a:t> data </a:t>
            </a:r>
            <a:r>
              <a:rPr lang="it-IT" sz="2400" dirty="0" err="1" smtClean="0"/>
              <a:t>may</a:t>
            </a:r>
            <a:r>
              <a:rPr lang="it-IT" sz="2400" dirty="0" smtClean="0"/>
              <a:t> </a:t>
            </a:r>
            <a:r>
              <a:rPr lang="it-IT" sz="2400" dirty="0" err="1" smtClean="0"/>
              <a:t>not</a:t>
            </a:r>
            <a:r>
              <a:rPr lang="it-IT" sz="2400" dirty="0" smtClean="0"/>
              <a:t> </a:t>
            </a:r>
            <a:r>
              <a:rPr lang="it-IT" sz="2400" dirty="0" err="1" smtClean="0"/>
              <a:t>appear</a:t>
            </a:r>
            <a:r>
              <a:rPr lang="it-IT" sz="2400" dirty="0" smtClean="0"/>
              <a:t> </a:t>
            </a:r>
            <a:r>
              <a:rPr lang="it-IT" sz="2400" dirty="0" err="1" smtClean="0"/>
              <a:t>rectilinear</a:t>
            </a:r>
            <a:r>
              <a:rPr lang="it-IT" sz="2400" dirty="0" smtClean="0"/>
              <a:t> </a:t>
            </a:r>
            <a:r>
              <a:rPr lang="it-IT" sz="2400" dirty="0" err="1" smtClean="0"/>
              <a:t>because</a:t>
            </a:r>
            <a:r>
              <a:rPr lang="it-IT" sz="2400" dirty="0" smtClean="0"/>
              <a:t> of </a:t>
            </a:r>
            <a:r>
              <a:rPr lang="it-IT" sz="2400" b="1" dirty="0" err="1" smtClean="0">
                <a:solidFill>
                  <a:srgbClr val="0000FF"/>
                </a:solidFill>
              </a:rPr>
              <a:t>measurement</a:t>
            </a:r>
            <a:r>
              <a:rPr lang="it-IT" sz="2400" b="1" dirty="0" smtClean="0">
                <a:solidFill>
                  <a:srgbClr val="0000FF"/>
                </a:solidFill>
              </a:rPr>
              <a:t> </a:t>
            </a:r>
            <a:r>
              <a:rPr lang="it-IT" sz="2400" b="1" dirty="0" err="1" smtClean="0">
                <a:solidFill>
                  <a:srgbClr val="0000FF"/>
                </a:solidFill>
              </a:rPr>
              <a:t>errors</a:t>
            </a:r>
            <a:r>
              <a:rPr lang="it-IT" sz="2400" b="1" dirty="0" smtClean="0">
                <a:solidFill>
                  <a:srgbClr val="0000FF"/>
                </a:solidFill>
              </a:rPr>
              <a:t> </a:t>
            </a:r>
            <a:r>
              <a:rPr lang="it-IT" sz="2400" dirty="0" smtClean="0"/>
              <a:t>(are more </a:t>
            </a:r>
            <a:r>
              <a:rPr lang="it-IT" sz="2400" dirty="0" err="1" smtClean="0"/>
              <a:t>prominent</a:t>
            </a:r>
            <a:r>
              <a:rPr lang="it-IT" sz="2400" dirty="0" smtClean="0"/>
              <a:t> in case of </a:t>
            </a:r>
            <a:r>
              <a:rPr lang="it-IT" sz="2400" dirty="0" err="1" smtClean="0"/>
              <a:t>limited</a:t>
            </a:r>
            <a:r>
              <a:rPr lang="it-IT" sz="2400" dirty="0" smtClean="0"/>
              <a:t> </a:t>
            </a:r>
            <a:r>
              <a:rPr lang="it-IT" sz="2400" dirty="0" err="1" smtClean="0"/>
              <a:t>numbers</a:t>
            </a:r>
            <a:r>
              <a:rPr lang="it-IT" sz="2400" dirty="0" smtClean="0"/>
              <a:t> of </a:t>
            </a:r>
            <a:r>
              <a:rPr lang="it-IT" sz="2400" dirty="0" err="1" smtClean="0"/>
              <a:t>photons</a:t>
            </a:r>
            <a:r>
              <a:rPr lang="it-IT" sz="2400" dirty="0" smtClean="0"/>
              <a:t>, </a:t>
            </a:r>
            <a:r>
              <a:rPr lang="it-IT" sz="2400" b="1" dirty="0" smtClean="0">
                <a:solidFill>
                  <a:srgbClr val="0000FF"/>
                </a:solidFill>
              </a:rPr>
              <a:t>Cy7PE or Cy7APC </a:t>
            </a:r>
            <a:r>
              <a:rPr lang="it-IT" sz="2400" b="1" dirty="0" err="1" smtClean="0">
                <a:solidFill>
                  <a:srgbClr val="0000FF"/>
                </a:solidFill>
              </a:rPr>
              <a:t>dyes</a:t>
            </a:r>
            <a:r>
              <a:rPr lang="it-IT" sz="2400" dirty="0" smtClean="0"/>
              <a:t>, with </a:t>
            </a:r>
            <a:r>
              <a:rPr lang="it-IT" sz="2400" dirty="0" err="1" smtClean="0"/>
              <a:t>low</a:t>
            </a:r>
            <a:r>
              <a:rPr lang="it-IT" sz="2400" dirty="0" smtClean="0"/>
              <a:t> </a:t>
            </a:r>
            <a:r>
              <a:rPr lang="it-IT" sz="2400" dirty="0" err="1" smtClean="0"/>
              <a:t>energy</a:t>
            </a:r>
            <a:r>
              <a:rPr lang="it-IT" sz="2400" dirty="0" smtClean="0"/>
              <a:t>)</a:t>
            </a:r>
          </a:p>
          <a:p>
            <a:pPr marL="342900" indent="-342900">
              <a:buFont typeface="Arial"/>
              <a:buChar char="•"/>
            </a:pPr>
            <a:endParaRPr lang="it-IT" sz="2400" dirty="0" smtClean="0"/>
          </a:p>
          <a:p>
            <a:pPr marL="342900" indent="-342900">
              <a:buFont typeface="Arial"/>
              <a:buChar char="•"/>
            </a:pPr>
            <a:r>
              <a:rPr lang="it-IT" sz="2400" dirty="0" err="1" smtClean="0"/>
              <a:t>Measurement</a:t>
            </a:r>
            <a:r>
              <a:rPr lang="it-IT" sz="2400" dirty="0" smtClean="0"/>
              <a:t> </a:t>
            </a:r>
            <a:r>
              <a:rPr lang="it-IT" sz="2400" dirty="0" err="1" smtClean="0"/>
              <a:t>errors</a:t>
            </a:r>
            <a:r>
              <a:rPr lang="it-IT" sz="2400" dirty="0" smtClean="0"/>
              <a:t> are </a:t>
            </a:r>
            <a:r>
              <a:rPr lang="it-IT" sz="2400" b="1" dirty="0" err="1" smtClean="0">
                <a:solidFill>
                  <a:srgbClr val="0000FF"/>
                </a:solidFill>
              </a:rPr>
              <a:t>directly</a:t>
            </a:r>
            <a:r>
              <a:rPr lang="it-IT" sz="2400" b="1" dirty="0" smtClean="0">
                <a:solidFill>
                  <a:srgbClr val="0000FF"/>
                </a:solidFill>
              </a:rPr>
              <a:t> </a:t>
            </a:r>
            <a:r>
              <a:rPr lang="it-IT" sz="2400" b="1" dirty="0" err="1" smtClean="0">
                <a:solidFill>
                  <a:srgbClr val="0000FF"/>
                </a:solidFill>
              </a:rPr>
              <a:t>proportional</a:t>
            </a:r>
            <a:r>
              <a:rPr lang="it-IT" sz="2400" b="1" dirty="0" smtClean="0">
                <a:solidFill>
                  <a:srgbClr val="0000FF"/>
                </a:solidFill>
              </a:rPr>
              <a:t> to the </a:t>
            </a:r>
            <a:r>
              <a:rPr lang="it-IT" sz="2400" b="1" dirty="0" err="1" smtClean="0">
                <a:solidFill>
                  <a:srgbClr val="0000FF"/>
                </a:solidFill>
              </a:rPr>
              <a:t>intensity</a:t>
            </a:r>
            <a:r>
              <a:rPr lang="it-IT" sz="2400" b="1" dirty="0" smtClean="0">
                <a:solidFill>
                  <a:srgbClr val="0000FF"/>
                </a:solidFill>
              </a:rPr>
              <a:t> </a:t>
            </a:r>
            <a:r>
              <a:rPr lang="it-IT" sz="2400" dirty="0" smtClean="0"/>
              <a:t>(LOG </a:t>
            </a:r>
            <a:r>
              <a:rPr lang="it-IT" sz="2400" dirty="0" err="1" smtClean="0"/>
              <a:t>relationship</a:t>
            </a:r>
            <a:r>
              <a:rPr lang="it-IT" sz="2400" dirty="0" smtClean="0"/>
              <a:t>)</a:t>
            </a:r>
          </a:p>
          <a:p>
            <a:endParaRPr lang="it-IT" sz="2400" dirty="0" smtClean="0"/>
          </a:p>
          <a:p>
            <a:pPr marL="342900" indent="-342900">
              <a:buFont typeface="Arial"/>
              <a:buChar char="•"/>
            </a:pPr>
            <a:r>
              <a:rPr lang="it-IT" sz="2400" dirty="0" err="1" smtClean="0"/>
              <a:t>This</a:t>
            </a:r>
            <a:r>
              <a:rPr lang="it-IT" sz="2400" dirty="0" smtClean="0"/>
              <a:t> </a:t>
            </a:r>
            <a:r>
              <a:rPr lang="it-IT" sz="2400" dirty="0" err="1" smtClean="0"/>
              <a:t>effect</a:t>
            </a:r>
            <a:r>
              <a:rPr lang="it-IT" sz="2400" dirty="0" smtClean="0"/>
              <a:t> on </a:t>
            </a:r>
            <a:r>
              <a:rPr lang="it-IT" sz="2400" dirty="0" err="1" smtClean="0"/>
              <a:t>compensated</a:t>
            </a:r>
            <a:r>
              <a:rPr lang="it-IT" sz="2400" dirty="0" smtClean="0"/>
              <a:t> data </a:t>
            </a:r>
            <a:r>
              <a:rPr lang="it-IT" sz="2400" dirty="0" err="1" smtClean="0"/>
              <a:t>is</a:t>
            </a:r>
            <a:r>
              <a:rPr lang="it-IT" sz="2400" dirty="0" smtClean="0"/>
              <a:t> </a:t>
            </a:r>
            <a:r>
              <a:rPr lang="it-IT" sz="2400" dirty="0" err="1" smtClean="0"/>
              <a:t>unavoidable</a:t>
            </a:r>
            <a:r>
              <a:rPr lang="it-IT" sz="2400" dirty="0" smtClean="0"/>
              <a:t>, and </a:t>
            </a:r>
            <a:r>
              <a:rPr lang="it-IT" sz="2400" dirty="0" err="1" smtClean="0"/>
              <a:t>cannot</a:t>
            </a:r>
            <a:r>
              <a:rPr lang="it-IT" sz="2400" dirty="0" smtClean="0"/>
              <a:t> be </a:t>
            </a:r>
            <a:r>
              <a:rPr lang="it-IT" sz="2400" dirty="0" err="1" smtClean="0"/>
              <a:t>corrected</a:t>
            </a:r>
            <a:r>
              <a:rPr lang="it-IT" sz="2400" dirty="0" smtClean="0"/>
              <a:t> with </a:t>
            </a:r>
            <a:r>
              <a:rPr lang="it-IT" sz="2400" dirty="0" err="1" smtClean="0"/>
              <a:t>compensation</a:t>
            </a:r>
            <a:r>
              <a:rPr lang="it-IT" sz="2400" dirty="0" smtClean="0"/>
              <a:t> (LINEAR </a:t>
            </a:r>
            <a:r>
              <a:rPr lang="it-IT" sz="2400" dirty="0" err="1" smtClean="0"/>
              <a:t>correction</a:t>
            </a:r>
            <a:r>
              <a:rPr lang="it-IT" sz="2400" dirty="0" smtClean="0"/>
              <a:t>)</a:t>
            </a:r>
          </a:p>
          <a:p>
            <a:pPr marL="342900" indent="-342900">
              <a:buFont typeface="Arial"/>
              <a:buChar char="•"/>
            </a:pPr>
            <a:endParaRPr lang="it-IT" sz="2400" dirty="0"/>
          </a:p>
          <a:p>
            <a:pPr marL="342900" indent="-342900">
              <a:buFont typeface="Arial"/>
              <a:buChar char="•"/>
            </a:pPr>
            <a:r>
              <a:rPr lang="it-IT" sz="2400" dirty="0" err="1" smtClean="0"/>
              <a:t>Compensation</a:t>
            </a:r>
            <a:r>
              <a:rPr lang="it-IT" sz="2400" dirty="0" smtClean="0"/>
              <a:t> </a:t>
            </a:r>
            <a:r>
              <a:rPr lang="it-IT" sz="2400" dirty="0" err="1" smtClean="0"/>
              <a:t>does</a:t>
            </a:r>
            <a:r>
              <a:rPr lang="it-IT" sz="2400" dirty="0" smtClean="0"/>
              <a:t> </a:t>
            </a:r>
            <a:r>
              <a:rPr lang="it-IT" sz="2400" dirty="0" err="1" smtClean="0"/>
              <a:t>not</a:t>
            </a:r>
            <a:r>
              <a:rPr lang="it-IT" sz="2400" dirty="0" smtClean="0"/>
              <a:t> introduce the </a:t>
            </a:r>
            <a:r>
              <a:rPr lang="it-IT" sz="2400" dirty="0" err="1" smtClean="0"/>
              <a:t>error</a:t>
            </a:r>
            <a:r>
              <a:rPr lang="it-IT" sz="2400" dirty="0" smtClean="0"/>
              <a:t>, </a:t>
            </a:r>
            <a:r>
              <a:rPr lang="it-IT" sz="2400" dirty="0" err="1" smtClean="0"/>
              <a:t>it</a:t>
            </a:r>
            <a:r>
              <a:rPr lang="it-IT" sz="2400" dirty="0" smtClean="0"/>
              <a:t> </a:t>
            </a:r>
            <a:r>
              <a:rPr lang="it-IT" sz="2400" dirty="0" err="1" smtClean="0"/>
              <a:t>only</a:t>
            </a:r>
            <a:r>
              <a:rPr lang="it-IT" sz="2400" dirty="0" smtClean="0"/>
              <a:t> REVEALS </a:t>
            </a:r>
            <a:r>
              <a:rPr lang="it-IT" sz="2400" dirty="0" err="1" smtClean="0"/>
              <a:t>it</a:t>
            </a:r>
            <a:r>
              <a:rPr lang="it-IT" sz="2400" dirty="0" smtClean="0"/>
              <a:t> </a:t>
            </a:r>
            <a:r>
              <a:rPr lang="it-IT" sz="2400" dirty="0" err="1" smtClean="0"/>
              <a:t>because</a:t>
            </a:r>
            <a:r>
              <a:rPr lang="it-IT" sz="2400" dirty="0" smtClean="0"/>
              <a:t> </a:t>
            </a:r>
            <a:r>
              <a:rPr lang="it-IT" sz="2400" dirty="0" err="1" smtClean="0"/>
              <a:t>it</a:t>
            </a:r>
            <a:r>
              <a:rPr lang="it-IT" sz="2400" dirty="0" smtClean="0"/>
              <a:t> </a:t>
            </a:r>
            <a:r>
              <a:rPr lang="it-IT" sz="2400" dirty="0" err="1" smtClean="0"/>
              <a:t>brings</a:t>
            </a:r>
            <a:r>
              <a:rPr lang="it-IT" sz="2400" dirty="0" smtClean="0"/>
              <a:t> the </a:t>
            </a:r>
            <a:r>
              <a:rPr lang="it-IT" sz="2400" dirty="0" err="1" smtClean="0"/>
              <a:t>distribution</a:t>
            </a:r>
            <a:r>
              <a:rPr lang="it-IT" sz="2400" dirty="0" smtClean="0"/>
              <a:t> to the </a:t>
            </a:r>
            <a:r>
              <a:rPr lang="it-IT" sz="2400" dirty="0" err="1" smtClean="0"/>
              <a:t>low</a:t>
            </a:r>
            <a:r>
              <a:rPr lang="it-IT" sz="2400" dirty="0" smtClean="0"/>
              <a:t> end of the log scale</a:t>
            </a:r>
            <a:endParaRPr lang="it-IT" sz="2400" dirty="0"/>
          </a:p>
        </p:txBody>
      </p:sp>
    </p:spTree>
    <p:extLst>
      <p:ext uri="{BB962C8B-B14F-4D97-AF65-F5344CB8AC3E}">
        <p14:creationId xmlns:p14="http://schemas.microsoft.com/office/powerpoint/2010/main" val="193855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101024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How do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we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overcome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this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problem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?</a:t>
            </a:r>
            <a:endParaRPr lang="it-IT" sz="3200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sp>
        <p:nvSpPr>
          <p:cNvPr id="32" name="CasellaDiTesto 31"/>
          <p:cNvSpPr txBox="1"/>
          <p:nvPr/>
        </p:nvSpPr>
        <p:spPr>
          <a:xfrm>
            <a:off x="211662" y="1242649"/>
            <a:ext cx="47752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sz="2000" u="sng" dirty="0" smtClean="0"/>
              <a:t>Use </a:t>
            </a:r>
            <a:r>
              <a:rPr lang="it-IT" sz="2000" u="sng" dirty="0" err="1" smtClean="0"/>
              <a:t>different</a:t>
            </a:r>
            <a:r>
              <a:rPr lang="it-IT" sz="2000" u="sng" dirty="0" smtClean="0"/>
              <a:t> </a:t>
            </a:r>
            <a:r>
              <a:rPr lang="it-IT" sz="2000" u="sng" dirty="0" err="1" smtClean="0"/>
              <a:t>gates</a:t>
            </a:r>
            <a:r>
              <a:rPr lang="it-IT" sz="2000" u="sng" dirty="0" smtClean="0"/>
              <a:t>:</a:t>
            </a:r>
            <a:r>
              <a:rPr lang="it-IT" sz="2000" dirty="0" smtClean="0"/>
              <a:t> </a:t>
            </a:r>
            <a:r>
              <a:rPr lang="it-IT" sz="2000" dirty="0" err="1" smtClean="0"/>
              <a:t>cells</a:t>
            </a:r>
            <a:r>
              <a:rPr lang="it-IT" sz="2000" dirty="0" smtClean="0"/>
              <a:t> positive in the </a:t>
            </a:r>
            <a:r>
              <a:rPr lang="it-IT" sz="2000" dirty="0" err="1" smtClean="0"/>
              <a:t>primary</a:t>
            </a:r>
            <a:r>
              <a:rPr lang="it-IT" sz="2000" dirty="0" smtClean="0"/>
              <a:t> detector </a:t>
            </a:r>
            <a:r>
              <a:rPr lang="it-IT" sz="2000" dirty="0" err="1" smtClean="0"/>
              <a:t>will</a:t>
            </a:r>
            <a:r>
              <a:rPr lang="it-IT" sz="2000" dirty="0" smtClean="0"/>
              <a:t> </a:t>
            </a:r>
            <a:r>
              <a:rPr lang="it-IT" sz="2000" dirty="0" err="1" smtClean="0"/>
              <a:t>have</a:t>
            </a:r>
            <a:r>
              <a:rPr lang="it-IT" sz="2000" dirty="0" smtClean="0"/>
              <a:t> a </a:t>
            </a:r>
            <a:r>
              <a:rPr lang="it-IT" sz="2000" dirty="0" err="1" smtClean="0"/>
              <a:t>different</a:t>
            </a:r>
            <a:r>
              <a:rPr lang="it-IT" sz="2000" dirty="0" smtClean="0"/>
              <a:t> </a:t>
            </a:r>
            <a:r>
              <a:rPr lang="it-IT" sz="2000" dirty="0" err="1" smtClean="0"/>
              <a:t>threshold</a:t>
            </a:r>
            <a:r>
              <a:rPr lang="it-IT" sz="2000" dirty="0" smtClean="0"/>
              <a:t> of </a:t>
            </a:r>
            <a:r>
              <a:rPr lang="it-IT" sz="2000" dirty="0" err="1" smtClean="0"/>
              <a:t>positivity</a:t>
            </a:r>
            <a:r>
              <a:rPr lang="it-IT" sz="2000" dirty="0" smtClean="0"/>
              <a:t> </a:t>
            </a:r>
            <a:r>
              <a:rPr lang="it-IT" sz="2000" dirty="0" err="1" smtClean="0"/>
              <a:t>compared</a:t>
            </a:r>
            <a:r>
              <a:rPr lang="it-IT" sz="2000" dirty="0" smtClean="0"/>
              <a:t> to negative </a:t>
            </a:r>
            <a:r>
              <a:rPr lang="it-IT" sz="2000" dirty="0" err="1" smtClean="0"/>
              <a:t>cells</a:t>
            </a:r>
            <a:endParaRPr lang="it-IT" sz="2000" dirty="0" smtClean="0"/>
          </a:p>
        </p:txBody>
      </p:sp>
      <p:grpSp>
        <p:nvGrpSpPr>
          <p:cNvPr id="2" name="Gruppo 2"/>
          <p:cNvGrpSpPr>
            <a:grpSpLocks noChangeAspect="1"/>
          </p:cNvGrpSpPr>
          <p:nvPr/>
        </p:nvGrpSpPr>
        <p:grpSpPr>
          <a:xfrm>
            <a:off x="5343547" y="1147231"/>
            <a:ext cx="2796280" cy="2664000"/>
            <a:chOff x="5342787" y="1147233"/>
            <a:chExt cx="2307291" cy="2198144"/>
          </a:xfrm>
        </p:grpSpPr>
        <p:pic>
          <p:nvPicPr>
            <p:cNvPr id="10" name="Immagine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5786" y="1147233"/>
              <a:ext cx="2014292" cy="1960034"/>
            </a:xfrm>
            <a:prstGeom prst="rect">
              <a:avLst/>
            </a:prstGeom>
          </p:spPr>
        </p:pic>
        <p:sp>
          <p:nvSpPr>
            <p:cNvPr id="11" name="CasellaDiTesto 10"/>
            <p:cNvSpPr txBox="1"/>
            <p:nvPr/>
          </p:nvSpPr>
          <p:spPr>
            <a:xfrm>
              <a:off x="6529919" y="3014136"/>
              <a:ext cx="600087" cy="331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dirty="0" smtClean="0">
                  <a:latin typeface="Arial"/>
                  <a:cs typeface="Arial"/>
                </a:rPr>
                <a:t>APC</a:t>
              </a:r>
              <a:endParaRPr lang="it-IT" sz="2000" dirty="0">
                <a:latin typeface="Arial"/>
                <a:cs typeface="Arial"/>
              </a:endParaRPr>
            </a:p>
          </p:txBody>
        </p:sp>
        <p:sp>
          <p:nvSpPr>
            <p:cNvPr id="12" name="CasellaDiTesto 11"/>
            <p:cNvSpPr txBox="1"/>
            <p:nvPr/>
          </p:nvSpPr>
          <p:spPr>
            <a:xfrm rot="16200000">
              <a:off x="4954456" y="1785888"/>
              <a:ext cx="1107904" cy="331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dirty="0" err="1" smtClean="0">
                  <a:latin typeface="Arial"/>
                  <a:cs typeface="Arial"/>
                </a:rPr>
                <a:t>Alexa</a:t>
              </a:r>
              <a:r>
                <a:rPr lang="it-IT" sz="2000" dirty="0" smtClean="0">
                  <a:latin typeface="Arial"/>
                  <a:cs typeface="Arial"/>
                </a:rPr>
                <a:t> 700</a:t>
              </a:r>
              <a:endParaRPr lang="it-IT" sz="2000" dirty="0">
                <a:latin typeface="Arial"/>
                <a:cs typeface="Arial"/>
              </a:endParaRPr>
            </a:p>
          </p:txBody>
        </p:sp>
        <p:cxnSp>
          <p:nvCxnSpPr>
            <p:cNvPr id="13" name="Connettore 1 12"/>
            <p:cNvCxnSpPr/>
            <p:nvPr/>
          </p:nvCxnSpPr>
          <p:spPr>
            <a:xfrm>
              <a:off x="6298444" y="2180167"/>
              <a:ext cx="194799" cy="0"/>
            </a:xfrm>
            <a:prstGeom prst="line">
              <a:avLst/>
            </a:pr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/>
          </p:nvCxnSpPr>
          <p:spPr>
            <a:xfrm>
              <a:off x="6896301" y="2070102"/>
              <a:ext cx="194164" cy="0"/>
            </a:xfrm>
            <a:prstGeom prst="line">
              <a:avLst/>
            </a:pr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1 14"/>
            <p:cNvCxnSpPr/>
            <p:nvPr/>
          </p:nvCxnSpPr>
          <p:spPr>
            <a:xfrm>
              <a:off x="7161443" y="1909234"/>
              <a:ext cx="210227" cy="0"/>
            </a:xfrm>
            <a:prstGeom prst="line">
              <a:avLst/>
            </a:prstGeom>
            <a:ln w="38100" cmpd="sng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Line 492"/>
          <p:cNvSpPr>
            <a:spLocks noChangeShapeType="1"/>
          </p:cNvSpPr>
          <p:nvPr/>
        </p:nvSpPr>
        <p:spPr bwMode="auto">
          <a:xfrm>
            <a:off x="254000" y="8128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4700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sellaDiTesto 31"/>
          <p:cNvSpPr txBox="1"/>
          <p:nvPr/>
        </p:nvSpPr>
        <p:spPr>
          <a:xfrm>
            <a:off x="211662" y="1242649"/>
            <a:ext cx="477520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sz="2000" u="sng" dirty="0" smtClean="0"/>
              <a:t>Use </a:t>
            </a:r>
            <a:r>
              <a:rPr lang="it-IT" sz="2000" u="sng" dirty="0" err="1" smtClean="0"/>
              <a:t>different</a:t>
            </a:r>
            <a:r>
              <a:rPr lang="it-IT" sz="2000" u="sng" dirty="0" smtClean="0"/>
              <a:t> </a:t>
            </a:r>
            <a:r>
              <a:rPr lang="it-IT" sz="2000" u="sng" dirty="0" err="1" smtClean="0"/>
              <a:t>gates</a:t>
            </a:r>
            <a:r>
              <a:rPr lang="it-IT" sz="2000" u="sng" dirty="0" smtClean="0"/>
              <a:t>:</a:t>
            </a:r>
            <a:r>
              <a:rPr lang="it-IT" sz="2000" dirty="0" smtClean="0"/>
              <a:t> </a:t>
            </a:r>
            <a:r>
              <a:rPr lang="it-IT" sz="2000" dirty="0" err="1" smtClean="0"/>
              <a:t>cells</a:t>
            </a:r>
            <a:r>
              <a:rPr lang="it-IT" sz="2000" dirty="0" smtClean="0"/>
              <a:t> positive in the </a:t>
            </a:r>
            <a:r>
              <a:rPr lang="it-IT" sz="2000" dirty="0" err="1" smtClean="0"/>
              <a:t>primary</a:t>
            </a:r>
            <a:r>
              <a:rPr lang="it-IT" sz="2000" dirty="0" smtClean="0"/>
              <a:t> detector </a:t>
            </a:r>
            <a:r>
              <a:rPr lang="it-IT" sz="2000" dirty="0" err="1" smtClean="0"/>
              <a:t>will</a:t>
            </a:r>
            <a:r>
              <a:rPr lang="it-IT" sz="2000" dirty="0" smtClean="0"/>
              <a:t> </a:t>
            </a:r>
            <a:r>
              <a:rPr lang="it-IT" sz="2000" dirty="0" err="1" smtClean="0"/>
              <a:t>have</a:t>
            </a:r>
            <a:r>
              <a:rPr lang="it-IT" sz="2000" dirty="0" smtClean="0"/>
              <a:t> a </a:t>
            </a:r>
            <a:r>
              <a:rPr lang="it-IT" sz="2000" dirty="0" err="1" smtClean="0"/>
              <a:t>different</a:t>
            </a:r>
            <a:r>
              <a:rPr lang="it-IT" sz="2000" dirty="0" smtClean="0"/>
              <a:t> </a:t>
            </a:r>
            <a:r>
              <a:rPr lang="it-IT" sz="2000" dirty="0" err="1" smtClean="0"/>
              <a:t>threshold</a:t>
            </a:r>
            <a:r>
              <a:rPr lang="it-IT" sz="2000" dirty="0" smtClean="0"/>
              <a:t> of </a:t>
            </a:r>
            <a:r>
              <a:rPr lang="it-IT" sz="2000" dirty="0" err="1" smtClean="0"/>
              <a:t>positivity</a:t>
            </a:r>
            <a:r>
              <a:rPr lang="it-IT" sz="2000" dirty="0" smtClean="0"/>
              <a:t> </a:t>
            </a:r>
            <a:r>
              <a:rPr lang="it-IT" sz="2000" dirty="0" err="1" smtClean="0"/>
              <a:t>compared</a:t>
            </a:r>
            <a:r>
              <a:rPr lang="it-IT" sz="2000" dirty="0" smtClean="0"/>
              <a:t> to negative </a:t>
            </a:r>
            <a:r>
              <a:rPr lang="it-IT" sz="2000" dirty="0" err="1" smtClean="0"/>
              <a:t>cells</a:t>
            </a:r>
            <a:endParaRPr lang="it-IT" sz="2000" dirty="0" smtClean="0"/>
          </a:p>
          <a:p>
            <a:endParaRPr lang="it-IT" sz="2000" dirty="0" smtClean="0"/>
          </a:p>
          <a:p>
            <a:pPr marL="285750" indent="-285750">
              <a:buFont typeface="Arial"/>
              <a:buChar char="•"/>
            </a:pPr>
            <a:r>
              <a:rPr lang="it-IT" sz="2000" dirty="0" err="1" smtClean="0"/>
              <a:t>Not</a:t>
            </a:r>
            <a:r>
              <a:rPr lang="it-IT" sz="2000" dirty="0" smtClean="0"/>
              <a:t> a </a:t>
            </a:r>
            <a:r>
              <a:rPr lang="it-IT" sz="2000" dirty="0" err="1" smtClean="0"/>
              <a:t>problem</a:t>
            </a:r>
            <a:r>
              <a:rPr lang="it-IT" sz="2000" dirty="0" smtClean="0"/>
              <a:t> </a:t>
            </a:r>
            <a:r>
              <a:rPr lang="it-IT" sz="2000" dirty="0" err="1" smtClean="0"/>
              <a:t>if</a:t>
            </a:r>
            <a:r>
              <a:rPr lang="it-IT" sz="2000" dirty="0" smtClean="0"/>
              <a:t> </a:t>
            </a:r>
            <a:r>
              <a:rPr lang="it-IT" sz="2000" dirty="0" err="1" smtClean="0"/>
              <a:t>analyzing</a:t>
            </a:r>
            <a:r>
              <a:rPr lang="it-IT" sz="2000" dirty="0" smtClean="0"/>
              <a:t> </a:t>
            </a:r>
            <a:r>
              <a:rPr lang="it-IT" sz="2000" dirty="0" err="1" smtClean="0"/>
              <a:t>bright</a:t>
            </a:r>
            <a:r>
              <a:rPr lang="it-IT" sz="2000" dirty="0" smtClean="0"/>
              <a:t> </a:t>
            </a:r>
            <a:r>
              <a:rPr lang="it-IT" sz="2000" dirty="0" err="1" smtClean="0"/>
              <a:t>antigens</a:t>
            </a:r>
            <a:r>
              <a:rPr lang="it-IT" sz="2000" dirty="0" smtClean="0"/>
              <a:t> in the </a:t>
            </a:r>
            <a:r>
              <a:rPr lang="it-IT" sz="2000" dirty="0" err="1" smtClean="0"/>
              <a:t>secondary</a:t>
            </a:r>
            <a:r>
              <a:rPr lang="it-IT" sz="2000" dirty="0" smtClean="0"/>
              <a:t> detector</a:t>
            </a:r>
            <a:endParaRPr lang="it-IT" sz="2000" dirty="0"/>
          </a:p>
        </p:txBody>
      </p:sp>
      <p:grpSp>
        <p:nvGrpSpPr>
          <p:cNvPr id="2" name="Gruppo 10"/>
          <p:cNvGrpSpPr>
            <a:grpSpLocks noChangeAspect="1"/>
          </p:cNvGrpSpPr>
          <p:nvPr/>
        </p:nvGrpSpPr>
        <p:grpSpPr>
          <a:xfrm>
            <a:off x="5343547" y="1147231"/>
            <a:ext cx="2796280" cy="2664000"/>
            <a:chOff x="5342787" y="1147233"/>
            <a:chExt cx="2307291" cy="2198144"/>
          </a:xfrm>
        </p:grpSpPr>
        <p:pic>
          <p:nvPicPr>
            <p:cNvPr id="12" name="Immagin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5786" y="1147233"/>
              <a:ext cx="2014292" cy="1960034"/>
            </a:xfrm>
            <a:prstGeom prst="rect">
              <a:avLst/>
            </a:prstGeom>
          </p:spPr>
        </p:pic>
        <p:sp>
          <p:nvSpPr>
            <p:cNvPr id="13" name="CasellaDiTesto 12"/>
            <p:cNvSpPr txBox="1"/>
            <p:nvPr/>
          </p:nvSpPr>
          <p:spPr>
            <a:xfrm>
              <a:off x="6529919" y="3014136"/>
              <a:ext cx="600087" cy="331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dirty="0" smtClean="0">
                  <a:latin typeface="Arial"/>
                  <a:cs typeface="Arial"/>
                </a:rPr>
                <a:t>APC</a:t>
              </a:r>
              <a:endParaRPr lang="it-IT" sz="2000" dirty="0">
                <a:latin typeface="Arial"/>
                <a:cs typeface="Arial"/>
              </a:endParaRPr>
            </a:p>
          </p:txBody>
        </p:sp>
        <p:sp>
          <p:nvSpPr>
            <p:cNvPr id="14" name="CasellaDiTesto 13"/>
            <p:cNvSpPr txBox="1"/>
            <p:nvPr/>
          </p:nvSpPr>
          <p:spPr>
            <a:xfrm rot="16200000">
              <a:off x="4954456" y="1785888"/>
              <a:ext cx="1107904" cy="331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dirty="0" err="1" smtClean="0">
                  <a:latin typeface="Arial"/>
                  <a:cs typeface="Arial"/>
                </a:rPr>
                <a:t>Alexa</a:t>
              </a:r>
              <a:r>
                <a:rPr lang="it-IT" sz="2000" dirty="0" smtClean="0">
                  <a:latin typeface="Arial"/>
                  <a:cs typeface="Arial"/>
                </a:rPr>
                <a:t> 700</a:t>
              </a:r>
              <a:endParaRPr lang="it-IT" sz="2000" dirty="0">
                <a:latin typeface="Arial"/>
                <a:cs typeface="Arial"/>
              </a:endParaRPr>
            </a:p>
          </p:txBody>
        </p:sp>
      </p:grpSp>
      <p:sp>
        <p:nvSpPr>
          <p:cNvPr id="18" name="Ovale 17"/>
          <p:cNvSpPr/>
          <p:nvPr/>
        </p:nvSpPr>
        <p:spPr>
          <a:xfrm>
            <a:off x="7570579" y="1454035"/>
            <a:ext cx="186606" cy="499534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>
              <a:ln>
                <a:solidFill>
                  <a:srgbClr val="000000"/>
                </a:solidFill>
              </a:ln>
            </a:endParaRPr>
          </a:p>
        </p:txBody>
      </p:sp>
      <p:sp>
        <p:nvSpPr>
          <p:cNvPr id="19" name="Ovale 18"/>
          <p:cNvSpPr/>
          <p:nvPr/>
        </p:nvSpPr>
        <p:spPr>
          <a:xfrm>
            <a:off x="6514438" y="1450606"/>
            <a:ext cx="186606" cy="49953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2400">
              <a:ln>
                <a:solidFill>
                  <a:srgbClr val="000000"/>
                </a:solidFill>
              </a:ln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6390083" y="1115481"/>
            <a:ext cx="16025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i="1" dirty="0" smtClean="0">
                <a:latin typeface="Arial"/>
                <a:cs typeface="Arial"/>
              </a:rPr>
              <a:t>100% </a:t>
            </a:r>
            <a:r>
              <a:rPr lang="it-IT" sz="1600" i="1" dirty="0" err="1" smtClean="0">
                <a:latin typeface="Arial"/>
                <a:cs typeface="Arial"/>
              </a:rPr>
              <a:t>detected</a:t>
            </a:r>
            <a:endParaRPr lang="it-IT" sz="1600" i="1" dirty="0">
              <a:latin typeface="Arial"/>
              <a:cs typeface="Arial"/>
            </a:endParaRPr>
          </a:p>
        </p:txBody>
      </p:sp>
      <p:cxnSp>
        <p:nvCxnSpPr>
          <p:cNvPr id="21" name="Connettore 1 20"/>
          <p:cNvCxnSpPr/>
          <p:nvPr/>
        </p:nvCxnSpPr>
        <p:spPr>
          <a:xfrm>
            <a:off x="6501738" y="2399076"/>
            <a:ext cx="236083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1 21"/>
          <p:cNvCxnSpPr/>
          <p:nvPr/>
        </p:nvCxnSpPr>
        <p:spPr>
          <a:xfrm>
            <a:off x="7226300" y="2265685"/>
            <a:ext cx="235314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1 22"/>
          <p:cNvCxnSpPr/>
          <p:nvPr/>
        </p:nvCxnSpPr>
        <p:spPr>
          <a:xfrm>
            <a:off x="7547635" y="2070724"/>
            <a:ext cx="254781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ne 492"/>
          <p:cNvSpPr>
            <a:spLocks noChangeShapeType="1"/>
          </p:cNvSpPr>
          <p:nvPr/>
        </p:nvSpPr>
        <p:spPr bwMode="auto">
          <a:xfrm>
            <a:off x="254000" y="8128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sp>
        <p:nvSpPr>
          <p:cNvPr id="16" name="CasellaDiTesto 3"/>
          <p:cNvSpPr txBox="1"/>
          <p:nvPr/>
        </p:nvSpPr>
        <p:spPr>
          <a:xfrm>
            <a:off x="845079" y="101024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How do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we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overcome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this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problem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?</a:t>
            </a:r>
            <a:endParaRPr lang="it-IT" sz="3200" dirty="0">
              <a:solidFill>
                <a:srgbClr val="00009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42290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sellaDiTesto 31"/>
          <p:cNvSpPr txBox="1"/>
          <p:nvPr/>
        </p:nvSpPr>
        <p:spPr>
          <a:xfrm>
            <a:off x="211662" y="1242649"/>
            <a:ext cx="4775205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it-IT" sz="2000" u="sng" dirty="0" smtClean="0"/>
              <a:t>Use </a:t>
            </a:r>
            <a:r>
              <a:rPr lang="it-IT" sz="2000" u="sng" dirty="0" err="1" smtClean="0"/>
              <a:t>different</a:t>
            </a:r>
            <a:r>
              <a:rPr lang="it-IT" sz="2000" u="sng" dirty="0" smtClean="0"/>
              <a:t> </a:t>
            </a:r>
            <a:r>
              <a:rPr lang="it-IT" sz="2000" u="sng" dirty="0" err="1" smtClean="0"/>
              <a:t>gates</a:t>
            </a:r>
            <a:r>
              <a:rPr lang="it-IT" sz="2000" u="sng" dirty="0" smtClean="0"/>
              <a:t>:</a:t>
            </a:r>
            <a:r>
              <a:rPr lang="it-IT" sz="2000" dirty="0" smtClean="0"/>
              <a:t> </a:t>
            </a:r>
            <a:r>
              <a:rPr lang="it-IT" sz="2000" dirty="0" err="1" smtClean="0"/>
              <a:t>cells</a:t>
            </a:r>
            <a:r>
              <a:rPr lang="it-IT" sz="2000" dirty="0" smtClean="0"/>
              <a:t> positive in the </a:t>
            </a:r>
            <a:r>
              <a:rPr lang="it-IT" sz="2000" dirty="0" err="1" smtClean="0"/>
              <a:t>primary</a:t>
            </a:r>
            <a:r>
              <a:rPr lang="it-IT" sz="2000" dirty="0" smtClean="0"/>
              <a:t> detector </a:t>
            </a:r>
            <a:r>
              <a:rPr lang="it-IT" sz="2000" dirty="0" err="1" smtClean="0"/>
              <a:t>will</a:t>
            </a:r>
            <a:r>
              <a:rPr lang="it-IT" sz="2000" dirty="0" smtClean="0"/>
              <a:t> </a:t>
            </a:r>
            <a:r>
              <a:rPr lang="it-IT" sz="2000" dirty="0" err="1" smtClean="0"/>
              <a:t>have</a:t>
            </a:r>
            <a:r>
              <a:rPr lang="it-IT" sz="2000" dirty="0" smtClean="0"/>
              <a:t> a </a:t>
            </a:r>
            <a:r>
              <a:rPr lang="it-IT" sz="2000" dirty="0" err="1" smtClean="0"/>
              <a:t>different</a:t>
            </a:r>
            <a:r>
              <a:rPr lang="it-IT" sz="2000" dirty="0" smtClean="0"/>
              <a:t> </a:t>
            </a:r>
            <a:r>
              <a:rPr lang="it-IT" sz="2000" dirty="0" err="1" smtClean="0"/>
              <a:t>threshold</a:t>
            </a:r>
            <a:r>
              <a:rPr lang="it-IT" sz="2000" dirty="0" smtClean="0"/>
              <a:t> of </a:t>
            </a:r>
            <a:r>
              <a:rPr lang="it-IT" sz="2000" dirty="0" err="1" smtClean="0"/>
              <a:t>positivity</a:t>
            </a:r>
            <a:r>
              <a:rPr lang="it-IT" sz="2000" dirty="0" smtClean="0"/>
              <a:t> </a:t>
            </a:r>
            <a:r>
              <a:rPr lang="it-IT" sz="2000" dirty="0" err="1" smtClean="0"/>
              <a:t>compared</a:t>
            </a:r>
            <a:r>
              <a:rPr lang="it-IT" sz="2000" dirty="0" smtClean="0"/>
              <a:t> to negative </a:t>
            </a:r>
            <a:r>
              <a:rPr lang="it-IT" sz="2000" dirty="0" err="1" smtClean="0"/>
              <a:t>cells</a:t>
            </a:r>
            <a:endParaRPr lang="it-IT" sz="2000" dirty="0" smtClean="0"/>
          </a:p>
          <a:p>
            <a:pPr marL="285750" indent="-285750">
              <a:buFont typeface="Arial"/>
              <a:buChar char="•"/>
            </a:pPr>
            <a:endParaRPr lang="it-IT" sz="2000" dirty="0" smtClean="0"/>
          </a:p>
          <a:p>
            <a:pPr marL="285750" indent="-285750">
              <a:buFont typeface="Arial"/>
              <a:buChar char="•"/>
            </a:pPr>
            <a:r>
              <a:rPr lang="it-IT" sz="2000" dirty="0" err="1" smtClean="0"/>
              <a:t>Not</a:t>
            </a:r>
            <a:r>
              <a:rPr lang="it-IT" sz="2000" dirty="0" smtClean="0"/>
              <a:t> a </a:t>
            </a:r>
            <a:r>
              <a:rPr lang="it-IT" sz="2000" dirty="0" err="1" smtClean="0"/>
              <a:t>problem</a:t>
            </a:r>
            <a:r>
              <a:rPr lang="it-IT" sz="2000" dirty="0" smtClean="0"/>
              <a:t> </a:t>
            </a:r>
            <a:r>
              <a:rPr lang="it-IT" sz="2000" dirty="0" err="1" smtClean="0"/>
              <a:t>if</a:t>
            </a:r>
            <a:r>
              <a:rPr lang="it-IT" sz="2000" dirty="0" smtClean="0"/>
              <a:t> </a:t>
            </a:r>
            <a:r>
              <a:rPr lang="it-IT" sz="2000" dirty="0" err="1" smtClean="0"/>
              <a:t>analyzing</a:t>
            </a:r>
            <a:r>
              <a:rPr lang="it-IT" sz="2000" dirty="0" smtClean="0"/>
              <a:t> </a:t>
            </a:r>
            <a:r>
              <a:rPr lang="it-IT" sz="2000" dirty="0" err="1" smtClean="0"/>
              <a:t>bright</a:t>
            </a:r>
            <a:r>
              <a:rPr lang="it-IT" sz="2000" dirty="0" smtClean="0"/>
              <a:t> </a:t>
            </a:r>
            <a:r>
              <a:rPr lang="it-IT" sz="2000" dirty="0" err="1" smtClean="0"/>
              <a:t>antigens</a:t>
            </a:r>
            <a:r>
              <a:rPr lang="it-IT" sz="2000" dirty="0" smtClean="0"/>
              <a:t> in the </a:t>
            </a:r>
            <a:r>
              <a:rPr lang="it-IT" sz="2000" dirty="0" err="1" smtClean="0"/>
              <a:t>secondary</a:t>
            </a:r>
            <a:r>
              <a:rPr lang="it-IT" sz="2000" dirty="0" smtClean="0"/>
              <a:t> detector</a:t>
            </a:r>
          </a:p>
          <a:p>
            <a:pPr marL="285750" indent="-285750">
              <a:buFont typeface="Arial"/>
              <a:buChar char="•"/>
            </a:pPr>
            <a:endParaRPr lang="it-IT" sz="2000" dirty="0" smtClean="0"/>
          </a:p>
          <a:p>
            <a:pPr marL="285750" indent="-285750">
              <a:buFont typeface="Arial"/>
              <a:buChar char="•"/>
            </a:pPr>
            <a:r>
              <a:rPr lang="it-IT" sz="2000" dirty="0" err="1" smtClean="0"/>
              <a:t>Loss</a:t>
            </a:r>
            <a:r>
              <a:rPr lang="it-IT" sz="2000" dirty="0" smtClean="0"/>
              <a:t> of </a:t>
            </a:r>
            <a:r>
              <a:rPr lang="it-IT" sz="2000" dirty="0" err="1" smtClean="0"/>
              <a:t>sensitivity</a:t>
            </a:r>
            <a:r>
              <a:rPr lang="it-IT" sz="2000" dirty="0" smtClean="0"/>
              <a:t> </a:t>
            </a:r>
            <a:r>
              <a:rPr lang="it-IT" sz="2000" dirty="0" err="1" smtClean="0"/>
              <a:t>if</a:t>
            </a:r>
            <a:r>
              <a:rPr lang="it-IT" sz="2000" dirty="0" smtClean="0"/>
              <a:t> DIM </a:t>
            </a:r>
            <a:r>
              <a:rPr lang="it-IT" sz="2000" dirty="0" err="1" smtClean="0"/>
              <a:t>antigen</a:t>
            </a:r>
            <a:r>
              <a:rPr lang="it-IT" sz="2000" dirty="0" smtClean="0"/>
              <a:t> in the </a:t>
            </a:r>
            <a:r>
              <a:rPr lang="it-IT" sz="2000" dirty="0" err="1" smtClean="0"/>
              <a:t>secondary</a:t>
            </a:r>
            <a:r>
              <a:rPr lang="it-IT" sz="2000" dirty="0" smtClean="0"/>
              <a:t> detector. </a:t>
            </a:r>
            <a:r>
              <a:rPr lang="it-IT" sz="2000" dirty="0" err="1" smtClean="0"/>
              <a:t>Decrease</a:t>
            </a:r>
            <a:r>
              <a:rPr lang="it-IT" sz="2000" dirty="0" smtClean="0"/>
              <a:t> </a:t>
            </a:r>
            <a:r>
              <a:rPr lang="it-IT" sz="2000" dirty="0" err="1" smtClean="0"/>
              <a:t>titer</a:t>
            </a:r>
            <a:r>
              <a:rPr lang="it-IT" sz="2000" dirty="0" smtClean="0"/>
              <a:t> of </a:t>
            </a:r>
            <a:r>
              <a:rPr lang="it-IT" sz="2000" dirty="0" err="1" smtClean="0"/>
              <a:t>spreading</a:t>
            </a:r>
            <a:r>
              <a:rPr lang="it-IT" sz="2000" dirty="0" smtClean="0"/>
              <a:t> Ab to </a:t>
            </a:r>
            <a:r>
              <a:rPr lang="it-IT" sz="2000" dirty="0" err="1" smtClean="0"/>
              <a:t>minimize</a:t>
            </a:r>
            <a:r>
              <a:rPr lang="it-IT" sz="2000" dirty="0" smtClean="0"/>
              <a:t> </a:t>
            </a:r>
            <a:r>
              <a:rPr lang="it-IT" sz="2000" dirty="0" err="1" smtClean="0"/>
              <a:t>spreading</a:t>
            </a:r>
            <a:r>
              <a:rPr lang="it-IT" sz="2000" dirty="0" smtClean="0"/>
              <a:t>.</a:t>
            </a:r>
          </a:p>
          <a:p>
            <a:pPr marL="285750" indent="-285750">
              <a:buFont typeface="Arial"/>
              <a:buChar char="•"/>
            </a:pPr>
            <a:endParaRPr lang="it-IT" sz="2000" dirty="0"/>
          </a:p>
          <a:p>
            <a:pPr marL="285750" indent="-285750">
              <a:buFont typeface="Arial"/>
              <a:buChar char="•"/>
            </a:pPr>
            <a:r>
              <a:rPr lang="it-IT" sz="2000" dirty="0" err="1" smtClean="0"/>
              <a:t>Try</a:t>
            </a:r>
            <a:r>
              <a:rPr lang="it-IT" sz="2000" dirty="0" smtClean="0"/>
              <a:t> a </a:t>
            </a:r>
            <a:r>
              <a:rPr lang="it-IT" sz="2000" dirty="0" err="1" smtClean="0"/>
              <a:t>different</a:t>
            </a:r>
            <a:r>
              <a:rPr lang="it-IT" sz="2000" dirty="0" smtClean="0"/>
              <a:t> Ab </a:t>
            </a:r>
            <a:r>
              <a:rPr lang="it-IT" sz="2000" dirty="0" err="1" smtClean="0"/>
              <a:t>combination</a:t>
            </a:r>
            <a:endParaRPr lang="it-IT" sz="2000" dirty="0"/>
          </a:p>
        </p:txBody>
      </p:sp>
      <p:grpSp>
        <p:nvGrpSpPr>
          <p:cNvPr id="2" name="Gruppo 13"/>
          <p:cNvGrpSpPr>
            <a:grpSpLocks noChangeAspect="1"/>
          </p:cNvGrpSpPr>
          <p:nvPr/>
        </p:nvGrpSpPr>
        <p:grpSpPr>
          <a:xfrm>
            <a:off x="5343547" y="1147231"/>
            <a:ext cx="2796280" cy="2664000"/>
            <a:chOff x="5342787" y="1147233"/>
            <a:chExt cx="2307291" cy="2198144"/>
          </a:xfrm>
        </p:grpSpPr>
        <p:pic>
          <p:nvPicPr>
            <p:cNvPr id="17" name="Immagine 1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5786" y="1147233"/>
              <a:ext cx="2014292" cy="1960034"/>
            </a:xfrm>
            <a:prstGeom prst="rect">
              <a:avLst/>
            </a:prstGeom>
          </p:spPr>
        </p:pic>
        <p:sp>
          <p:nvSpPr>
            <p:cNvPr id="18" name="CasellaDiTesto 17"/>
            <p:cNvSpPr txBox="1"/>
            <p:nvPr/>
          </p:nvSpPr>
          <p:spPr>
            <a:xfrm>
              <a:off x="6529919" y="3014136"/>
              <a:ext cx="600087" cy="331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dirty="0" smtClean="0">
                  <a:latin typeface="Arial"/>
                  <a:cs typeface="Arial"/>
                </a:rPr>
                <a:t>APC</a:t>
              </a:r>
              <a:endParaRPr lang="it-IT" sz="2000" dirty="0">
                <a:latin typeface="Arial"/>
                <a:cs typeface="Arial"/>
              </a:endParaRPr>
            </a:p>
          </p:txBody>
        </p:sp>
        <p:sp>
          <p:nvSpPr>
            <p:cNvPr id="19" name="CasellaDiTesto 18"/>
            <p:cNvSpPr txBox="1"/>
            <p:nvPr/>
          </p:nvSpPr>
          <p:spPr>
            <a:xfrm rot="16200000">
              <a:off x="4954456" y="1785888"/>
              <a:ext cx="1107904" cy="331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t-IT" sz="2000" dirty="0" err="1" smtClean="0">
                  <a:latin typeface="Arial"/>
                  <a:cs typeface="Arial"/>
                </a:rPr>
                <a:t>Alexa</a:t>
              </a:r>
              <a:r>
                <a:rPr lang="it-IT" sz="2000" dirty="0" smtClean="0">
                  <a:latin typeface="Arial"/>
                  <a:cs typeface="Arial"/>
                </a:rPr>
                <a:t> 700</a:t>
              </a:r>
              <a:endParaRPr lang="it-IT" sz="2000" dirty="0">
                <a:latin typeface="Arial"/>
                <a:cs typeface="Arial"/>
              </a:endParaRPr>
            </a:p>
          </p:txBody>
        </p:sp>
      </p:grpSp>
      <p:cxnSp>
        <p:nvCxnSpPr>
          <p:cNvPr id="23" name="Connettore 1 22"/>
          <p:cNvCxnSpPr/>
          <p:nvPr/>
        </p:nvCxnSpPr>
        <p:spPr>
          <a:xfrm>
            <a:off x="6501738" y="2399076"/>
            <a:ext cx="236083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ttore 1 23"/>
          <p:cNvCxnSpPr/>
          <p:nvPr/>
        </p:nvCxnSpPr>
        <p:spPr>
          <a:xfrm>
            <a:off x="7226300" y="2265685"/>
            <a:ext cx="235314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ttore 1 24"/>
          <p:cNvCxnSpPr/>
          <p:nvPr/>
        </p:nvCxnSpPr>
        <p:spPr>
          <a:xfrm>
            <a:off x="7547635" y="2070724"/>
            <a:ext cx="254781" cy="0"/>
          </a:xfrm>
          <a:prstGeom prst="line">
            <a:avLst/>
          </a:prstGeom>
          <a:ln w="38100" cmpd="sng">
            <a:solidFill>
              <a:srgbClr val="FF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e 25"/>
          <p:cNvSpPr/>
          <p:nvPr/>
        </p:nvSpPr>
        <p:spPr>
          <a:xfrm>
            <a:off x="7581363" y="1865407"/>
            <a:ext cx="186606" cy="499534"/>
          </a:xfrm>
          <a:prstGeom prst="ellipse">
            <a:avLst/>
          </a:prstGeom>
          <a:solidFill>
            <a:schemeClr val="tx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000000"/>
                </a:solidFill>
              </a:ln>
            </a:endParaRPr>
          </a:p>
        </p:txBody>
      </p:sp>
      <p:sp>
        <p:nvSpPr>
          <p:cNvPr id="27" name="Ovale 26"/>
          <p:cNvSpPr/>
          <p:nvPr/>
        </p:nvSpPr>
        <p:spPr>
          <a:xfrm>
            <a:off x="6525316" y="1865407"/>
            <a:ext cx="186606" cy="499534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n>
                <a:solidFill>
                  <a:srgbClr val="000000"/>
                </a:solidFill>
              </a:ln>
            </a:endParaRPr>
          </a:p>
        </p:txBody>
      </p:sp>
      <p:cxnSp>
        <p:nvCxnSpPr>
          <p:cNvPr id="28" name="Connettore 1 27"/>
          <p:cNvCxnSpPr/>
          <p:nvPr/>
        </p:nvCxnSpPr>
        <p:spPr>
          <a:xfrm>
            <a:off x="7832878" y="2059228"/>
            <a:ext cx="107934" cy="0"/>
          </a:xfrm>
          <a:prstGeom prst="line">
            <a:avLst/>
          </a:prstGeom>
          <a:ln w="28575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28"/>
          <p:cNvCxnSpPr/>
          <p:nvPr/>
        </p:nvCxnSpPr>
        <p:spPr>
          <a:xfrm>
            <a:off x="7832878" y="2334395"/>
            <a:ext cx="107934" cy="0"/>
          </a:xfrm>
          <a:prstGeom prst="line">
            <a:avLst/>
          </a:prstGeom>
          <a:ln w="28575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ttore 1 29"/>
          <p:cNvCxnSpPr/>
          <p:nvPr/>
        </p:nvCxnSpPr>
        <p:spPr>
          <a:xfrm>
            <a:off x="7887912" y="2059228"/>
            <a:ext cx="0" cy="270933"/>
          </a:xfrm>
          <a:prstGeom prst="line">
            <a:avLst/>
          </a:prstGeom>
          <a:ln w="28575" cmpd="sng">
            <a:solidFill>
              <a:srgbClr val="008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asellaDiTesto 30"/>
          <p:cNvSpPr txBox="1"/>
          <p:nvPr/>
        </p:nvSpPr>
        <p:spPr>
          <a:xfrm>
            <a:off x="6106051" y="1208671"/>
            <a:ext cx="916967" cy="372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40"/>
              </a:lnSpc>
            </a:pPr>
            <a:r>
              <a:rPr lang="it-IT" sz="1400" i="1" dirty="0" smtClean="0">
                <a:latin typeface="Arial"/>
                <a:cs typeface="Arial"/>
              </a:rPr>
              <a:t>100% </a:t>
            </a:r>
          </a:p>
          <a:p>
            <a:pPr>
              <a:lnSpc>
                <a:spcPts val="1040"/>
              </a:lnSpc>
            </a:pPr>
            <a:r>
              <a:rPr lang="it-IT" sz="1400" i="1" dirty="0" err="1" smtClean="0">
                <a:latin typeface="Arial"/>
                <a:cs typeface="Arial"/>
              </a:rPr>
              <a:t>detected</a:t>
            </a:r>
            <a:endParaRPr lang="it-IT" sz="1400" i="1" dirty="0">
              <a:latin typeface="Arial"/>
              <a:cs typeface="Arial"/>
            </a:endParaRPr>
          </a:p>
        </p:txBody>
      </p:sp>
      <p:sp>
        <p:nvSpPr>
          <p:cNvPr id="33" name="CasellaDiTesto 32"/>
          <p:cNvSpPr txBox="1"/>
          <p:nvPr/>
        </p:nvSpPr>
        <p:spPr>
          <a:xfrm>
            <a:off x="7300760" y="1212961"/>
            <a:ext cx="916967" cy="3727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040"/>
              </a:lnSpc>
            </a:pPr>
            <a:r>
              <a:rPr lang="en-US" sz="1400" dirty="0"/>
              <a:t>~</a:t>
            </a:r>
            <a:r>
              <a:rPr lang="it-IT" sz="1400" i="1" dirty="0" smtClean="0">
                <a:latin typeface="Arial"/>
                <a:cs typeface="Arial"/>
              </a:rPr>
              <a:t>50% </a:t>
            </a:r>
          </a:p>
          <a:p>
            <a:pPr>
              <a:lnSpc>
                <a:spcPts val="1040"/>
              </a:lnSpc>
            </a:pPr>
            <a:r>
              <a:rPr lang="it-IT" sz="1400" i="1" dirty="0" err="1" smtClean="0">
                <a:latin typeface="Arial"/>
                <a:cs typeface="Arial"/>
              </a:rPr>
              <a:t>detected</a:t>
            </a:r>
            <a:endParaRPr lang="it-IT" sz="1400" i="1" dirty="0">
              <a:latin typeface="Arial"/>
              <a:cs typeface="Arial"/>
            </a:endParaRPr>
          </a:p>
        </p:txBody>
      </p:sp>
      <p:sp>
        <p:nvSpPr>
          <p:cNvPr id="20" name="Line 492"/>
          <p:cNvSpPr>
            <a:spLocks noChangeShapeType="1"/>
          </p:cNvSpPr>
          <p:nvPr/>
        </p:nvSpPr>
        <p:spPr bwMode="auto">
          <a:xfrm>
            <a:off x="254000" y="8128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sp>
        <p:nvSpPr>
          <p:cNvPr id="21" name="CasellaDiTesto 3"/>
          <p:cNvSpPr txBox="1"/>
          <p:nvPr/>
        </p:nvSpPr>
        <p:spPr>
          <a:xfrm>
            <a:off x="845079" y="101024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How do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we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overcome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this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dirty="0" err="1" smtClean="0">
                <a:solidFill>
                  <a:srgbClr val="000090"/>
                </a:solidFill>
                <a:latin typeface="Arial"/>
                <a:cs typeface="Arial"/>
              </a:rPr>
              <a:t>problem</a:t>
            </a:r>
            <a:r>
              <a:rPr lang="it-IT" sz="3200" dirty="0" smtClean="0">
                <a:solidFill>
                  <a:srgbClr val="000090"/>
                </a:solidFill>
                <a:latin typeface="Arial"/>
                <a:cs typeface="Arial"/>
              </a:rPr>
              <a:t>?</a:t>
            </a:r>
            <a:endParaRPr lang="it-IT" sz="3200" dirty="0">
              <a:solidFill>
                <a:srgbClr val="00009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1398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203200" y="174306"/>
            <a:ext cx="87376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Final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considerations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for panel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development</a:t>
            </a:r>
            <a:endParaRPr lang="it-IT" sz="32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6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>
            <a:solidFill>
              <a:srgbClr val="8000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asellaDiTesto 31"/>
          <p:cNvSpPr txBox="1"/>
          <p:nvPr/>
        </p:nvSpPr>
        <p:spPr>
          <a:xfrm>
            <a:off x="211662" y="1045797"/>
            <a:ext cx="868468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 smtClean="0">
                <a:latin typeface="Arial"/>
                <a:cs typeface="Arial"/>
              </a:rPr>
              <a:t>Ideally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not</a:t>
            </a:r>
            <a:r>
              <a:rPr lang="it-IT" dirty="0" smtClean="0">
                <a:latin typeface="Arial"/>
                <a:cs typeface="Arial"/>
              </a:rPr>
              <a:t> a </a:t>
            </a:r>
            <a:r>
              <a:rPr lang="it-IT" dirty="0" err="1" smtClean="0">
                <a:latin typeface="Arial"/>
                <a:cs typeface="Arial"/>
              </a:rPr>
              <a:t>problem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if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compensation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is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very</a:t>
            </a:r>
            <a:r>
              <a:rPr lang="it-IT" dirty="0" smtClean="0">
                <a:latin typeface="Arial"/>
                <a:cs typeface="Arial"/>
              </a:rPr>
              <a:t> high </a:t>
            </a:r>
            <a:r>
              <a:rPr lang="it-IT" dirty="0" err="1" smtClean="0">
                <a:latin typeface="Arial"/>
                <a:cs typeface="Arial"/>
              </a:rPr>
              <a:t>between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fluors</a:t>
            </a:r>
            <a:r>
              <a:rPr lang="it-IT" dirty="0" smtClean="0">
                <a:latin typeface="Arial"/>
                <a:cs typeface="Arial"/>
              </a:rPr>
              <a:t> (</a:t>
            </a:r>
            <a:r>
              <a:rPr lang="it-IT" dirty="0" err="1" smtClean="0">
                <a:latin typeface="Arial"/>
                <a:cs typeface="Arial"/>
              </a:rPr>
              <a:t>need</a:t>
            </a:r>
            <a:r>
              <a:rPr lang="it-IT" dirty="0" smtClean="0">
                <a:latin typeface="Arial"/>
                <a:cs typeface="Arial"/>
              </a:rPr>
              <a:t> to be </a:t>
            </a:r>
            <a:r>
              <a:rPr lang="it-IT" dirty="0" err="1" smtClean="0">
                <a:latin typeface="Arial"/>
                <a:cs typeface="Arial"/>
              </a:rPr>
              <a:t>tested</a:t>
            </a:r>
            <a:r>
              <a:rPr lang="it-IT" dirty="0" smtClean="0">
                <a:latin typeface="Arial"/>
                <a:cs typeface="Arial"/>
              </a:rPr>
              <a:t> in </a:t>
            </a:r>
            <a:r>
              <a:rPr lang="it-IT" dirty="0" err="1" smtClean="0">
                <a:latin typeface="Arial"/>
                <a:cs typeface="Arial"/>
              </a:rPr>
              <a:t>any</a:t>
            </a:r>
            <a:r>
              <a:rPr lang="it-IT" dirty="0" smtClean="0">
                <a:latin typeface="Arial"/>
                <a:cs typeface="Arial"/>
              </a:rPr>
              <a:t> case)</a:t>
            </a:r>
          </a:p>
          <a:p>
            <a:endParaRPr lang="it-IT" dirty="0">
              <a:latin typeface="Arial"/>
              <a:cs typeface="Arial"/>
            </a:endParaRPr>
          </a:p>
          <a:p>
            <a:r>
              <a:rPr lang="it-IT" dirty="0" smtClean="0">
                <a:latin typeface="Arial"/>
                <a:cs typeface="Arial"/>
              </a:rPr>
              <a:t>Voltage </a:t>
            </a:r>
            <a:r>
              <a:rPr lang="it-IT" dirty="0" err="1" smtClean="0">
                <a:latin typeface="Arial"/>
                <a:cs typeface="Arial"/>
              </a:rPr>
              <a:t>amplification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determines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compensation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values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but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not</a:t>
            </a:r>
            <a:r>
              <a:rPr lang="it-IT" dirty="0" smtClean="0">
                <a:latin typeface="Arial"/>
                <a:cs typeface="Arial"/>
              </a:rPr>
              <a:t> the </a:t>
            </a:r>
            <a:r>
              <a:rPr lang="it-IT" dirty="0" err="1" smtClean="0">
                <a:latin typeface="Arial"/>
                <a:cs typeface="Arial"/>
              </a:rPr>
              <a:t>final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result</a:t>
            </a:r>
            <a:r>
              <a:rPr lang="it-IT" dirty="0" smtClean="0">
                <a:latin typeface="Arial"/>
                <a:cs typeface="Arial"/>
              </a:rPr>
              <a:t> (</a:t>
            </a:r>
            <a:r>
              <a:rPr lang="it-IT" dirty="0" err="1" smtClean="0">
                <a:latin typeface="Arial"/>
                <a:cs typeface="Arial"/>
              </a:rPr>
              <a:t>we</a:t>
            </a:r>
            <a:r>
              <a:rPr lang="it-IT" dirty="0" smtClean="0">
                <a:latin typeface="Arial"/>
                <a:cs typeface="Arial"/>
              </a:rPr>
              <a:t> are </a:t>
            </a:r>
            <a:r>
              <a:rPr lang="it-IT" dirty="0" err="1" smtClean="0">
                <a:latin typeface="Arial"/>
                <a:cs typeface="Arial"/>
              </a:rPr>
              <a:t>compensating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fluorescence</a:t>
            </a:r>
            <a:r>
              <a:rPr lang="it-IT" dirty="0" smtClean="0">
                <a:latin typeface="Arial"/>
                <a:cs typeface="Arial"/>
              </a:rPr>
              <a:t>) </a:t>
            </a:r>
          </a:p>
          <a:p>
            <a:endParaRPr lang="it-IT" dirty="0">
              <a:latin typeface="Arial"/>
              <a:cs typeface="Arial"/>
            </a:endParaRPr>
          </a:p>
          <a:p>
            <a:r>
              <a:rPr lang="it-IT" b="1" dirty="0" smtClean="0">
                <a:solidFill>
                  <a:srgbClr val="0000FF"/>
                </a:solidFill>
                <a:latin typeface="Arial"/>
                <a:cs typeface="Arial"/>
              </a:rPr>
              <a:t>No </a:t>
            </a:r>
            <a:r>
              <a:rPr lang="it-IT" b="1" dirty="0" err="1" smtClean="0">
                <a:solidFill>
                  <a:srgbClr val="0000FF"/>
                </a:solidFill>
                <a:latin typeface="Arial"/>
                <a:cs typeface="Arial"/>
              </a:rPr>
              <a:t>need</a:t>
            </a:r>
            <a:r>
              <a:rPr lang="it-IT" b="1" dirty="0" smtClean="0">
                <a:solidFill>
                  <a:srgbClr val="0000FF"/>
                </a:solidFill>
                <a:latin typeface="Arial"/>
                <a:cs typeface="Arial"/>
              </a:rPr>
              <a:t> to set </a:t>
            </a:r>
            <a:r>
              <a:rPr lang="it-IT" b="1" dirty="0" err="1" smtClean="0">
                <a:solidFill>
                  <a:srgbClr val="0000FF"/>
                </a:solidFill>
                <a:latin typeface="Arial"/>
                <a:cs typeface="Arial"/>
              </a:rPr>
              <a:t>voltages</a:t>
            </a:r>
            <a:r>
              <a:rPr lang="it-IT" b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such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that</a:t>
            </a:r>
            <a:r>
              <a:rPr lang="it-IT" dirty="0" smtClean="0">
                <a:latin typeface="Arial"/>
                <a:cs typeface="Arial"/>
              </a:rPr>
              <a:t> the </a:t>
            </a:r>
            <a:r>
              <a:rPr lang="it-IT" dirty="0" err="1" smtClean="0">
                <a:latin typeface="Arial"/>
                <a:cs typeface="Arial"/>
              </a:rPr>
              <a:t>signal</a:t>
            </a:r>
            <a:r>
              <a:rPr lang="it-IT" dirty="0" smtClean="0">
                <a:latin typeface="Arial"/>
                <a:cs typeface="Arial"/>
              </a:rPr>
              <a:t> in the </a:t>
            </a:r>
            <a:r>
              <a:rPr lang="it-IT" dirty="0" err="1" smtClean="0">
                <a:latin typeface="Arial"/>
                <a:cs typeface="Arial"/>
              </a:rPr>
              <a:t>primary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channel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is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brighter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than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that</a:t>
            </a:r>
            <a:r>
              <a:rPr lang="it-IT" dirty="0" smtClean="0">
                <a:latin typeface="Arial"/>
                <a:cs typeface="Arial"/>
              </a:rPr>
              <a:t> in the </a:t>
            </a:r>
            <a:r>
              <a:rPr lang="it-IT" dirty="0" err="1" smtClean="0">
                <a:latin typeface="Arial"/>
                <a:cs typeface="Arial"/>
              </a:rPr>
              <a:t>secondary</a:t>
            </a:r>
            <a:r>
              <a:rPr lang="it-IT" dirty="0" smtClean="0">
                <a:latin typeface="Arial"/>
                <a:cs typeface="Arial"/>
              </a:rPr>
              <a:t> </a:t>
            </a:r>
            <a:r>
              <a:rPr lang="it-IT" dirty="0" err="1" smtClean="0">
                <a:latin typeface="Arial"/>
                <a:cs typeface="Arial"/>
              </a:rPr>
              <a:t>channel</a:t>
            </a:r>
            <a:endParaRPr lang="it-IT" dirty="0" smtClean="0">
              <a:latin typeface="Arial"/>
              <a:cs typeface="Arial"/>
            </a:endParaRPr>
          </a:p>
          <a:p>
            <a:endParaRPr lang="it-IT" dirty="0">
              <a:latin typeface="Arial"/>
              <a:cs typeface="Arial"/>
            </a:endParaRPr>
          </a:p>
          <a:p>
            <a:r>
              <a:rPr lang="it-IT" sz="2000" b="1" dirty="0" smtClean="0">
                <a:solidFill>
                  <a:srgbClr val="0000FF"/>
                </a:solidFill>
                <a:latin typeface="Arial"/>
                <a:cs typeface="Arial"/>
              </a:rPr>
              <a:t>Spread of </a:t>
            </a:r>
            <a:r>
              <a:rPr lang="it-IT" sz="2000" b="1" dirty="0" err="1" smtClean="0">
                <a:solidFill>
                  <a:srgbClr val="0000FF"/>
                </a:solidFill>
                <a:latin typeface="Arial"/>
                <a:cs typeface="Arial"/>
              </a:rPr>
              <a:t>signals</a:t>
            </a:r>
            <a:r>
              <a:rPr lang="it-IT" sz="2000" b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000" b="1" dirty="0" err="1" smtClean="0">
                <a:solidFill>
                  <a:srgbClr val="0000FF"/>
                </a:solidFill>
                <a:latin typeface="Arial"/>
                <a:cs typeface="Arial"/>
              </a:rPr>
              <a:t>determines</a:t>
            </a:r>
            <a:r>
              <a:rPr lang="it-IT" sz="2000" b="1" dirty="0" smtClean="0">
                <a:solidFill>
                  <a:srgbClr val="0000FF"/>
                </a:solidFill>
                <a:latin typeface="Arial"/>
                <a:cs typeface="Arial"/>
              </a:rPr>
              <a:t> the success of </a:t>
            </a:r>
            <a:r>
              <a:rPr lang="it-IT" sz="2000" b="1" dirty="0" err="1" smtClean="0">
                <a:solidFill>
                  <a:srgbClr val="0000FF"/>
                </a:solidFill>
                <a:latin typeface="Arial"/>
                <a:cs typeface="Arial"/>
              </a:rPr>
              <a:t>multicolor</a:t>
            </a:r>
            <a:r>
              <a:rPr lang="it-IT" sz="2000" b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2000" b="1" dirty="0" err="1" smtClean="0">
                <a:solidFill>
                  <a:srgbClr val="0000FF"/>
                </a:solidFill>
                <a:latin typeface="Arial"/>
                <a:cs typeface="Arial"/>
              </a:rPr>
              <a:t>panels</a:t>
            </a:r>
            <a:endParaRPr lang="it-IT" sz="2000" b="1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pic>
        <p:nvPicPr>
          <p:cNvPr id="20" name="Immagin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311" y="4087281"/>
            <a:ext cx="2499208" cy="2431887"/>
          </a:xfrm>
          <a:prstGeom prst="rect">
            <a:avLst/>
          </a:prstGeom>
        </p:spPr>
      </p:pic>
      <p:sp>
        <p:nvSpPr>
          <p:cNvPr id="21" name="CasellaDiTesto 20"/>
          <p:cNvSpPr txBox="1"/>
          <p:nvPr/>
        </p:nvSpPr>
        <p:spPr>
          <a:xfrm>
            <a:off x="2845393" y="6408723"/>
            <a:ext cx="201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 smtClean="0">
                <a:latin typeface="Arial"/>
                <a:cs typeface="Arial"/>
              </a:rPr>
              <a:t>Primary</a:t>
            </a:r>
            <a:r>
              <a:rPr lang="it-IT" b="1" dirty="0" smtClean="0">
                <a:latin typeface="Arial"/>
                <a:cs typeface="Arial"/>
              </a:rPr>
              <a:t> detector</a:t>
            </a:r>
            <a:endParaRPr lang="it-IT" b="1" dirty="0">
              <a:latin typeface="Arial"/>
              <a:cs typeface="Arial"/>
            </a:endParaRPr>
          </a:p>
        </p:txBody>
      </p:sp>
      <p:sp>
        <p:nvSpPr>
          <p:cNvPr id="22" name="CasellaDiTesto 21"/>
          <p:cNvSpPr txBox="1"/>
          <p:nvPr/>
        </p:nvSpPr>
        <p:spPr>
          <a:xfrm rot="16200000">
            <a:off x="1007467" y="5054149"/>
            <a:ext cx="2339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 err="1" smtClean="0">
                <a:latin typeface="Arial"/>
                <a:cs typeface="Arial"/>
              </a:rPr>
              <a:t>Secondary</a:t>
            </a:r>
            <a:r>
              <a:rPr lang="it-IT" b="1" dirty="0" smtClean="0">
                <a:latin typeface="Arial"/>
                <a:cs typeface="Arial"/>
              </a:rPr>
              <a:t> detector</a:t>
            </a:r>
            <a:endParaRPr lang="it-IT" b="1" dirty="0">
              <a:latin typeface="Arial"/>
              <a:cs typeface="Arial"/>
            </a:endParaRPr>
          </a:p>
        </p:txBody>
      </p:sp>
      <p:sp>
        <p:nvSpPr>
          <p:cNvPr id="3" name="Rettangolo 2"/>
          <p:cNvSpPr/>
          <p:nvPr/>
        </p:nvSpPr>
        <p:spPr>
          <a:xfrm>
            <a:off x="2736819" y="4096806"/>
            <a:ext cx="2134189" cy="21547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7" name="Connettore 1 6"/>
          <p:cNvCxnSpPr/>
          <p:nvPr/>
        </p:nvCxnSpPr>
        <p:spPr>
          <a:xfrm flipV="1">
            <a:off x="2749519" y="4114800"/>
            <a:ext cx="2134189" cy="21240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e 8"/>
          <p:cNvSpPr>
            <a:spLocks noChangeAspect="1"/>
          </p:cNvSpPr>
          <p:nvPr/>
        </p:nvSpPr>
        <p:spPr>
          <a:xfrm>
            <a:off x="4394169" y="4464050"/>
            <a:ext cx="133715" cy="14400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CasellaDiTesto 33"/>
          <p:cNvSpPr txBox="1"/>
          <p:nvPr/>
        </p:nvSpPr>
        <p:spPr>
          <a:xfrm>
            <a:off x="5052018" y="4363535"/>
            <a:ext cx="24461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err="1" smtClean="0">
                <a:solidFill>
                  <a:srgbClr val="0000FF"/>
                </a:solidFill>
                <a:latin typeface="Arial"/>
                <a:cs typeface="Arial"/>
              </a:rPr>
              <a:t>Compensation</a:t>
            </a:r>
            <a:r>
              <a:rPr lang="it-IT" i="1" dirty="0" smtClean="0">
                <a:solidFill>
                  <a:srgbClr val="0000FF"/>
                </a:solidFill>
                <a:latin typeface="Arial"/>
                <a:cs typeface="Arial"/>
              </a:rPr>
              <a:t>: 100%</a:t>
            </a:r>
            <a:endParaRPr lang="it-IT" i="1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35" name="Ovale 34"/>
          <p:cNvSpPr>
            <a:spLocks noChangeAspect="1"/>
          </p:cNvSpPr>
          <p:nvPr/>
        </p:nvSpPr>
        <p:spPr>
          <a:xfrm>
            <a:off x="4387485" y="5446184"/>
            <a:ext cx="133715" cy="144000"/>
          </a:xfrm>
          <a:prstGeom prst="ellipse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CasellaDiTesto 35"/>
          <p:cNvSpPr txBox="1"/>
          <p:nvPr/>
        </p:nvSpPr>
        <p:spPr>
          <a:xfrm>
            <a:off x="5052018" y="4732867"/>
            <a:ext cx="25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err="1" smtClean="0">
                <a:solidFill>
                  <a:srgbClr val="FF6600"/>
                </a:solidFill>
                <a:latin typeface="Arial"/>
                <a:cs typeface="Arial"/>
              </a:rPr>
              <a:t>Compensation</a:t>
            </a:r>
            <a:r>
              <a:rPr lang="it-IT" i="1" dirty="0" smtClean="0">
                <a:solidFill>
                  <a:srgbClr val="FF6600"/>
                </a:solidFill>
                <a:latin typeface="Arial"/>
                <a:cs typeface="Arial"/>
              </a:rPr>
              <a:t>: &lt;100%</a:t>
            </a:r>
            <a:endParaRPr lang="it-IT" i="1" dirty="0">
              <a:solidFill>
                <a:srgbClr val="FF6600"/>
              </a:solidFill>
              <a:latin typeface="Arial"/>
              <a:cs typeface="Arial"/>
            </a:endParaRPr>
          </a:p>
        </p:txBody>
      </p:sp>
      <p:sp>
        <p:nvSpPr>
          <p:cNvPr id="37" name="CasellaDiTesto 36"/>
          <p:cNvSpPr txBox="1"/>
          <p:nvPr/>
        </p:nvSpPr>
        <p:spPr>
          <a:xfrm>
            <a:off x="5052018" y="5220852"/>
            <a:ext cx="2580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 err="1" smtClean="0">
                <a:solidFill>
                  <a:srgbClr val="660066"/>
                </a:solidFill>
                <a:latin typeface="Arial"/>
                <a:cs typeface="Arial"/>
              </a:rPr>
              <a:t>Compensation</a:t>
            </a:r>
            <a:r>
              <a:rPr lang="it-IT" i="1" dirty="0" smtClean="0">
                <a:solidFill>
                  <a:srgbClr val="660066"/>
                </a:solidFill>
                <a:latin typeface="Arial"/>
                <a:cs typeface="Arial"/>
              </a:rPr>
              <a:t>: &gt;100%</a:t>
            </a:r>
            <a:endParaRPr lang="it-IT" i="1" dirty="0">
              <a:solidFill>
                <a:srgbClr val="660066"/>
              </a:solidFill>
              <a:latin typeface="Arial"/>
              <a:cs typeface="Arial"/>
            </a:endParaRPr>
          </a:p>
        </p:txBody>
      </p:sp>
      <p:sp>
        <p:nvSpPr>
          <p:cNvPr id="38" name="Ovale 37"/>
          <p:cNvSpPr>
            <a:spLocks noChangeAspect="1"/>
          </p:cNvSpPr>
          <p:nvPr/>
        </p:nvSpPr>
        <p:spPr>
          <a:xfrm>
            <a:off x="3964152" y="4150851"/>
            <a:ext cx="133715" cy="144000"/>
          </a:xfrm>
          <a:prstGeom prst="ellipse">
            <a:avLst/>
          </a:prstGeom>
          <a:solidFill>
            <a:srgbClr val="8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0107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91"/>
          <p:cNvSpPr>
            <a:spLocks/>
          </p:cNvSpPr>
          <p:nvPr/>
        </p:nvSpPr>
        <p:spPr bwMode="auto">
          <a:xfrm>
            <a:off x="251520" y="109538"/>
            <a:ext cx="864096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/>
            <a:r>
              <a:rPr lang="en-US" sz="3600" dirty="0" smtClean="0">
                <a:solidFill>
                  <a:srgbClr val="000090"/>
                </a:solidFill>
                <a:latin typeface="Arial Bold" charset="0"/>
                <a:cs typeface="Arial Bold" charset="0"/>
                <a:sym typeface="Arial Bold" charset="0"/>
              </a:rPr>
              <a:t>Define markers to be used</a:t>
            </a:r>
            <a:endParaRPr lang="en-US" sz="3600" dirty="0">
              <a:solidFill>
                <a:srgbClr val="000090"/>
              </a:solidFill>
              <a:latin typeface="Arial Bold" charset="0"/>
              <a:cs typeface="Arial Bold" charset="0"/>
              <a:sym typeface="Arial Bold" charset="0"/>
            </a:endParaRPr>
          </a:p>
        </p:txBody>
      </p:sp>
      <p:sp>
        <p:nvSpPr>
          <p:cNvPr id="6" name="Line 492"/>
          <p:cNvSpPr>
            <a:spLocks noChangeShapeType="1"/>
          </p:cNvSpPr>
          <p:nvPr/>
        </p:nvSpPr>
        <p:spPr bwMode="auto">
          <a:xfrm>
            <a:off x="254000" y="8128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sp>
        <p:nvSpPr>
          <p:cNvPr id="7" name="CasellaDiTesto 6"/>
          <p:cNvSpPr txBox="1"/>
          <p:nvPr/>
        </p:nvSpPr>
        <p:spPr>
          <a:xfrm>
            <a:off x="395536" y="1224752"/>
            <a:ext cx="8172908" cy="42473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900"/>
              </a:spcAft>
            </a:pPr>
            <a:r>
              <a:rPr lang="it-IT" sz="2400" dirty="0" smtClean="0">
                <a:solidFill>
                  <a:srgbClr val="FF0000"/>
                </a:solidFill>
              </a:rPr>
              <a:t>Dead </a:t>
            </a:r>
            <a:r>
              <a:rPr lang="it-IT" sz="2400" dirty="0" err="1" smtClean="0">
                <a:solidFill>
                  <a:srgbClr val="FF0000"/>
                </a:solidFill>
              </a:rPr>
              <a:t>cell</a:t>
            </a:r>
            <a:r>
              <a:rPr lang="it-IT" sz="2400" dirty="0" smtClean="0">
                <a:solidFill>
                  <a:srgbClr val="FF000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exclusion</a:t>
            </a:r>
            <a:r>
              <a:rPr lang="it-IT" sz="2400" dirty="0" smtClean="0">
                <a:solidFill>
                  <a:srgbClr val="000090"/>
                </a:solidFill>
              </a:rPr>
              <a:t>: </a:t>
            </a:r>
            <a:r>
              <a:rPr lang="it-IT" sz="2400" dirty="0" err="1" smtClean="0">
                <a:solidFill>
                  <a:srgbClr val="000090"/>
                </a:solidFill>
              </a:rPr>
              <a:t>Aqua</a:t>
            </a:r>
            <a:r>
              <a:rPr lang="it-IT" sz="2400" dirty="0" smtClean="0">
                <a:solidFill>
                  <a:srgbClr val="000090"/>
                </a:solidFill>
              </a:rPr>
              <a:t> Zombie live/dead discriminator</a:t>
            </a:r>
          </a:p>
          <a:p>
            <a:pPr>
              <a:spcAft>
                <a:spcPts val="900"/>
              </a:spcAft>
            </a:pPr>
            <a:r>
              <a:rPr lang="it-IT" sz="2400" dirty="0" err="1" smtClean="0">
                <a:solidFill>
                  <a:srgbClr val="FF0000"/>
                </a:solidFill>
              </a:rPr>
              <a:t>Lineage</a:t>
            </a:r>
            <a:r>
              <a:rPr lang="it-IT" sz="2400" dirty="0" smtClean="0">
                <a:solidFill>
                  <a:srgbClr val="000090"/>
                </a:solidFill>
              </a:rPr>
              <a:t>: CD3, CD4, CD8, </a:t>
            </a:r>
            <a:r>
              <a:rPr lang="it-IT" sz="2400" i="1" dirty="0" smtClean="0">
                <a:solidFill>
                  <a:srgbClr val="8000FF"/>
                </a:solidFill>
              </a:rPr>
              <a:t>CD45 (optional? </a:t>
            </a:r>
            <a:r>
              <a:rPr lang="it-IT" sz="2400" i="1" dirty="0" smtClean="0">
                <a:solidFill>
                  <a:srgbClr val="8000FF"/>
                </a:solidFill>
                <a:sym typeface="Wingdings"/>
              </a:rPr>
              <a:t> </a:t>
            </a:r>
            <a:r>
              <a:rPr lang="it-IT" sz="2400" i="1" dirty="0" err="1" smtClean="0">
                <a:solidFill>
                  <a:srgbClr val="8000FF"/>
                </a:solidFill>
                <a:sym typeface="Wingdings"/>
              </a:rPr>
              <a:t>save</a:t>
            </a:r>
            <a:r>
              <a:rPr lang="it-IT" sz="2400" i="1" dirty="0" smtClean="0">
                <a:solidFill>
                  <a:srgbClr val="8000FF"/>
                </a:solidFill>
                <a:sym typeface="Wingdings"/>
              </a:rPr>
              <a:t> </a:t>
            </a:r>
            <a:r>
              <a:rPr lang="it-IT" sz="2400" i="1" dirty="0" err="1" smtClean="0">
                <a:solidFill>
                  <a:srgbClr val="8000FF"/>
                </a:solidFill>
                <a:sym typeface="Wingdings"/>
              </a:rPr>
              <a:t>one</a:t>
            </a:r>
            <a:r>
              <a:rPr lang="it-IT" sz="2400" i="1" dirty="0" smtClean="0">
                <a:solidFill>
                  <a:srgbClr val="8000FF"/>
                </a:solidFill>
                <a:sym typeface="Wingdings"/>
              </a:rPr>
              <a:t> </a:t>
            </a:r>
            <a:r>
              <a:rPr lang="it-IT" sz="2400" i="1" dirty="0" err="1" smtClean="0">
                <a:solidFill>
                  <a:srgbClr val="8000FF"/>
                </a:solidFill>
                <a:sym typeface="Wingdings"/>
              </a:rPr>
              <a:t>channel</a:t>
            </a:r>
            <a:r>
              <a:rPr lang="it-IT" sz="2400" i="1" dirty="0" smtClean="0">
                <a:solidFill>
                  <a:srgbClr val="8000FF"/>
                </a:solidFill>
              </a:rPr>
              <a:t>)</a:t>
            </a:r>
            <a:endParaRPr lang="it-IT" sz="2400" i="1" dirty="0">
              <a:solidFill>
                <a:srgbClr val="8000FF"/>
              </a:solidFill>
            </a:endParaRPr>
          </a:p>
          <a:p>
            <a:pPr>
              <a:spcAft>
                <a:spcPts val="900"/>
              </a:spcAft>
            </a:pPr>
            <a:r>
              <a:rPr lang="it-IT" sz="2400" dirty="0" smtClean="0">
                <a:solidFill>
                  <a:srgbClr val="FF0000"/>
                </a:solidFill>
              </a:rPr>
              <a:t>Memory </a:t>
            </a:r>
            <a:r>
              <a:rPr lang="it-IT" sz="2400" dirty="0" err="1" smtClean="0">
                <a:solidFill>
                  <a:srgbClr val="FF0000"/>
                </a:solidFill>
              </a:rPr>
              <a:t>differentiation</a:t>
            </a:r>
            <a:r>
              <a:rPr lang="it-IT" sz="2400" dirty="0" smtClean="0">
                <a:solidFill>
                  <a:srgbClr val="000090"/>
                </a:solidFill>
              </a:rPr>
              <a:t>: CD45RO, CCR7, CD95, CD27, CD57 (minimum set of </a:t>
            </a:r>
            <a:r>
              <a:rPr lang="it-IT" sz="2400" dirty="0" err="1" smtClean="0">
                <a:solidFill>
                  <a:srgbClr val="000090"/>
                </a:solidFill>
              </a:rPr>
              <a:t>markers</a:t>
            </a:r>
            <a:r>
              <a:rPr lang="it-IT" sz="2400" dirty="0" smtClean="0">
                <a:solidFill>
                  <a:srgbClr val="000090"/>
                </a:solidFill>
              </a:rPr>
              <a:t> to </a:t>
            </a:r>
            <a:r>
              <a:rPr lang="it-IT" sz="2400" dirty="0" err="1" smtClean="0">
                <a:solidFill>
                  <a:srgbClr val="000090"/>
                </a:solidFill>
              </a:rPr>
              <a:t>identify</a:t>
            </a:r>
            <a:r>
              <a:rPr lang="it-IT" sz="2400" dirty="0" smtClean="0">
                <a:solidFill>
                  <a:srgbClr val="000090"/>
                </a:solidFill>
              </a:rPr>
              <a:t> naïve and </a:t>
            </a:r>
            <a:r>
              <a:rPr lang="it-IT" sz="2400" dirty="0" err="1" smtClean="0">
                <a:solidFill>
                  <a:srgbClr val="000090"/>
                </a:solidFill>
              </a:rPr>
              <a:t>memory</a:t>
            </a:r>
            <a:r>
              <a:rPr lang="it-IT" sz="2400" dirty="0" smtClean="0">
                <a:solidFill>
                  <a:srgbClr val="000090"/>
                </a:solidFill>
              </a:rPr>
              <a:t> T </a:t>
            </a:r>
            <a:r>
              <a:rPr lang="it-IT" sz="2400" dirty="0" err="1" smtClean="0">
                <a:solidFill>
                  <a:srgbClr val="000090"/>
                </a:solidFill>
              </a:rPr>
              <a:t>cell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subsets</a:t>
            </a:r>
            <a:r>
              <a:rPr lang="it-IT" sz="2400" dirty="0" smtClean="0">
                <a:solidFill>
                  <a:srgbClr val="000090"/>
                </a:solidFill>
              </a:rPr>
              <a:t> – </a:t>
            </a:r>
            <a:r>
              <a:rPr lang="it-IT" sz="2400" i="1" dirty="0" smtClean="0">
                <a:solidFill>
                  <a:srgbClr val="000090"/>
                </a:solidFill>
              </a:rPr>
              <a:t>Lugli, </a:t>
            </a:r>
            <a:r>
              <a:rPr lang="it-IT" sz="2400" i="1" dirty="0" err="1" smtClean="0">
                <a:solidFill>
                  <a:srgbClr val="000090"/>
                </a:solidFill>
              </a:rPr>
              <a:t>Nat</a:t>
            </a:r>
            <a:r>
              <a:rPr lang="it-IT" sz="2400" i="1" dirty="0" smtClean="0">
                <a:solidFill>
                  <a:srgbClr val="000090"/>
                </a:solidFill>
              </a:rPr>
              <a:t> </a:t>
            </a:r>
            <a:r>
              <a:rPr lang="it-IT" sz="2400" i="1" dirty="0" err="1" smtClean="0">
                <a:solidFill>
                  <a:srgbClr val="000090"/>
                </a:solidFill>
              </a:rPr>
              <a:t>Protoc</a:t>
            </a:r>
            <a:r>
              <a:rPr lang="it-IT" sz="2400" i="1" dirty="0" smtClean="0">
                <a:solidFill>
                  <a:srgbClr val="000090"/>
                </a:solidFill>
              </a:rPr>
              <a:t>, 2013</a:t>
            </a:r>
            <a:r>
              <a:rPr lang="it-IT" sz="2400" dirty="0" smtClean="0">
                <a:solidFill>
                  <a:srgbClr val="000090"/>
                </a:solidFill>
              </a:rPr>
              <a:t>)</a:t>
            </a:r>
            <a:endParaRPr lang="it-IT" sz="2400" dirty="0">
              <a:solidFill>
                <a:srgbClr val="000090"/>
              </a:solidFill>
            </a:endParaRPr>
          </a:p>
          <a:p>
            <a:pPr>
              <a:spcAft>
                <a:spcPts val="900"/>
              </a:spcAft>
            </a:pPr>
            <a:r>
              <a:rPr lang="it-IT" sz="2400" dirty="0" err="1" smtClean="0">
                <a:solidFill>
                  <a:srgbClr val="000090"/>
                </a:solidFill>
              </a:rPr>
              <a:t>Defining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smtClean="0">
                <a:solidFill>
                  <a:srgbClr val="FF0000"/>
                </a:solidFill>
              </a:rPr>
              <a:t>T </a:t>
            </a:r>
            <a:r>
              <a:rPr lang="it-IT" sz="2400" dirty="0" err="1" smtClean="0">
                <a:solidFill>
                  <a:srgbClr val="FF0000"/>
                </a:solidFill>
              </a:rPr>
              <a:t>cell</a:t>
            </a:r>
            <a:r>
              <a:rPr lang="it-IT" sz="2400" dirty="0" smtClean="0">
                <a:solidFill>
                  <a:srgbClr val="FF0000"/>
                </a:solidFill>
              </a:rPr>
              <a:t> </a:t>
            </a:r>
            <a:r>
              <a:rPr lang="it-IT" sz="2400" dirty="0" err="1" smtClean="0">
                <a:solidFill>
                  <a:srgbClr val="FF0000"/>
                </a:solidFill>
              </a:rPr>
              <a:t>exhaustion</a:t>
            </a:r>
            <a:r>
              <a:rPr lang="it-IT" sz="2400" dirty="0" smtClean="0">
                <a:solidFill>
                  <a:srgbClr val="FF0000"/>
                </a:solidFill>
              </a:rPr>
              <a:t> </a:t>
            </a:r>
            <a:r>
              <a:rPr lang="it-IT" sz="2400" dirty="0" smtClean="0">
                <a:solidFill>
                  <a:srgbClr val="000090"/>
                </a:solidFill>
              </a:rPr>
              <a:t>and </a:t>
            </a:r>
            <a:r>
              <a:rPr lang="it-IT" sz="2400" dirty="0" err="1" smtClean="0">
                <a:solidFill>
                  <a:srgbClr val="FF0000"/>
                </a:solidFill>
              </a:rPr>
              <a:t>activation</a:t>
            </a:r>
            <a:r>
              <a:rPr lang="it-IT" sz="2400" dirty="0" smtClean="0">
                <a:solidFill>
                  <a:srgbClr val="000090"/>
                </a:solidFill>
              </a:rPr>
              <a:t>: PD-1 (</a:t>
            </a:r>
            <a:r>
              <a:rPr lang="it-IT" sz="2400" dirty="0" err="1" smtClean="0">
                <a:solidFill>
                  <a:srgbClr val="000090"/>
                </a:solidFill>
              </a:rPr>
              <a:t>exhaustion</a:t>
            </a:r>
            <a:r>
              <a:rPr lang="it-IT" sz="2400" dirty="0" smtClean="0">
                <a:solidFill>
                  <a:srgbClr val="000090"/>
                </a:solidFill>
              </a:rPr>
              <a:t>), HLA-DR (</a:t>
            </a:r>
            <a:r>
              <a:rPr lang="it-IT" sz="2400" dirty="0" err="1" smtClean="0">
                <a:solidFill>
                  <a:srgbClr val="000090"/>
                </a:solidFill>
              </a:rPr>
              <a:t>activation</a:t>
            </a:r>
            <a:r>
              <a:rPr lang="it-IT" sz="2400" dirty="0" smtClean="0">
                <a:solidFill>
                  <a:srgbClr val="000090"/>
                </a:solidFill>
              </a:rPr>
              <a:t>), </a:t>
            </a:r>
            <a:r>
              <a:rPr lang="it-IT" sz="2400" dirty="0" err="1" smtClean="0">
                <a:solidFill>
                  <a:srgbClr val="000090"/>
                </a:solidFill>
              </a:rPr>
              <a:t>Granzyme</a:t>
            </a:r>
            <a:r>
              <a:rPr lang="it-IT" sz="2400" dirty="0" smtClean="0">
                <a:solidFill>
                  <a:srgbClr val="000090"/>
                </a:solidFill>
              </a:rPr>
              <a:t> B and </a:t>
            </a:r>
            <a:r>
              <a:rPr lang="it-IT" sz="2400" dirty="0" err="1" smtClean="0">
                <a:solidFill>
                  <a:srgbClr val="000090"/>
                </a:solidFill>
              </a:rPr>
              <a:t>Perforin</a:t>
            </a:r>
            <a:r>
              <a:rPr lang="it-IT" sz="2400" dirty="0" smtClean="0">
                <a:solidFill>
                  <a:srgbClr val="000090"/>
                </a:solidFill>
              </a:rPr>
              <a:t> (</a:t>
            </a:r>
            <a:r>
              <a:rPr lang="it-IT" sz="2400" dirty="0" err="1" smtClean="0">
                <a:solidFill>
                  <a:srgbClr val="000090"/>
                </a:solidFill>
              </a:rPr>
              <a:t>cytotoxicity</a:t>
            </a:r>
            <a:r>
              <a:rPr lang="it-IT" sz="2400" dirty="0" smtClean="0">
                <a:solidFill>
                  <a:srgbClr val="000090"/>
                </a:solidFill>
              </a:rPr>
              <a:t>; T </a:t>
            </a:r>
            <a:r>
              <a:rPr lang="it-IT" sz="2400" dirty="0" err="1" smtClean="0">
                <a:solidFill>
                  <a:srgbClr val="000090"/>
                </a:solidFill>
              </a:rPr>
              <a:t>cells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may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still</a:t>
            </a:r>
            <a:r>
              <a:rPr lang="it-IT" sz="2400" dirty="0" smtClean="0">
                <a:solidFill>
                  <a:srgbClr val="000090"/>
                </a:solidFill>
              </a:rPr>
              <a:t> be </a:t>
            </a:r>
            <a:r>
              <a:rPr lang="it-IT" sz="2400" dirty="0" err="1" smtClean="0">
                <a:solidFill>
                  <a:srgbClr val="000090"/>
                </a:solidFill>
              </a:rPr>
              <a:t>cytotoxic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even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though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inhibited</a:t>
            </a:r>
            <a:r>
              <a:rPr lang="it-IT" sz="2400" dirty="0" smtClean="0">
                <a:solidFill>
                  <a:srgbClr val="000090"/>
                </a:solidFill>
              </a:rPr>
              <a:t>), T-</a:t>
            </a:r>
            <a:r>
              <a:rPr lang="it-IT" sz="2400" dirty="0" err="1" smtClean="0">
                <a:solidFill>
                  <a:srgbClr val="000090"/>
                </a:solidFill>
              </a:rPr>
              <a:t>bet</a:t>
            </a:r>
            <a:r>
              <a:rPr lang="it-IT" sz="2400" dirty="0" smtClean="0">
                <a:solidFill>
                  <a:srgbClr val="000090"/>
                </a:solidFill>
              </a:rPr>
              <a:t> and </a:t>
            </a:r>
            <a:r>
              <a:rPr lang="it-IT" sz="2400" dirty="0" err="1" smtClean="0">
                <a:solidFill>
                  <a:srgbClr val="000090"/>
                </a:solidFill>
              </a:rPr>
              <a:t>Eomes</a:t>
            </a:r>
            <a:r>
              <a:rPr lang="it-IT" sz="2400" dirty="0" smtClean="0">
                <a:solidFill>
                  <a:srgbClr val="000090"/>
                </a:solidFill>
              </a:rPr>
              <a:t> (</a:t>
            </a:r>
            <a:r>
              <a:rPr lang="it-IT" sz="2400" dirty="0" err="1" smtClean="0">
                <a:solidFill>
                  <a:srgbClr val="000090"/>
                </a:solidFill>
              </a:rPr>
              <a:t>effector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functions</a:t>
            </a:r>
            <a:r>
              <a:rPr lang="it-IT" sz="2400" dirty="0" smtClean="0">
                <a:solidFill>
                  <a:srgbClr val="000090"/>
                </a:solidFill>
              </a:rPr>
              <a:t>)</a:t>
            </a:r>
            <a:endParaRPr lang="it-IT" sz="2400" dirty="0">
              <a:solidFill>
                <a:srgbClr val="000090"/>
              </a:solidFill>
            </a:endParaRPr>
          </a:p>
          <a:p>
            <a:pPr>
              <a:spcAft>
                <a:spcPts val="900"/>
              </a:spcAft>
            </a:pPr>
            <a:r>
              <a:rPr lang="it-IT" sz="2400" dirty="0" err="1" smtClean="0">
                <a:solidFill>
                  <a:srgbClr val="FF0000"/>
                </a:solidFill>
              </a:rPr>
              <a:t>Resident</a:t>
            </a:r>
            <a:r>
              <a:rPr lang="it-IT" sz="2400" dirty="0" smtClean="0">
                <a:solidFill>
                  <a:srgbClr val="FF0000"/>
                </a:solidFill>
              </a:rPr>
              <a:t> or </a:t>
            </a:r>
            <a:r>
              <a:rPr lang="it-IT" sz="2400" dirty="0" err="1" smtClean="0">
                <a:solidFill>
                  <a:srgbClr val="FF0000"/>
                </a:solidFill>
              </a:rPr>
              <a:t>circulating</a:t>
            </a:r>
            <a:r>
              <a:rPr lang="it-IT" sz="2400" dirty="0" smtClean="0">
                <a:solidFill>
                  <a:srgbClr val="000090"/>
                </a:solidFill>
              </a:rPr>
              <a:t> </a:t>
            </a:r>
            <a:r>
              <a:rPr lang="it-IT" sz="2400" dirty="0" err="1" smtClean="0">
                <a:solidFill>
                  <a:srgbClr val="000090"/>
                </a:solidFill>
              </a:rPr>
              <a:t>memory</a:t>
            </a:r>
            <a:r>
              <a:rPr lang="it-IT" sz="2400" dirty="0" smtClean="0">
                <a:solidFill>
                  <a:srgbClr val="000090"/>
                </a:solidFill>
              </a:rPr>
              <a:t> pattern: CD69</a:t>
            </a:r>
          </a:p>
        </p:txBody>
      </p:sp>
    </p:spTree>
    <p:extLst>
      <p:ext uri="{BB962C8B-B14F-4D97-AF65-F5344CB8AC3E}">
        <p14:creationId xmlns:p14="http://schemas.microsoft.com/office/powerpoint/2010/main" val="125724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5715"/>
            <a:ext cx="9144000" cy="6863715"/>
          </a:xfrm>
          <a:prstGeom prst="rect">
            <a:avLst/>
          </a:prstGeom>
        </p:spPr>
      </p:pic>
      <p:sp>
        <p:nvSpPr>
          <p:cNvPr id="76802" name="CasellaDiTesto 3"/>
          <p:cNvSpPr txBox="1">
            <a:spLocks noChangeArrowheads="1"/>
          </p:cNvSpPr>
          <p:nvPr/>
        </p:nvSpPr>
        <p:spPr bwMode="auto">
          <a:xfrm>
            <a:off x="76200" y="76200"/>
            <a:ext cx="457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l"/>
            <a:r>
              <a:rPr lang="it-IT" sz="4000" i="1" dirty="0" err="1" smtClean="0">
                <a:solidFill>
                  <a:schemeClr val="bg1"/>
                </a:solidFill>
                <a:latin typeface="Arial"/>
                <a:cs typeface="Arial"/>
              </a:rPr>
              <a:t>Is</a:t>
            </a:r>
            <a:r>
              <a:rPr lang="it-IT" sz="4000" i="1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it-IT" sz="4000" i="1" dirty="0" err="1" smtClean="0">
                <a:solidFill>
                  <a:schemeClr val="bg1"/>
                </a:solidFill>
                <a:latin typeface="Arial"/>
                <a:cs typeface="Arial"/>
              </a:rPr>
              <a:t>this</a:t>
            </a:r>
            <a:r>
              <a:rPr lang="it-IT" sz="4000" i="1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it-IT" sz="4000" i="1" dirty="0" err="1" smtClean="0">
                <a:solidFill>
                  <a:schemeClr val="bg1"/>
                </a:solidFill>
                <a:latin typeface="Arial"/>
                <a:cs typeface="Arial"/>
              </a:rPr>
              <a:t>panel</a:t>
            </a:r>
            <a:r>
              <a:rPr lang="it-IT" sz="4000" i="1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it-IT" sz="4000" i="1" dirty="0" err="1" smtClean="0">
                <a:solidFill>
                  <a:schemeClr val="bg1"/>
                </a:solidFill>
                <a:latin typeface="Arial"/>
                <a:cs typeface="Arial"/>
              </a:rPr>
              <a:t>going</a:t>
            </a:r>
            <a:r>
              <a:rPr lang="it-IT" sz="4000" i="1" dirty="0" smtClean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it-IT" sz="4000" i="1" dirty="0" err="1" smtClean="0">
                <a:solidFill>
                  <a:schemeClr val="bg1"/>
                </a:solidFill>
                <a:latin typeface="Arial"/>
                <a:cs typeface="Arial"/>
              </a:rPr>
              <a:t>to</a:t>
            </a:r>
            <a:r>
              <a:rPr lang="it-IT" sz="4000" i="1" dirty="0" smtClean="0">
                <a:solidFill>
                  <a:schemeClr val="bg1"/>
                </a:solidFill>
                <a:latin typeface="Arial"/>
                <a:cs typeface="Arial"/>
              </a:rPr>
              <a:t> work?</a:t>
            </a:r>
            <a:endParaRPr lang="it-IT" sz="4000" i="1" dirty="0">
              <a:solidFill>
                <a:schemeClr val="bg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1" name="Immagin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6802" name="CasellaDiTesto 3"/>
          <p:cNvSpPr txBox="1">
            <a:spLocks noChangeArrowheads="1"/>
          </p:cNvSpPr>
          <p:nvPr/>
        </p:nvSpPr>
        <p:spPr bwMode="auto">
          <a:xfrm>
            <a:off x="76200" y="76200"/>
            <a:ext cx="5475288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it-IT" sz="4000" dirty="0" err="1">
                <a:solidFill>
                  <a:schemeClr val="bg1"/>
                </a:solidFill>
                <a:latin typeface="Arial"/>
                <a:cs typeface="Arial"/>
              </a:rPr>
              <a:t>It</a:t>
            </a:r>
            <a:r>
              <a:rPr lang="it-IT" sz="40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it-IT" sz="4000" dirty="0" err="1">
                <a:solidFill>
                  <a:schemeClr val="bg1"/>
                </a:solidFill>
                <a:latin typeface="Arial"/>
                <a:cs typeface="Arial"/>
              </a:rPr>
              <a:t>is</a:t>
            </a:r>
            <a:r>
              <a:rPr lang="it-IT" sz="40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it-IT" sz="4000" dirty="0" err="1">
                <a:solidFill>
                  <a:schemeClr val="bg1"/>
                </a:solidFill>
                <a:latin typeface="Arial"/>
                <a:cs typeface="Arial"/>
              </a:rPr>
              <a:t>difficult</a:t>
            </a:r>
            <a:r>
              <a:rPr lang="it-IT" sz="40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it-IT" sz="4000" dirty="0" err="1">
                <a:solidFill>
                  <a:schemeClr val="bg1"/>
                </a:solidFill>
                <a:latin typeface="Arial"/>
                <a:cs typeface="Arial"/>
              </a:rPr>
              <a:t>to</a:t>
            </a:r>
            <a:r>
              <a:rPr lang="it-IT" sz="4000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lang="it-IT" sz="4000" dirty="0" err="1">
                <a:solidFill>
                  <a:schemeClr val="bg1"/>
                </a:solidFill>
                <a:latin typeface="Arial"/>
                <a:cs typeface="Arial"/>
              </a:rPr>
              <a:t>predict</a:t>
            </a:r>
            <a:r>
              <a:rPr lang="it-IT" sz="4000" dirty="0">
                <a:solidFill>
                  <a:schemeClr val="bg1"/>
                </a:solidFill>
                <a:latin typeface="Arial"/>
                <a:cs typeface="Arial"/>
              </a:rPr>
              <a:t>, </a:t>
            </a:r>
            <a:r>
              <a:rPr lang="it-IT" sz="4000" dirty="0" err="1">
                <a:solidFill>
                  <a:schemeClr val="bg1"/>
                </a:solidFill>
                <a:latin typeface="Arial"/>
                <a:cs typeface="Arial"/>
              </a:rPr>
              <a:t>especially</a:t>
            </a:r>
            <a:r>
              <a:rPr lang="it-IT" sz="4000" dirty="0">
                <a:solidFill>
                  <a:schemeClr val="bg1"/>
                </a:solidFill>
                <a:latin typeface="Arial"/>
                <a:cs typeface="Arial"/>
              </a:rPr>
              <a:t> the future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91"/>
          <p:cNvSpPr>
            <a:spLocks/>
          </p:cNvSpPr>
          <p:nvPr/>
        </p:nvSpPr>
        <p:spPr bwMode="auto">
          <a:xfrm>
            <a:off x="251520" y="109538"/>
            <a:ext cx="864096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/>
            <a:r>
              <a:rPr lang="en-US" sz="3600" dirty="0" smtClean="0">
                <a:solidFill>
                  <a:srgbClr val="000090"/>
                </a:solidFill>
                <a:latin typeface="Arial Bold" charset="0"/>
                <a:cs typeface="Arial Bold" charset="0"/>
                <a:sym typeface="Arial Bold" charset="0"/>
              </a:rPr>
              <a:t>Titrate every single reagent</a:t>
            </a:r>
            <a:endParaRPr lang="en-US" sz="3600" dirty="0">
              <a:solidFill>
                <a:srgbClr val="000090"/>
              </a:solidFill>
              <a:latin typeface="Arial Bold" charset="0"/>
              <a:cs typeface="Arial Bold" charset="0"/>
              <a:sym typeface="Arial Bold" charset="0"/>
            </a:endParaRPr>
          </a:p>
        </p:txBody>
      </p:sp>
      <p:sp>
        <p:nvSpPr>
          <p:cNvPr id="6" name="Line 492"/>
          <p:cNvSpPr>
            <a:spLocks noChangeShapeType="1"/>
          </p:cNvSpPr>
          <p:nvPr/>
        </p:nvSpPr>
        <p:spPr bwMode="auto">
          <a:xfrm>
            <a:off x="254000" y="8128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sp>
        <p:nvSpPr>
          <p:cNvPr id="8" name="Rectangle 52"/>
          <p:cNvSpPr>
            <a:spLocks/>
          </p:cNvSpPr>
          <p:nvPr/>
        </p:nvSpPr>
        <p:spPr bwMode="auto">
          <a:xfrm>
            <a:off x="228600" y="990600"/>
            <a:ext cx="859187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 algn="l">
              <a:spcAft>
                <a:spcPts val="600"/>
              </a:spcAft>
            </a:pPr>
            <a:r>
              <a:rPr lang="en-US" sz="1600" i="1" dirty="0" smtClean="0">
                <a:solidFill>
                  <a:schemeClr val="tx1"/>
                </a:solidFill>
                <a:latin typeface="Arial Italic" charset="0"/>
                <a:cs typeface="Arial Italic" charset="0"/>
                <a:sym typeface="Arial Italic" charset="0"/>
              </a:rPr>
              <a:t>Doesn’t only define correct concentration and if reagents are working, but also </a:t>
            </a:r>
            <a:r>
              <a:rPr lang="en-US" sz="1600" i="1" dirty="0" smtClean="0">
                <a:latin typeface="Arial Italic" charset="0"/>
                <a:cs typeface="Arial Italic" charset="0"/>
                <a:sym typeface="Arial Italic" charset="0"/>
              </a:rPr>
              <a:t>gives information to predict </a:t>
            </a:r>
            <a:r>
              <a:rPr lang="en-US" sz="1600" b="1" i="1" dirty="0" smtClean="0">
                <a:solidFill>
                  <a:srgbClr val="8000FF"/>
                </a:solidFill>
                <a:latin typeface="Arial Italic" charset="0"/>
                <a:cs typeface="Arial Italic" charset="0"/>
                <a:sym typeface="Arial Italic" charset="0"/>
              </a:rPr>
              <a:t>spreading error </a:t>
            </a:r>
            <a:r>
              <a:rPr lang="en-US" sz="1600" i="1" dirty="0" smtClean="0">
                <a:latin typeface="Arial Italic" charset="0"/>
                <a:cs typeface="Arial Italic" charset="0"/>
                <a:sym typeface="Arial Italic" charset="0"/>
              </a:rPr>
              <a:t>in a given channel </a:t>
            </a:r>
            <a:r>
              <a:rPr lang="en-US" sz="1600" i="1" dirty="0" smtClean="0">
                <a:latin typeface="Arial Italic" charset="0"/>
                <a:cs typeface="Arial Italic" charset="0"/>
                <a:sym typeface="Wingdings"/>
              </a:rPr>
              <a:t> </a:t>
            </a:r>
            <a:r>
              <a:rPr lang="en-US" sz="1600" b="1" i="1" dirty="0" smtClean="0">
                <a:solidFill>
                  <a:srgbClr val="8000FF"/>
                </a:solidFill>
                <a:latin typeface="Arial Italic" charset="0"/>
                <a:cs typeface="Arial Italic" charset="0"/>
                <a:sym typeface="Wingdings"/>
              </a:rPr>
              <a:t>success of the multicolor panel</a:t>
            </a:r>
            <a:endParaRPr lang="en-US" sz="1600" b="1" i="1" dirty="0">
              <a:solidFill>
                <a:srgbClr val="8000FF"/>
              </a:solidFill>
              <a:latin typeface="Arial Italic" charset="0"/>
              <a:cs typeface="Arial Italic" charset="0"/>
              <a:sym typeface="Arial Italic" charset="0"/>
            </a:endParaRPr>
          </a:p>
        </p:txBody>
      </p:sp>
      <p:grpSp>
        <p:nvGrpSpPr>
          <p:cNvPr id="4" name="Gruppo 3"/>
          <p:cNvGrpSpPr>
            <a:grpSpLocks noChangeAspect="1"/>
          </p:cNvGrpSpPr>
          <p:nvPr/>
        </p:nvGrpSpPr>
        <p:grpSpPr>
          <a:xfrm>
            <a:off x="26092" y="1916832"/>
            <a:ext cx="2624118" cy="2832319"/>
            <a:chOff x="76780" y="1826882"/>
            <a:chExt cx="3728458" cy="4024264"/>
          </a:xfrm>
        </p:grpSpPr>
        <p:pic>
          <p:nvPicPr>
            <p:cNvPr id="2" name="Immagine 1"/>
            <p:cNvPicPr>
              <a:picLocks noChangeAspect="1"/>
            </p:cNvPicPr>
            <p:nvPr/>
          </p:nvPicPr>
          <p:blipFill rotWithShape="1">
            <a:blip r:embed="rId2"/>
            <a:srcRect l="4200" b="4692"/>
            <a:stretch/>
          </p:blipFill>
          <p:spPr>
            <a:xfrm>
              <a:off x="467544" y="2348880"/>
              <a:ext cx="3337694" cy="3162920"/>
            </a:xfrm>
            <a:prstGeom prst="rect">
              <a:avLst/>
            </a:prstGeom>
          </p:spPr>
        </p:pic>
        <p:sp>
          <p:nvSpPr>
            <p:cNvPr id="3" name="CasellaDiTesto 2"/>
            <p:cNvSpPr txBox="1"/>
            <p:nvPr/>
          </p:nvSpPr>
          <p:spPr>
            <a:xfrm>
              <a:off x="1226251" y="1826882"/>
              <a:ext cx="1978029" cy="4666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sz="2000" b="1" dirty="0" smtClean="0">
                  <a:latin typeface="Arial"/>
                  <a:cs typeface="Arial"/>
                </a:rPr>
                <a:t>CD57 BV605</a:t>
              </a:r>
              <a:endParaRPr lang="it-IT" sz="2000" b="1" dirty="0">
                <a:latin typeface="Arial"/>
                <a:cs typeface="Arial"/>
              </a:endParaRPr>
            </a:p>
          </p:txBody>
        </p:sp>
        <p:sp>
          <p:nvSpPr>
            <p:cNvPr id="9" name="CasellaDiTesto 8"/>
            <p:cNvSpPr txBox="1"/>
            <p:nvPr/>
          </p:nvSpPr>
          <p:spPr>
            <a:xfrm>
              <a:off x="1232410" y="5420366"/>
              <a:ext cx="1891686" cy="430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err="1" smtClean="0">
                  <a:latin typeface="Arial"/>
                  <a:cs typeface="Arial"/>
                </a:rPr>
                <a:t>Concentration</a:t>
              </a:r>
              <a:endParaRPr lang="it-IT" dirty="0">
                <a:latin typeface="Arial"/>
                <a:cs typeface="Arial"/>
              </a:endParaRPr>
            </a:p>
          </p:txBody>
        </p:sp>
        <p:sp>
          <p:nvSpPr>
            <p:cNvPr id="10" name="CasellaDiTesto 9"/>
            <p:cNvSpPr txBox="1"/>
            <p:nvPr/>
          </p:nvSpPr>
          <p:spPr>
            <a:xfrm rot="16200000">
              <a:off x="-623632" y="3545895"/>
              <a:ext cx="1831605" cy="4307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err="1" smtClean="0">
                  <a:latin typeface="Arial"/>
                  <a:cs typeface="Arial"/>
                </a:rPr>
                <a:t>Fluorescence</a:t>
              </a:r>
              <a:endParaRPr lang="it-IT" dirty="0">
                <a:latin typeface="Arial"/>
                <a:cs typeface="Arial"/>
              </a:endParaRPr>
            </a:p>
          </p:txBody>
        </p:sp>
      </p:grpSp>
      <p:sp>
        <p:nvSpPr>
          <p:cNvPr id="7" name="Rettangolo 6"/>
          <p:cNvSpPr/>
          <p:nvPr/>
        </p:nvSpPr>
        <p:spPr>
          <a:xfrm>
            <a:off x="2166063" y="2331946"/>
            <a:ext cx="288032" cy="19453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12" name="Group 24"/>
          <p:cNvGrpSpPr/>
          <p:nvPr/>
        </p:nvGrpSpPr>
        <p:grpSpPr>
          <a:xfrm>
            <a:off x="2644719" y="2060848"/>
            <a:ext cx="6531521" cy="3448742"/>
            <a:chOff x="2644719" y="2060848"/>
            <a:chExt cx="6531521" cy="3448742"/>
          </a:xfrm>
        </p:grpSpPr>
        <p:pic>
          <p:nvPicPr>
            <p:cNvPr id="11" name="Immagin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5236" y="2060848"/>
              <a:ext cx="6208325" cy="3096344"/>
            </a:xfrm>
            <a:prstGeom prst="rect">
              <a:avLst/>
            </a:prstGeom>
          </p:spPr>
        </p:pic>
        <p:cxnSp>
          <p:nvCxnSpPr>
            <p:cNvPr id="13" name="Connettore 1 12"/>
            <p:cNvCxnSpPr/>
            <p:nvPr/>
          </p:nvCxnSpPr>
          <p:spPr>
            <a:xfrm>
              <a:off x="3101261" y="2836002"/>
              <a:ext cx="5939999" cy="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1 13"/>
            <p:cNvCxnSpPr/>
            <p:nvPr/>
          </p:nvCxnSpPr>
          <p:spPr>
            <a:xfrm>
              <a:off x="3092795" y="4428645"/>
              <a:ext cx="4355994" cy="0"/>
            </a:xfrm>
            <a:prstGeom prst="line">
              <a:avLst/>
            </a:prstGeom>
            <a:ln w="19050" cmpd="sng">
              <a:solidFill>
                <a:schemeClr val="tx1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CasellaDiTesto 14"/>
            <p:cNvSpPr txBox="1"/>
            <p:nvPr/>
          </p:nvSpPr>
          <p:spPr>
            <a:xfrm>
              <a:off x="4041636" y="2907185"/>
              <a:ext cx="441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solidFill>
                    <a:srgbClr val="FF0000"/>
                  </a:solidFill>
                  <a:latin typeface="Arial"/>
                  <a:cs typeface="Arial"/>
                </a:rPr>
                <a:t>16</a:t>
              </a:r>
              <a:endParaRPr lang="it-IT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16" name="CasellaDiTesto 15"/>
            <p:cNvSpPr txBox="1"/>
            <p:nvPr/>
          </p:nvSpPr>
          <p:spPr>
            <a:xfrm>
              <a:off x="5604606" y="2907185"/>
              <a:ext cx="441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solidFill>
                    <a:srgbClr val="FF0000"/>
                  </a:solidFill>
                  <a:latin typeface="Arial"/>
                  <a:cs typeface="Arial"/>
                </a:rPr>
                <a:t>17</a:t>
              </a:r>
              <a:endParaRPr lang="it-IT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17" name="CasellaDiTesto 16"/>
            <p:cNvSpPr txBox="1"/>
            <p:nvPr/>
          </p:nvSpPr>
          <p:spPr>
            <a:xfrm>
              <a:off x="7171848" y="2907185"/>
              <a:ext cx="441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solidFill>
                    <a:srgbClr val="FF0000"/>
                  </a:solidFill>
                  <a:latin typeface="Arial"/>
                  <a:cs typeface="Arial"/>
                </a:rPr>
                <a:t>16</a:t>
              </a:r>
              <a:endParaRPr lang="it-IT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18" name="CasellaDiTesto 17"/>
            <p:cNvSpPr txBox="1"/>
            <p:nvPr/>
          </p:nvSpPr>
          <p:spPr>
            <a:xfrm>
              <a:off x="8734818" y="2907185"/>
              <a:ext cx="441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solidFill>
                    <a:srgbClr val="FF0000"/>
                  </a:solidFill>
                  <a:latin typeface="Arial"/>
                  <a:cs typeface="Arial"/>
                </a:rPr>
                <a:t>14</a:t>
              </a:r>
              <a:endParaRPr lang="it-IT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19" name="CasellaDiTesto 18"/>
            <p:cNvSpPr txBox="1"/>
            <p:nvPr/>
          </p:nvSpPr>
          <p:spPr>
            <a:xfrm>
              <a:off x="4037364" y="4509120"/>
              <a:ext cx="441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solidFill>
                    <a:srgbClr val="FF0000"/>
                  </a:solidFill>
                  <a:latin typeface="Arial"/>
                  <a:cs typeface="Arial"/>
                </a:rPr>
                <a:t>14</a:t>
              </a:r>
              <a:endParaRPr lang="it-IT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20" name="CasellaDiTesto 19"/>
            <p:cNvSpPr txBox="1"/>
            <p:nvPr/>
          </p:nvSpPr>
          <p:spPr>
            <a:xfrm>
              <a:off x="5600334" y="4509120"/>
              <a:ext cx="441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solidFill>
                    <a:srgbClr val="FF0000"/>
                  </a:solidFill>
                  <a:latin typeface="Arial"/>
                  <a:cs typeface="Arial"/>
                </a:rPr>
                <a:t>12</a:t>
              </a:r>
              <a:endParaRPr lang="it-IT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21" name="CasellaDiTesto 20"/>
            <p:cNvSpPr txBox="1"/>
            <p:nvPr/>
          </p:nvSpPr>
          <p:spPr>
            <a:xfrm>
              <a:off x="7167576" y="4509120"/>
              <a:ext cx="4414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solidFill>
                    <a:srgbClr val="FF0000"/>
                  </a:solidFill>
                  <a:latin typeface="Arial"/>
                  <a:cs typeface="Arial"/>
                </a:rPr>
                <a:t>10</a:t>
              </a:r>
              <a:endParaRPr lang="it-IT" dirty="0">
                <a:solidFill>
                  <a:srgbClr val="FF0000"/>
                </a:solidFill>
                <a:latin typeface="Arial"/>
                <a:cs typeface="Arial"/>
              </a:endParaRPr>
            </a:p>
          </p:txBody>
        </p:sp>
        <p:sp>
          <p:nvSpPr>
            <p:cNvPr id="22" name="CasellaDiTesto 21"/>
            <p:cNvSpPr txBox="1"/>
            <p:nvPr/>
          </p:nvSpPr>
          <p:spPr>
            <a:xfrm>
              <a:off x="5643653" y="5140258"/>
              <a:ext cx="877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latin typeface="Arial"/>
                  <a:cs typeface="Arial"/>
                </a:rPr>
                <a:t>BV605</a:t>
              </a:r>
              <a:endParaRPr lang="it-IT" dirty="0">
                <a:latin typeface="Arial"/>
                <a:cs typeface="Arial"/>
              </a:endParaRPr>
            </a:p>
          </p:txBody>
        </p:sp>
        <p:sp>
          <p:nvSpPr>
            <p:cNvPr id="23" name="CasellaDiTesto 22"/>
            <p:cNvSpPr txBox="1"/>
            <p:nvPr/>
          </p:nvSpPr>
          <p:spPr>
            <a:xfrm rot="16200000">
              <a:off x="2377841" y="3369706"/>
              <a:ext cx="9030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latin typeface="Arial"/>
                  <a:cs typeface="Arial"/>
                </a:rPr>
                <a:t>Cy5PE</a:t>
              </a:r>
              <a:endParaRPr lang="it-IT" dirty="0">
                <a:latin typeface="Arial"/>
                <a:cs typeface="Arial"/>
              </a:endParaRPr>
            </a:p>
          </p:txBody>
        </p:sp>
      </p:grpSp>
      <p:sp>
        <p:nvSpPr>
          <p:cNvPr id="24" name="Rectangle 52"/>
          <p:cNvSpPr>
            <a:spLocks/>
          </p:cNvSpPr>
          <p:nvPr/>
        </p:nvSpPr>
        <p:spPr bwMode="auto">
          <a:xfrm>
            <a:off x="381000" y="6477000"/>
            <a:ext cx="8655496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 algn="r">
              <a:spcAft>
                <a:spcPts val="600"/>
              </a:spcAft>
            </a:pPr>
            <a:r>
              <a:rPr lang="en-US" sz="1400" i="1" dirty="0" err="1" smtClean="0">
                <a:solidFill>
                  <a:schemeClr val="tx1"/>
                </a:solidFill>
                <a:latin typeface="Arial"/>
                <a:cs typeface="Arial"/>
                <a:sym typeface="Arial Italic" charset="0"/>
              </a:rPr>
              <a:t>Roederer</a:t>
            </a:r>
            <a:r>
              <a:rPr lang="en-US" sz="1400" i="1" dirty="0" smtClean="0">
                <a:solidFill>
                  <a:schemeClr val="tx1"/>
                </a:solidFill>
                <a:latin typeface="Arial"/>
                <a:cs typeface="Arial"/>
                <a:sym typeface="Arial Italic" charset="0"/>
              </a:rPr>
              <a:t>, </a:t>
            </a:r>
            <a:r>
              <a:rPr lang="en-US" sz="1400" i="1" dirty="0" err="1" smtClean="0">
                <a:solidFill>
                  <a:schemeClr val="tx1"/>
                </a:solidFill>
                <a:latin typeface="Arial"/>
                <a:cs typeface="Arial"/>
                <a:sym typeface="Arial Italic" charset="0"/>
              </a:rPr>
              <a:t>Cytometry</a:t>
            </a:r>
            <a:r>
              <a:rPr lang="en-US" sz="1400" i="1" dirty="0" smtClean="0">
                <a:solidFill>
                  <a:schemeClr val="tx1"/>
                </a:solidFill>
                <a:latin typeface="Arial"/>
                <a:cs typeface="Arial"/>
                <a:sym typeface="Arial Italic" charset="0"/>
              </a:rPr>
              <a:t>, </a:t>
            </a:r>
            <a:r>
              <a:rPr lang="en-US" sz="1400" i="1" dirty="0" err="1" smtClean="0">
                <a:latin typeface="Arial"/>
                <a:cs typeface="Arial"/>
              </a:rPr>
              <a:t>Cytometry</a:t>
            </a:r>
            <a:r>
              <a:rPr lang="en-US" sz="1400" i="1" dirty="0" smtClean="0">
                <a:latin typeface="Arial"/>
                <a:cs typeface="Arial"/>
              </a:rPr>
              <a:t>. 2001 Nov 1;45(3):194-205; </a:t>
            </a:r>
            <a:r>
              <a:rPr lang="en-US" sz="1400" i="1" dirty="0" err="1" smtClean="0">
                <a:latin typeface="Arial"/>
                <a:cs typeface="Arial"/>
              </a:rPr>
              <a:t>Mahnke</a:t>
            </a:r>
            <a:r>
              <a:rPr lang="en-US" sz="1400" i="1" dirty="0" smtClean="0">
                <a:latin typeface="Arial"/>
                <a:cs typeface="Arial"/>
              </a:rPr>
              <a:t>, </a:t>
            </a:r>
            <a:r>
              <a:rPr lang="en-US" sz="1400" i="1" dirty="0" err="1" smtClean="0">
                <a:latin typeface="Arial"/>
                <a:cs typeface="Arial"/>
              </a:rPr>
              <a:t>Clin</a:t>
            </a:r>
            <a:r>
              <a:rPr lang="en-US" sz="1400" i="1" dirty="0" smtClean="0">
                <a:latin typeface="Arial"/>
                <a:cs typeface="Arial"/>
              </a:rPr>
              <a:t> Lab Med. 2007 Sep;27(3):469-85</a:t>
            </a:r>
            <a:endParaRPr lang="en-US" sz="1400" b="1" i="1" dirty="0">
              <a:solidFill>
                <a:srgbClr val="8000FF"/>
              </a:solidFill>
              <a:latin typeface="Arial"/>
              <a:cs typeface="Arial"/>
              <a:sym typeface="Arial Ital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22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91"/>
          <p:cNvSpPr>
            <a:spLocks/>
          </p:cNvSpPr>
          <p:nvPr/>
        </p:nvSpPr>
        <p:spPr bwMode="auto">
          <a:xfrm>
            <a:off x="251520" y="109538"/>
            <a:ext cx="864096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/>
            <a:r>
              <a:rPr lang="en-US" sz="3600" dirty="0" smtClean="0">
                <a:solidFill>
                  <a:srgbClr val="000090"/>
                </a:solidFill>
                <a:latin typeface="Arial Bold" charset="0"/>
                <a:cs typeface="Arial Bold" charset="0"/>
                <a:sym typeface="Arial Bold" charset="0"/>
              </a:rPr>
              <a:t>Spillover spreading across all PMTs</a:t>
            </a:r>
            <a:endParaRPr lang="en-US" sz="3600" dirty="0">
              <a:solidFill>
                <a:srgbClr val="000090"/>
              </a:solidFill>
              <a:latin typeface="Arial Bold" charset="0"/>
              <a:cs typeface="Arial Bold" charset="0"/>
              <a:sym typeface="Arial Bold" charset="0"/>
            </a:endParaRPr>
          </a:p>
        </p:txBody>
      </p:sp>
      <p:sp>
        <p:nvSpPr>
          <p:cNvPr id="6" name="Line 492"/>
          <p:cNvSpPr>
            <a:spLocks noChangeShapeType="1"/>
          </p:cNvSpPr>
          <p:nvPr/>
        </p:nvSpPr>
        <p:spPr bwMode="auto">
          <a:xfrm>
            <a:off x="254000" y="8128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sp>
        <p:nvSpPr>
          <p:cNvPr id="8" name="Rectangle 52"/>
          <p:cNvSpPr>
            <a:spLocks/>
          </p:cNvSpPr>
          <p:nvPr/>
        </p:nvSpPr>
        <p:spPr bwMode="auto">
          <a:xfrm>
            <a:off x="4644008" y="6356176"/>
            <a:ext cx="4392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 algn="r">
              <a:spcAft>
                <a:spcPts val="600"/>
              </a:spcAft>
            </a:pPr>
            <a:r>
              <a:rPr lang="en-US" sz="1600" i="1" dirty="0" smtClean="0">
                <a:solidFill>
                  <a:schemeClr val="tx1"/>
                </a:solidFill>
                <a:latin typeface="Arial"/>
                <a:cs typeface="Arial"/>
                <a:sym typeface="Arial Italic" charset="0"/>
              </a:rPr>
              <a:t>‘Nguyen, </a:t>
            </a:r>
            <a:r>
              <a:rPr lang="en-US" sz="1600" i="1" dirty="0" err="1" smtClean="0">
                <a:solidFill>
                  <a:schemeClr val="tx1"/>
                </a:solidFill>
                <a:latin typeface="Arial"/>
                <a:cs typeface="Arial"/>
                <a:sym typeface="Arial Italic" charset="0"/>
              </a:rPr>
              <a:t>Cytometry</a:t>
            </a:r>
            <a:r>
              <a:rPr lang="en-US" sz="1600" i="1" dirty="0" smtClean="0">
                <a:solidFill>
                  <a:schemeClr val="tx1"/>
                </a:solidFill>
                <a:latin typeface="Arial"/>
                <a:cs typeface="Arial"/>
                <a:sym typeface="Arial Italic" charset="0"/>
              </a:rPr>
              <a:t> A, </a:t>
            </a:r>
            <a:r>
              <a:rPr lang="is-IS" sz="1600" i="1" dirty="0">
                <a:latin typeface="Arial"/>
                <a:cs typeface="Arial"/>
              </a:rPr>
              <a:t>2013 Mar;83(3):306-15</a:t>
            </a:r>
            <a:r>
              <a:rPr lang="en-US" sz="1600" i="1" dirty="0" smtClean="0">
                <a:solidFill>
                  <a:schemeClr val="tx1"/>
                </a:solidFill>
                <a:latin typeface="Arial"/>
                <a:cs typeface="Arial"/>
                <a:sym typeface="Arial Italic" charset="0"/>
              </a:rPr>
              <a:t> </a:t>
            </a:r>
            <a:endParaRPr lang="en-US" sz="1600" b="1" i="1" dirty="0">
              <a:solidFill>
                <a:srgbClr val="8000FF"/>
              </a:solidFill>
              <a:latin typeface="Arial"/>
              <a:cs typeface="Arial"/>
              <a:sym typeface="Arial Italic" charset="0"/>
            </a:endParaRPr>
          </a:p>
        </p:txBody>
      </p:sp>
      <p:pic>
        <p:nvPicPr>
          <p:cNvPr id="12" name="Immagine 11" descr="Schermata 2016-08-31 alle 12.25.41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484784"/>
            <a:ext cx="6772550" cy="3456384"/>
          </a:xfrm>
          <a:prstGeom prst="rect">
            <a:avLst/>
          </a:prstGeom>
        </p:spPr>
      </p:pic>
      <p:sp>
        <p:nvSpPr>
          <p:cNvPr id="25" name="Rettangolo 24"/>
          <p:cNvSpPr/>
          <p:nvPr/>
        </p:nvSpPr>
        <p:spPr>
          <a:xfrm>
            <a:off x="611560" y="1412776"/>
            <a:ext cx="432048" cy="5760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grpSp>
        <p:nvGrpSpPr>
          <p:cNvPr id="2" name="Group 12"/>
          <p:cNvGrpSpPr/>
          <p:nvPr/>
        </p:nvGrpSpPr>
        <p:grpSpPr>
          <a:xfrm>
            <a:off x="4067944" y="980728"/>
            <a:ext cx="4680520" cy="3816424"/>
            <a:chOff x="4067944" y="980728"/>
            <a:chExt cx="4680520" cy="3816424"/>
          </a:xfrm>
        </p:grpSpPr>
        <p:sp>
          <p:nvSpPr>
            <p:cNvPr id="26" name="Rettangolo 25"/>
            <p:cNvSpPr/>
            <p:nvPr/>
          </p:nvSpPr>
          <p:spPr>
            <a:xfrm>
              <a:off x="4067944" y="2852936"/>
              <a:ext cx="936104" cy="1152128"/>
            </a:xfrm>
            <a:prstGeom prst="rect">
              <a:avLst/>
            </a:prstGeom>
            <a:noFill/>
            <a:ln w="28575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7" name="Rettangolo 26"/>
            <p:cNvSpPr/>
            <p:nvPr/>
          </p:nvSpPr>
          <p:spPr>
            <a:xfrm>
              <a:off x="4067944" y="4437112"/>
              <a:ext cx="936104" cy="360040"/>
            </a:xfrm>
            <a:prstGeom prst="rect">
              <a:avLst/>
            </a:prstGeom>
            <a:noFill/>
            <a:ln w="28575" cmpd="sng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8" name="Rectangle 52"/>
            <p:cNvSpPr>
              <a:spLocks/>
            </p:cNvSpPr>
            <p:nvPr/>
          </p:nvSpPr>
          <p:spPr bwMode="auto">
            <a:xfrm>
              <a:off x="6012160" y="980728"/>
              <a:ext cx="2736304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38100" tIns="38100" rIns="38100" bIns="38100"/>
            <a:lstStyle/>
            <a:p>
              <a:pPr>
                <a:spcAft>
                  <a:spcPts val="600"/>
                </a:spcAft>
              </a:pPr>
              <a:r>
                <a:rPr lang="it-IT" sz="2000" b="1" dirty="0" smtClean="0">
                  <a:solidFill>
                    <a:srgbClr val="FF0000"/>
                  </a:solidFill>
                  <a:latin typeface="Arial"/>
                  <a:cs typeface="Arial"/>
                  <a:sym typeface="Arial Italic" charset="0"/>
                </a:rPr>
                <a:t>Critical </a:t>
              </a:r>
              <a:r>
                <a:rPr lang="it-IT" sz="2000" b="1" dirty="0" err="1" smtClean="0">
                  <a:solidFill>
                    <a:srgbClr val="FF0000"/>
                  </a:solidFill>
                  <a:latin typeface="Arial"/>
                  <a:cs typeface="Arial"/>
                  <a:sym typeface="Arial Italic" charset="0"/>
                </a:rPr>
                <a:t>combinations</a:t>
              </a:r>
              <a:endParaRPr lang="it-IT" sz="2000" b="1" dirty="0" smtClean="0">
                <a:solidFill>
                  <a:srgbClr val="FF0000"/>
                </a:solidFill>
                <a:latin typeface="Arial"/>
                <a:cs typeface="Arial"/>
                <a:sym typeface="Arial Italic" charset="0"/>
              </a:endParaRPr>
            </a:p>
            <a:p>
              <a:pPr>
                <a:spcAft>
                  <a:spcPts val="600"/>
                </a:spcAft>
              </a:pPr>
              <a:r>
                <a:rPr lang="it-IT" sz="2000" b="1" dirty="0" smtClean="0">
                  <a:latin typeface="Arial"/>
                  <a:cs typeface="Arial"/>
                  <a:sym typeface="Arial Italic" charset="0"/>
                </a:rPr>
                <a:t>No spread </a:t>
              </a:r>
              <a:r>
                <a:rPr lang="it-IT" sz="2000" b="1" dirty="0" err="1" smtClean="0">
                  <a:latin typeface="Arial"/>
                  <a:cs typeface="Arial"/>
                  <a:sym typeface="Arial Italic" charset="0"/>
                </a:rPr>
                <a:t>areas</a:t>
              </a:r>
              <a:endParaRPr lang="en-US" sz="2000" b="1" dirty="0">
                <a:latin typeface="Arial"/>
                <a:cs typeface="Arial"/>
                <a:sym typeface="Arial Italic" charset="0"/>
              </a:endParaRPr>
            </a:p>
          </p:txBody>
        </p:sp>
      </p:grpSp>
      <p:sp>
        <p:nvSpPr>
          <p:cNvPr id="29" name="Rettangolo 28"/>
          <p:cNvSpPr/>
          <p:nvPr/>
        </p:nvSpPr>
        <p:spPr>
          <a:xfrm>
            <a:off x="5004048" y="4077072"/>
            <a:ext cx="576064" cy="504056"/>
          </a:xfrm>
          <a:prstGeom prst="rect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29"/>
          <p:cNvSpPr/>
          <p:nvPr/>
        </p:nvSpPr>
        <p:spPr>
          <a:xfrm>
            <a:off x="5364088" y="2708920"/>
            <a:ext cx="504056" cy="864096"/>
          </a:xfrm>
          <a:prstGeom prst="rect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973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/>
          <p:cNvPicPr>
            <a:picLocks noChangeAspect="1"/>
          </p:cNvPicPr>
          <p:nvPr/>
        </p:nvPicPr>
        <p:blipFill rotWithShape="1">
          <a:blip r:embed="rId2"/>
          <a:srcRect l="6283" b="6623"/>
          <a:stretch/>
        </p:blipFill>
        <p:spPr>
          <a:xfrm>
            <a:off x="5220072" y="2276872"/>
            <a:ext cx="2976654" cy="2909003"/>
          </a:xfrm>
          <a:prstGeom prst="rect">
            <a:avLst/>
          </a:prstGeom>
        </p:spPr>
      </p:pic>
      <p:sp>
        <p:nvSpPr>
          <p:cNvPr id="5" name="Rectangle 491"/>
          <p:cNvSpPr>
            <a:spLocks/>
          </p:cNvSpPr>
          <p:nvPr/>
        </p:nvSpPr>
        <p:spPr bwMode="auto">
          <a:xfrm>
            <a:off x="251520" y="109538"/>
            <a:ext cx="864096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/>
            <a:r>
              <a:rPr lang="en-US" sz="3600" dirty="0" smtClean="0">
                <a:solidFill>
                  <a:srgbClr val="000090"/>
                </a:solidFill>
                <a:latin typeface="Arial Bold" charset="0"/>
                <a:cs typeface="Arial Bold" charset="0"/>
                <a:sym typeface="Arial Bold" charset="0"/>
              </a:rPr>
              <a:t>Choose the best combo</a:t>
            </a:r>
            <a:endParaRPr lang="en-US" sz="3600" dirty="0">
              <a:solidFill>
                <a:srgbClr val="000090"/>
              </a:solidFill>
              <a:latin typeface="Arial Bold" charset="0"/>
              <a:cs typeface="Arial Bold" charset="0"/>
              <a:sym typeface="Arial Bold" charset="0"/>
            </a:endParaRPr>
          </a:p>
        </p:txBody>
      </p:sp>
      <p:sp>
        <p:nvSpPr>
          <p:cNvPr id="6" name="Line 492"/>
          <p:cNvSpPr>
            <a:spLocks noChangeShapeType="1"/>
          </p:cNvSpPr>
          <p:nvPr/>
        </p:nvSpPr>
        <p:spPr bwMode="auto">
          <a:xfrm>
            <a:off x="254000" y="8128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sp>
        <p:nvSpPr>
          <p:cNvPr id="3" name="CasellaDiTesto 2"/>
          <p:cNvSpPr txBox="1"/>
          <p:nvPr/>
        </p:nvSpPr>
        <p:spPr>
          <a:xfrm>
            <a:off x="5688658" y="1853291"/>
            <a:ext cx="2250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dirty="0" smtClean="0">
                <a:latin typeface="Arial"/>
                <a:cs typeface="Arial"/>
              </a:rPr>
              <a:t>HLA-DR Cy7APC</a:t>
            </a:r>
            <a:endParaRPr lang="it-IT" sz="2000" b="1" dirty="0">
              <a:latin typeface="Arial"/>
              <a:cs typeface="Arial"/>
            </a:endParaRPr>
          </a:p>
        </p:txBody>
      </p:sp>
      <p:sp>
        <p:nvSpPr>
          <p:cNvPr id="9" name="CasellaDiTesto 8"/>
          <p:cNvSpPr txBox="1"/>
          <p:nvPr/>
        </p:nvSpPr>
        <p:spPr>
          <a:xfrm>
            <a:off x="1547664" y="5157192"/>
            <a:ext cx="1331383" cy="30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 smtClean="0">
                <a:latin typeface="Arial"/>
                <a:cs typeface="Arial"/>
              </a:rPr>
              <a:t>Concentration</a:t>
            </a:r>
            <a:endParaRPr lang="it-IT" dirty="0">
              <a:latin typeface="Arial"/>
              <a:cs typeface="Arial"/>
            </a:endParaRPr>
          </a:p>
        </p:txBody>
      </p:sp>
      <p:sp>
        <p:nvSpPr>
          <p:cNvPr id="10" name="CasellaDiTesto 9"/>
          <p:cNvSpPr txBox="1"/>
          <p:nvPr/>
        </p:nvSpPr>
        <p:spPr>
          <a:xfrm rot="16200000">
            <a:off x="-313446" y="3201878"/>
            <a:ext cx="1289103" cy="30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 smtClean="0">
                <a:latin typeface="Arial"/>
                <a:cs typeface="Arial"/>
              </a:rPr>
              <a:t>Fluorescence</a:t>
            </a:r>
            <a:endParaRPr lang="it-IT" dirty="0">
              <a:latin typeface="Arial"/>
              <a:cs typeface="Arial"/>
            </a:endParaRPr>
          </a:p>
        </p:txBody>
      </p:sp>
      <p:pic>
        <p:nvPicPr>
          <p:cNvPr id="12" name="Immagine 11"/>
          <p:cNvPicPr>
            <a:picLocks noChangeAspect="1"/>
          </p:cNvPicPr>
          <p:nvPr/>
        </p:nvPicPr>
        <p:blipFill rotWithShape="1">
          <a:blip r:embed="rId3"/>
          <a:srcRect l="4315" b="4957"/>
          <a:stretch/>
        </p:blipFill>
        <p:spPr>
          <a:xfrm>
            <a:off x="611560" y="2272696"/>
            <a:ext cx="2971862" cy="2913179"/>
          </a:xfrm>
          <a:prstGeom prst="rect">
            <a:avLst/>
          </a:prstGeom>
        </p:spPr>
      </p:pic>
      <p:sp>
        <p:nvSpPr>
          <p:cNvPr id="22" name="CasellaDiTesto 21"/>
          <p:cNvSpPr txBox="1"/>
          <p:nvPr/>
        </p:nvSpPr>
        <p:spPr>
          <a:xfrm>
            <a:off x="1385613" y="1844824"/>
            <a:ext cx="18087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dirty="0" smtClean="0">
                <a:latin typeface="Arial"/>
                <a:cs typeface="Arial"/>
              </a:rPr>
              <a:t>HLA-DR FITC</a:t>
            </a:r>
            <a:endParaRPr lang="it-IT" sz="2000" b="1" dirty="0">
              <a:latin typeface="Arial"/>
              <a:cs typeface="Arial"/>
            </a:endParaRPr>
          </a:p>
        </p:txBody>
      </p:sp>
      <p:sp>
        <p:nvSpPr>
          <p:cNvPr id="23" name="CasellaDiTesto 22"/>
          <p:cNvSpPr txBox="1"/>
          <p:nvPr/>
        </p:nvSpPr>
        <p:spPr>
          <a:xfrm>
            <a:off x="6300192" y="5157192"/>
            <a:ext cx="1331383" cy="3031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 smtClean="0">
                <a:latin typeface="Arial"/>
                <a:cs typeface="Arial"/>
              </a:rPr>
              <a:t>Concentration</a:t>
            </a:r>
            <a:endParaRPr lang="it-IT" dirty="0">
              <a:latin typeface="Arial"/>
              <a:cs typeface="Arial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971600" y="2243004"/>
            <a:ext cx="4032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i="1" dirty="0" err="1" smtClean="0">
                <a:solidFill>
                  <a:srgbClr val="8000FF"/>
                </a:solidFill>
                <a:latin typeface="Arial"/>
                <a:cs typeface="Arial"/>
              </a:rPr>
              <a:t>Poor</a:t>
            </a:r>
            <a:r>
              <a:rPr lang="it-IT" sz="1600" b="1" i="1" dirty="0" smtClean="0">
                <a:solidFill>
                  <a:srgbClr val="8000FF"/>
                </a:solidFill>
                <a:latin typeface="Arial"/>
                <a:cs typeface="Arial"/>
              </a:rPr>
              <a:t> </a:t>
            </a:r>
            <a:r>
              <a:rPr lang="it-IT" sz="1600" b="1" i="1" dirty="0" err="1" smtClean="0">
                <a:solidFill>
                  <a:srgbClr val="8000FF"/>
                </a:solidFill>
                <a:latin typeface="Arial"/>
                <a:cs typeface="Arial"/>
              </a:rPr>
              <a:t>separation</a:t>
            </a:r>
            <a:r>
              <a:rPr lang="it-IT" sz="1600" b="1" i="1" dirty="0">
                <a:solidFill>
                  <a:srgbClr val="8000FF"/>
                </a:solidFill>
                <a:latin typeface="Arial"/>
                <a:cs typeface="Arial"/>
              </a:rPr>
              <a:t> </a:t>
            </a:r>
            <a:r>
              <a:rPr lang="it-IT" sz="1600" b="1" i="1" dirty="0" smtClean="0">
                <a:solidFill>
                  <a:srgbClr val="8000FF"/>
                </a:solidFill>
                <a:latin typeface="Arial"/>
                <a:cs typeface="Arial"/>
              </a:rPr>
              <a:t>– Switch to Cy7APC</a:t>
            </a:r>
            <a:endParaRPr lang="it-IT" sz="1600" b="1" i="1" dirty="0">
              <a:solidFill>
                <a:srgbClr val="8000FF"/>
              </a:solidFill>
              <a:latin typeface="Arial"/>
              <a:cs typeface="Arial"/>
            </a:endParaRPr>
          </a:p>
        </p:txBody>
      </p:sp>
      <p:grpSp>
        <p:nvGrpSpPr>
          <p:cNvPr id="2" name="Gruppo 37"/>
          <p:cNvGrpSpPr/>
          <p:nvPr/>
        </p:nvGrpSpPr>
        <p:grpSpPr>
          <a:xfrm>
            <a:off x="5507029" y="2276872"/>
            <a:ext cx="1753593" cy="2160240"/>
            <a:chOff x="5914751" y="2276872"/>
            <a:chExt cx="1753593" cy="2160240"/>
          </a:xfrm>
        </p:grpSpPr>
        <p:sp>
          <p:nvSpPr>
            <p:cNvPr id="25" name="CasellaDiTesto 24"/>
            <p:cNvSpPr txBox="1"/>
            <p:nvPr/>
          </p:nvSpPr>
          <p:spPr>
            <a:xfrm>
              <a:off x="6660232" y="2276872"/>
              <a:ext cx="9361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i="1" dirty="0" smtClean="0">
                  <a:solidFill>
                    <a:srgbClr val="8000FF"/>
                  </a:solidFill>
                  <a:latin typeface="Arial"/>
                  <a:cs typeface="Arial"/>
                </a:rPr>
                <a:t>B </a:t>
              </a:r>
              <a:r>
                <a:rPr lang="it-IT" sz="1600" b="1" i="1" dirty="0" err="1" smtClean="0">
                  <a:solidFill>
                    <a:srgbClr val="8000FF"/>
                  </a:solidFill>
                  <a:latin typeface="Arial"/>
                  <a:cs typeface="Arial"/>
                </a:rPr>
                <a:t>cells</a:t>
              </a:r>
              <a:endParaRPr lang="it-IT" sz="1600" b="1" i="1" dirty="0">
                <a:solidFill>
                  <a:srgbClr val="8000FF"/>
                </a:solidFill>
                <a:latin typeface="Arial"/>
                <a:cs typeface="Arial"/>
              </a:endParaRPr>
            </a:p>
          </p:txBody>
        </p:sp>
        <p:sp>
          <p:nvSpPr>
            <p:cNvPr id="26" name="CasellaDiTesto 25"/>
            <p:cNvSpPr txBox="1"/>
            <p:nvPr/>
          </p:nvSpPr>
          <p:spPr>
            <a:xfrm>
              <a:off x="6012160" y="2514382"/>
              <a:ext cx="1656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i="1" dirty="0" err="1" smtClean="0">
                  <a:solidFill>
                    <a:srgbClr val="8000FF"/>
                  </a:solidFill>
                  <a:latin typeface="Arial"/>
                  <a:cs typeface="Arial"/>
                </a:rPr>
                <a:t>Activated</a:t>
              </a:r>
              <a:r>
                <a:rPr lang="it-IT" sz="1600" b="1" i="1" dirty="0" smtClean="0">
                  <a:solidFill>
                    <a:srgbClr val="8000FF"/>
                  </a:solidFill>
                  <a:latin typeface="Arial"/>
                  <a:cs typeface="Arial"/>
                </a:rPr>
                <a:t> T</a:t>
              </a:r>
              <a:endParaRPr lang="it-IT" sz="1600" b="1" i="1" dirty="0">
                <a:solidFill>
                  <a:srgbClr val="8000FF"/>
                </a:solidFill>
                <a:latin typeface="Arial"/>
                <a:cs typeface="Arial"/>
              </a:endParaRPr>
            </a:p>
          </p:txBody>
        </p:sp>
        <p:cxnSp>
          <p:nvCxnSpPr>
            <p:cNvPr id="28" name="Connettore 2 27"/>
            <p:cNvCxnSpPr/>
            <p:nvPr/>
          </p:nvCxnSpPr>
          <p:spPr>
            <a:xfrm>
              <a:off x="7380312" y="2564904"/>
              <a:ext cx="288032" cy="288032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ttore 2 28"/>
            <p:cNvCxnSpPr/>
            <p:nvPr/>
          </p:nvCxnSpPr>
          <p:spPr>
            <a:xfrm>
              <a:off x="7092280" y="2852936"/>
              <a:ext cx="504056" cy="792088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CasellaDiTesto 31"/>
            <p:cNvSpPr txBox="1"/>
            <p:nvPr/>
          </p:nvSpPr>
          <p:spPr>
            <a:xfrm>
              <a:off x="5914751" y="2772461"/>
              <a:ext cx="165618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sz="1600" b="1" i="1" dirty="0" err="1" smtClean="0">
                  <a:solidFill>
                    <a:srgbClr val="8000FF"/>
                  </a:solidFill>
                  <a:latin typeface="Arial"/>
                  <a:cs typeface="Arial"/>
                </a:rPr>
                <a:t>Resting</a:t>
              </a:r>
              <a:endParaRPr lang="it-IT" sz="1600" b="1" i="1" dirty="0">
                <a:solidFill>
                  <a:srgbClr val="8000FF"/>
                </a:solidFill>
                <a:latin typeface="Arial"/>
                <a:cs typeface="Arial"/>
              </a:endParaRPr>
            </a:p>
          </p:txBody>
        </p:sp>
        <p:cxnSp>
          <p:nvCxnSpPr>
            <p:cNvPr id="33" name="Connettore 2 32"/>
            <p:cNvCxnSpPr>
              <a:stCxn id="32" idx="2"/>
            </p:cNvCxnSpPr>
            <p:nvPr/>
          </p:nvCxnSpPr>
          <p:spPr>
            <a:xfrm>
              <a:off x="6742843" y="3111015"/>
              <a:ext cx="853493" cy="1326097"/>
            </a:xfrm>
            <a:prstGeom prst="straightConnector1">
              <a:avLst/>
            </a:prstGeom>
            <a:ln>
              <a:solidFill>
                <a:srgbClr val="000000"/>
              </a:solidFill>
              <a:headEnd type="none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454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850299"/>
            <a:ext cx="3006183" cy="2916000"/>
          </a:xfrm>
          <a:prstGeom prst="rect">
            <a:avLst/>
          </a:prstGeom>
        </p:spPr>
      </p:pic>
      <p:sp>
        <p:nvSpPr>
          <p:cNvPr id="5" name="Rectangle 491"/>
          <p:cNvSpPr>
            <a:spLocks/>
          </p:cNvSpPr>
          <p:nvPr/>
        </p:nvSpPr>
        <p:spPr bwMode="auto">
          <a:xfrm>
            <a:off x="251520" y="109538"/>
            <a:ext cx="864096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/>
            <a:r>
              <a:rPr lang="en-US" sz="3600" dirty="0" smtClean="0">
                <a:solidFill>
                  <a:srgbClr val="000090"/>
                </a:solidFill>
                <a:latin typeface="Arial Bold" charset="0"/>
                <a:cs typeface="Arial Bold" charset="0"/>
                <a:sym typeface="Arial Bold" charset="0"/>
              </a:rPr>
              <a:t>Panel-specific adjustments</a:t>
            </a:r>
            <a:endParaRPr lang="en-US" sz="3600" dirty="0">
              <a:solidFill>
                <a:srgbClr val="000090"/>
              </a:solidFill>
              <a:latin typeface="Arial Bold" charset="0"/>
              <a:cs typeface="Arial Bold" charset="0"/>
              <a:sym typeface="Arial Bold" charset="0"/>
            </a:endParaRPr>
          </a:p>
        </p:txBody>
      </p:sp>
      <p:sp>
        <p:nvSpPr>
          <p:cNvPr id="6" name="Line 492"/>
          <p:cNvSpPr>
            <a:spLocks noChangeShapeType="1"/>
          </p:cNvSpPr>
          <p:nvPr/>
        </p:nvSpPr>
        <p:spPr bwMode="auto">
          <a:xfrm>
            <a:off x="254000" y="8128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sp>
        <p:nvSpPr>
          <p:cNvPr id="9" name="CasellaDiTesto 8"/>
          <p:cNvSpPr txBox="1"/>
          <p:nvPr/>
        </p:nvSpPr>
        <p:spPr>
          <a:xfrm>
            <a:off x="1358441" y="5723964"/>
            <a:ext cx="15573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smtClean="0">
                <a:latin typeface="Arial"/>
                <a:cs typeface="Arial"/>
              </a:rPr>
              <a:t>CD95 Cy5PE</a:t>
            </a:r>
            <a:endParaRPr lang="it-IT" dirty="0">
              <a:latin typeface="Arial"/>
              <a:cs typeface="Arial"/>
            </a:endParaRPr>
          </a:p>
        </p:txBody>
      </p:sp>
      <p:sp>
        <p:nvSpPr>
          <p:cNvPr id="10" name="CasellaDiTesto 9"/>
          <p:cNvSpPr txBox="1"/>
          <p:nvPr/>
        </p:nvSpPr>
        <p:spPr>
          <a:xfrm rot="16200000">
            <a:off x="-517505" y="3909964"/>
            <a:ext cx="1553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smtClean="0">
                <a:latin typeface="Arial"/>
                <a:cs typeface="Arial"/>
              </a:rPr>
              <a:t>CCR7 BV711</a:t>
            </a:r>
            <a:endParaRPr lang="it-IT" dirty="0">
              <a:latin typeface="Arial"/>
              <a:cs typeface="Arial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323528" y="1700808"/>
            <a:ext cx="396044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Poor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CD95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separation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,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but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always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looked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fine in regular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surface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staining</a:t>
            </a:r>
            <a:endParaRPr lang="it-IT" sz="1600" i="1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cxnSp>
        <p:nvCxnSpPr>
          <p:cNvPr id="34" name="Connettore 1 33"/>
          <p:cNvCxnSpPr/>
          <p:nvPr/>
        </p:nvCxnSpPr>
        <p:spPr>
          <a:xfrm flipH="1">
            <a:off x="1683212" y="3140968"/>
            <a:ext cx="1" cy="2249182"/>
          </a:xfrm>
          <a:prstGeom prst="line">
            <a:avLst/>
          </a:prstGeom>
          <a:ln w="19050" cmpd="sng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Group 13"/>
          <p:cNvGrpSpPr/>
          <p:nvPr/>
        </p:nvGrpSpPr>
        <p:grpSpPr>
          <a:xfrm>
            <a:off x="4584135" y="1700808"/>
            <a:ext cx="4380353" cy="4401780"/>
            <a:chOff x="4584135" y="1700808"/>
            <a:chExt cx="4380353" cy="4401780"/>
          </a:xfrm>
        </p:grpSpPr>
        <p:sp>
          <p:nvSpPr>
            <p:cNvPr id="27" name="CasellaDiTesto 26"/>
            <p:cNvSpPr txBox="1"/>
            <p:nvPr/>
          </p:nvSpPr>
          <p:spPr>
            <a:xfrm>
              <a:off x="4716016" y="1700808"/>
              <a:ext cx="424847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it-IT" sz="1600" i="1" dirty="0" smtClean="0">
                  <a:solidFill>
                    <a:srgbClr val="0000FF"/>
                  </a:solidFill>
                  <a:latin typeface="Arial"/>
                  <a:cs typeface="Arial"/>
                </a:rPr>
                <a:t>TF buffer </a:t>
              </a:r>
              <a:r>
                <a:rPr lang="it-IT" sz="1600" i="1" dirty="0" err="1" smtClean="0">
                  <a:solidFill>
                    <a:srgbClr val="0000FF"/>
                  </a:solidFill>
                  <a:latin typeface="Arial"/>
                  <a:cs typeface="Arial"/>
                </a:rPr>
                <a:t>is</a:t>
              </a:r>
              <a:r>
                <a:rPr lang="it-IT" sz="1600" i="1" dirty="0" smtClean="0">
                  <a:solidFill>
                    <a:srgbClr val="0000FF"/>
                  </a:solidFill>
                  <a:latin typeface="Arial"/>
                  <a:cs typeface="Arial"/>
                </a:rPr>
                <a:t> </a:t>
              </a:r>
              <a:r>
                <a:rPr lang="it-IT" sz="1600" i="1" dirty="0" err="1" smtClean="0">
                  <a:solidFill>
                    <a:srgbClr val="0000FF"/>
                  </a:solidFill>
                  <a:latin typeface="Arial"/>
                  <a:cs typeface="Arial"/>
                </a:rPr>
                <a:t>harsh</a:t>
              </a:r>
              <a:r>
                <a:rPr lang="it-IT" sz="1600" i="1" dirty="0" smtClean="0">
                  <a:solidFill>
                    <a:srgbClr val="0000FF"/>
                  </a:solidFill>
                  <a:latin typeface="Arial"/>
                  <a:cs typeface="Arial"/>
                </a:rPr>
                <a:t> and </a:t>
              </a:r>
              <a:r>
                <a:rPr lang="it-IT" sz="1600" i="1" dirty="0" err="1" smtClean="0">
                  <a:solidFill>
                    <a:srgbClr val="0000FF"/>
                  </a:solidFill>
                  <a:latin typeface="Arial"/>
                  <a:cs typeface="Arial"/>
                </a:rPr>
                <a:t>may</a:t>
              </a:r>
              <a:r>
                <a:rPr lang="it-IT" sz="1600" i="1" dirty="0" smtClean="0">
                  <a:solidFill>
                    <a:srgbClr val="0000FF"/>
                  </a:solidFill>
                  <a:latin typeface="Arial"/>
                  <a:cs typeface="Arial"/>
                </a:rPr>
                <a:t> alter </a:t>
              </a:r>
              <a:r>
                <a:rPr lang="it-IT" sz="1600" i="1" dirty="0" err="1" smtClean="0">
                  <a:solidFill>
                    <a:srgbClr val="0000FF"/>
                  </a:solidFill>
                  <a:latin typeface="Arial"/>
                  <a:cs typeface="Arial"/>
                </a:rPr>
                <a:t>epitopes</a:t>
              </a:r>
              <a:endParaRPr lang="it-IT" sz="1600" i="1" dirty="0" smtClean="0">
                <a:solidFill>
                  <a:srgbClr val="0000FF"/>
                </a:solidFill>
                <a:latin typeface="Arial"/>
                <a:cs typeface="Arial"/>
              </a:endParaRPr>
            </a:p>
            <a:p>
              <a:pPr marL="285750" indent="-285750">
                <a:buFont typeface="Arial"/>
                <a:buChar char="•"/>
              </a:pPr>
              <a:r>
                <a:rPr lang="it-IT" sz="1600" i="1" dirty="0" err="1" smtClean="0">
                  <a:solidFill>
                    <a:srgbClr val="0000FF"/>
                  </a:solidFill>
                  <a:latin typeface="Arial"/>
                  <a:cs typeface="Arial"/>
                </a:rPr>
                <a:t>Titration</a:t>
              </a:r>
              <a:r>
                <a:rPr lang="it-IT" sz="1600" i="1" dirty="0" smtClean="0">
                  <a:solidFill>
                    <a:srgbClr val="0000FF"/>
                  </a:solidFill>
                  <a:latin typeface="Arial"/>
                  <a:cs typeface="Arial"/>
                </a:rPr>
                <a:t> of CD95 with TF buffer</a:t>
              </a:r>
            </a:p>
            <a:p>
              <a:pPr marL="285750" indent="-285750">
                <a:buFont typeface="Arial"/>
                <a:buChar char="•"/>
              </a:pPr>
              <a:r>
                <a:rPr lang="it-IT" sz="1600" i="1" dirty="0" err="1" smtClean="0">
                  <a:solidFill>
                    <a:srgbClr val="0000FF"/>
                  </a:solidFill>
                  <a:latin typeface="Arial"/>
                  <a:cs typeface="Arial"/>
                </a:rPr>
                <a:t>Repeat</a:t>
              </a:r>
              <a:r>
                <a:rPr lang="it-IT" sz="1600" i="1" dirty="0" smtClean="0">
                  <a:solidFill>
                    <a:srgbClr val="0000FF"/>
                  </a:solidFill>
                  <a:latin typeface="Arial"/>
                  <a:cs typeface="Arial"/>
                </a:rPr>
                <a:t> with </a:t>
              </a:r>
              <a:r>
                <a:rPr lang="it-IT" sz="1600" i="1" dirty="0" err="1" smtClean="0">
                  <a:solidFill>
                    <a:srgbClr val="0000FF"/>
                  </a:solidFill>
                  <a:latin typeface="Arial"/>
                  <a:cs typeface="Arial"/>
                </a:rPr>
                <a:t>adjusted</a:t>
              </a:r>
              <a:r>
                <a:rPr lang="it-IT" sz="1600" i="1" dirty="0" smtClean="0">
                  <a:solidFill>
                    <a:srgbClr val="0000FF"/>
                  </a:solidFill>
                  <a:latin typeface="Arial"/>
                  <a:cs typeface="Arial"/>
                </a:rPr>
                <a:t> Ab </a:t>
              </a:r>
              <a:r>
                <a:rPr lang="it-IT" sz="1600" i="1" dirty="0" err="1" smtClean="0">
                  <a:solidFill>
                    <a:srgbClr val="0000FF"/>
                  </a:solidFill>
                  <a:latin typeface="Arial"/>
                  <a:cs typeface="Arial"/>
                </a:rPr>
                <a:t>concentration</a:t>
              </a:r>
              <a:endParaRPr lang="it-IT" sz="1600" i="1" dirty="0">
                <a:solidFill>
                  <a:srgbClr val="0000FF"/>
                </a:solidFill>
                <a:latin typeface="Arial"/>
                <a:cs typeface="Arial"/>
              </a:endParaRPr>
            </a:p>
          </p:txBody>
        </p:sp>
        <p:pic>
          <p:nvPicPr>
            <p:cNvPr id="15" name="Immagine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32040" y="2850299"/>
              <a:ext cx="3006185" cy="2916000"/>
            </a:xfrm>
            <a:prstGeom prst="rect">
              <a:avLst/>
            </a:prstGeom>
          </p:spPr>
        </p:pic>
        <p:sp>
          <p:nvSpPr>
            <p:cNvPr id="30" name="CasellaDiTesto 29"/>
            <p:cNvSpPr txBox="1"/>
            <p:nvPr/>
          </p:nvSpPr>
          <p:spPr>
            <a:xfrm>
              <a:off x="5868144" y="5733256"/>
              <a:ext cx="15573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latin typeface="Arial"/>
                  <a:cs typeface="Arial"/>
                </a:rPr>
                <a:t>CD95 Cy5PE</a:t>
              </a:r>
              <a:endParaRPr lang="it-IT" dirty="0">
                <a:latin typeface="Arial"/>
                <a:cs typeface="Arial"/>
              </a:endParaRPr>
            </a:p>
          </p:txBody>
        </p:sp>
        <p:sp>
          <p:nvSpPr>
            <p:cNvPr id="31" name="CasellaDiTesto 30"/>
            <p:cNvSpPr txBox="1"/>
            <p:nvPr/>
          </p:nvSpPr>
          <p:spPr>
            <a:xfrm rot="16200000">
              <a:off x="3992198" y="3919256"/>
              <a:ext cx="15532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dirty="0" smtClean="0">
                  <a:latin typeface="Arial"/>
                  <a:cs typeface="Arial"/>
                </a:rPr>
                <a:t>CCR7 BV711</a:t>
              </a:r>
              <a:endParaRPr lang="it-IT" dirty="0">
                <a:latin typeface="Arial"/>
                <a:cs typeface="Arial"/>
              </a:endParaRPr>
            </a:p>
          </p:txBody>
        </p:sp>
        <p:cxnSp>
          <p:nvCxnSpPr>
            <p:cNvPr id="35" name="Connettore 1 34"/>
            <p:cNvCxnSpPr/>
            <p:nvPr/>
          </p:nvCxnSpPr>
          <p:spPr>
            <a:xfrm flipH="1">
              <a:off x="6257857" y="3169597"/>
              <a:ext cx="1" cy="2249182"/>
            </a:xfrm>
            <a:prstGeom prst="line">
              <a:avLst/>
            </a:prstGeom>
            <a:ln w="19050" cmpd="sng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2115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91"/>
          <p:cNvSpPr>
            <a:spLocks/>
          </p:cNvSpPr>
          <p:nvPr/>
        </p:nvSpPr>
        <p:spPr bwMode="auto">
          <a:xfrm>
            <a:off x="251520" y="109538"/>
            <a:ext cx="864096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/>
            <a:r>
              <a:rPr lang="en-US" sz="3600" dirty="0" smtClean="0">
                <a:solidFill>
                  <a:srgbClr val="000090"/>
                </a:solidFill>
                <a:latin typeface="Arial Bold" charset="0"/>
                <a:cs typeface="Arial Bold" charset="0"/>
                <a:sym typeface="Arial Bold" charset="0"/>
              </a:rPr>
              <a:t>Sample-specific adjustments</a:t>
            </a:r>
            <a:endParaRPr lang="en-US" sz="3600" dirty="0">
              <a:solidFill>
                <a:srgbClr val="000090"/>
              </a:solidFill>
              <a:latin typeface="Arial Bold" charset="0"/>
              <a:cs typeface="Arial Bold" charset="0"/>
              <a:sym typeface="Arial Bold" charset="0"/>
            </a:endParaRPr>
          </a:p>
        </p:txBody>
      </p:sp>
      <p:sp>
        <p:nvSpPr>
          <p:cNvPr id="6" name="Line 492"/>
          <p:cNvSpPr>
            <a:spLocks noChangeShapeType="1"/>
          </p:cNvSpPr>
          <p:nvPr/>
        </p:nvSpPr>
        <p:spPr bwMode="auto">
          <a:xfrm>
            <a:off x="254000" y="8128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sp>
        <p:nvSpPr>
          <p:cNvPr id="9" name="CasellaDiTesto 8"/>
          <p:cNvSpPr txBox="1"/>
          <p:nvPr/>
        </p:nvSpPr>
        <p:spPr>
          <a:xfrm>
            <a:off x="2123727" y="5867980"/>
            <a:ext cx="1403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smtClean="0">
                <a:latin typeface="Arial"/>
                <a:cs typeface="Arial"/>
              </a:rPr>
              <a:t>CD4 BV570</a:t>
            </a:r>
            <a:endParaRPr lang="it-IT" dirty="0">
              <a:latin typeface="Arial"/>
              <a:cs typeface="Arial"/>
            </a:endParaRPr>
          </a:p>
        </p:txBody>
      </p:sp>
      <p:sp>
        <p:nvSpPr>
          <p:cNvPr id="10" name="CasellaDiTesto 9"/>
          <p:cNvSpPr txBox="1"/>
          <p:nvPr/>
        </p:nvSpPr>
        <p:spPr>
          <a:xfrm rot="16200000">
            <a:off x="-337640" y="3504813"/>
            <a:ext cx="1403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smtClean="0">
                <a:latin typeface="Arial"/>
                <a:cs typeface="Arial"/>
              </a:rPr>
              <a:t>CD8 BV780</a:t>
            </a:r>
            <a:endParaRPr lang="it-IT" dirty="0">
              <a:latin typeface="Arial"/>
              <a:cs typeface="Arial"/>
            </a:endParaRPr>
          </a:p>
        </p:txBody>
      </p:sp>
      <p:pic>
        <p:nvPicPr>
          <p:cNvPr id="3" name="Immagin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42" y="1763964"/>
            <a:ext cx="2021684" cy="1980000"/>
          </a:xfrm>
          <a:prstGeom prst="rect">
            <a:avLst/>
          </a:prstGeom>
        </p:spPr>
      </p:pic>
      <p:pic>
        <p:nvPicPr>
          <p:cNvPr id="4" name="Immagin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8347" y="1763964"/>
            <a:ext cx="2021684" cy="1980000"/>
          </a:xfrm>
          <a:prstGeom prst="rect">
            <a:avLst/>
          </a:prstGeom>
        </p:spPr>
      </p:pic>
      <p:pic>
        <p:nvPicPr>
          <p:cNvPr id="7" name="Immagin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42" y="3815973"/>
            <a:ext cx="2025171" cy="1983415"/>
          </a:xfrm>
          <a:prstGeom prst="rect">
            <a:avLst/>
          </a:prstGeom>
        </p:spPr>
      </p:pic>
      <p:pic>
        <p:nvPicPr>
          <p:cNvPr id="8" name="Immagin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8347" y="3887980"/>
            <a:ext cx="2021684" cy="1980000"/>
          </a:xfrm>
          <a:prstGeom prst="rect">
            <a:avLst/>
          </a:prstGeom>
        </p:spPr>
      </p:pic>
      <p:sp>
        <p:nvSpPr>
          <p:cNvPr id="19" name="CasellaDiTesto 18"/>
          <p:cNvSpPr txBox="1"/>
          <p:nvPr/>
        </p:nvSpPr>
        <p:spPr>
          <a:xfrm>
            <a:off x="1243976" y="1383103"/>
            <a:ext cx="97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Blood </a:t>
            </a:r>
            <a:endParaRPr lang="it-IT" sz="2000" b="1" i="1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0" name="CasellaDiTesto 19"/>
          <p:cNvSpPr txBox="1"/>
          <p:nvPr/>
        </p:nvSpPr>
        <p:spPr>
          <a:xfrm>
            <a:off x="3140589" y="1383103"/>
            <a:ext cx="1671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0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Lung</a:t>
            </a:r>
            <a:r>
              <a:rPr lang="it-IT" sz="20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lang="it-IT" sz="20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tumor</a:t>
            </a:r>
            <a:endParaRPr lang="it-IT" sz="2000" b="1" i="1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  <p:cxnSp>
        <p:nvCxnSpPr>
          <p:cNvPr id="21" name="Connettore 1 20"/>
          <p:cNvCxnSpPr/>
          <p:nvPr/>
        </p:nvCxnSpPr>
        <p:spPr>
          <a:xfrm>
            <a:off x="971600" y="2204864"/>
            <a:ext cx="2952328" cy="0"/>
          </a:xfrm>
          <a:prstGeom prst="line">
            <a:avLst/>
          </a:prstGeom>
          <a:ln w="19050" cmpd="sng"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/>
          <p:cNvSpPr txBox="1"/>
          <p:nvPr/>
        </p:nvSpPr>
        <p:spPr>
          <a:xfrm>
            <a:off x="4932040" y="1671135"/>
            <a:ext cx="39604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“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Optimal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” CD8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titer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according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to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titration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in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blood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 </a:t>
            </a:r>
            <a:r>
              <a:rPr lang="it-IT" sz="1600" b="1" i="1" dirty="0" err="1" smtClean="0">
                <a:solidFill>
                  <a:srgbClr val="8000FF"/>
                </a:solidFill>
                <a:latin typeface="Arial"/>
                <a:cs typeface="Arial"/>
                <a:sym typeface="Wingdings"/>
              </a:rPr>
              <a:t>too</a:t>
            </a:r>
            <a:r>
              <a:rPr lang="it-IT" sz="1600" b="1" i="1" dirty="0" smtClean="0">
                <a:solidFill>
                  <a:srgbClr val="8000FF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it-IT" sz="1600" b="1" i="1" dirty="0" err="1" smtClean="0">
                <a:solidFill>
                  <a:srgbClr val="8000FF"/>
                </a:solidFill>
                <a:latin typeface="Arial"/>
                <a:cs typeface="Arial"/>
                <a:sym typeface="Wingdings"/>
              </a:rPr>
              <a:t>much</a:t>
            </a:r>
            <a:r>
              <a:rPr lang="it-IT" sz="1600" b="1" i="1" dirty="0" smtClean="0">
                <a:solidFill>
                  <a:srgbClr val="8000FF"/>
                </a:solidFill>
                <a:latin typeface="Arial"/>
                <a:cs typeface="Arial"/>
                <a:sym typeface="Wingdings"/>
              </a:rPr>
              <a:t> spread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onto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other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channels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 due to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increased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 CD8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fluorescence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 in the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  <a:sym typeface="Wingdings"/>
              </a:rPr>
              <a:t>tumor</a:t>
            </a:r>
            <a:endParaRPr lang="it-IT" sz="1600" i="1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6" name="CasellaDiTesto 25"/>
          <p:cNvSpPr txBox="1"/>
          <p:nvPr/>
        </p:nvSpPr>
        <p:spPr>
          <a:xfrm>
            <a:off x="4932040" y="3861048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Suboptimal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CD8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titer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to reduce data spread and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increase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sensitivity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in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tumor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sample</a:t>
            </a:r>
            <a:endParaRPr lang="it-IT" sz="1600" i="1" dirty="0">
              <a:solidFill>
                <a:srgbClr val="0000FF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7751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91"/>
          <p:cNvSpPr>
            <a:spLocks/>
          </p:cNvSpPr>
          <p:nvPr/>
        </p:nvSpPr>
        <p:spPr bwMode="auto">
          <a:xfrm>
            <a:off x="251520" y="109538"/>
            <a:ext cx="864096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/>
            <a:r>
              <a:rPr lang="en-US" sz="3600" dirty="0" smtClean="0">
                <a:solidFill>
                  <a:srgbClr val="000090"/>
                </a:solidFill>
                <a:latin typeface="Arial Bold" charset="0"/>
                <a:cs typeface="Arial Bold" charset="0"/>
                <a:sym typeface="Arial Bold" charset="0"/>
              </a:rPr>
              <a:t>Sample-specific adjustments</a:t>
            </a:r>
            <a:endParaRPr lang="en-US" sz="3600" dirty="0">
              <a:solidFill>
                <a:srgbClr val="000090"/>
              </a:solidFill>
              <a:latin typeface="Arial Bold" charset="0"/>
              <a:cs typeface="Arial Bold" charset="0"/>
              <a:sym typeface="Arial Bold" charset="0"/>
            </a:endParaRPr>
          </a:p>
        </p:txBody>
      </p:sp>
      <p:sp>
        <p:nvSpPr>
          <p:cNvPr id="6" name="Line 492"/>
          <p:cNvSpPr>
            <a:spLocks noChangeShapeType="1"/>
          </p:cNvSpPr>
          <p:nvPr/>
        </p:nvSpPr>
        <p:spPr bwMode="auto">
          <a:xfrm>
            <a:off x="254000" y="8128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475137"/>
            <a:ext cx="6178287" cy="2808312"/>
          </a:xfrm>
          <a:prstGeom prst="rect">
            <a:avLst/>
          </a:prstGeom>
        </p:spPr>
      </p:pic>
      <p:sp>
        <p:nvSpPr>
          <p:cNvPr id="16" name="CasellaDiTesto 15"/>
          <p:cNvSpPr txBox="1"/>
          <p:nvPr/>
        </p:nvSpPr>
        <p:spPr>
          <a:xfrm>
            <a:off x="1984717" y="5219908"/>
            <a:ext cx="1724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smtClean="0">
                <a:latin typeface="Arial"/>
                <a:cs typeface="Arial"/>
              </a:rPr>
              <a:t>CD45 Cy7APC</a:t>
            </a:r>
            <a:endParaRPr lang="it-IT" dirty="0">
              <a:latin typeface="Arial"/>
              <a:cs typeface="Arial"/>
            </a:endParaRPr>
          </a:p>
        </p:txBody>
      </p:sp>
      <p:sp>
        <p:nvSpPr>
          <p:cNvPr id="17" name="CasellaDiTesto 16"/>
          <p:cNvSpPr txBox="1"/>
          <p:nvPr/>
        </p:nvSpPr>
        <p:spPr>
          <a:xfrm rot="16200000">
            <a:off x="183352" y="3532868"/>
            <a:ext cx="1801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 smtClean="0">
                <a:latin typeface="Arial"/>
                <a:cs typeface="Arial"/>
              </a:rPr>
              <a:t>Aqua</a:t>
            </a:r>
            <a:r>
              <a:rPr lang="it-IT" dirty="0" smtClean="0">
                <a:latin typeface="Arial"/>
                <a:cs typeface="Arial"/>
              </a:rPr>
              <a:t> Live/dead</a:t>
            </a:r>
            <a:endParaRPr lang="it-IT" dirty="0">
              <a:latin typeface="Arial"/>
              <a:cs typeface="Arial"/>
            </a:endParaRPr>
          </a:p>
        </p:txBody>
      </p:sp>
      <p:sp>
        <p:nvSpPr>
          <p:cNvPr id="18" name="CasellaDiTesto 17"/>
          <p:cNvSpPr txBox="1"/>
          <p:nvPr/>
        </p:nvSpPr>
        <p:spPr>
          <a:xfrm>
            <a:off x="5468727" y="5219908"/>
            <a:ext cx="1403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smtClean="0">
                <a:latin typeface="Arial"/>
                <a:cs typeface="Arial"/>
              </a:rPr>
              <a:t>CD3 BV655</a:t>
            </a:r>
            <a:endParaRPr lang="it-IT" dirty="0">
              <a:latin typeface="Arial"/>
              <a:cs typeface="Arial"/>
            </a:endParaRPr>
          </a:p>
        </p:txBody>
      </p:sp>
      <p:sp>
        <p:nvSpPr>
          <p:cNvPr id="22" name="CasellaDiTesto 21"/>
          <p:cNvSpPr txBox="1"/>
          <p:nvPr/>
        </p:nvSpPr>
        <p:spPr>
          <a:xfrm>
            <a:off x="971600" y="1692096"/>
            <a:ext cx="7056784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Dispensable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CD45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staining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, CD3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separates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very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well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to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identify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T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cells</a:t>
            </a:r>
            <a:endParaRPr lang="it-IT" sz="1600" i="1" dirty="0" smtClean="0">
              <a:solidFill>
                <a:srgbClr val="0000FF"/>
              </a:solidFill>
              <a:latin typeface="Arial"/>
              <a:cs typeface="Arial"/>
            </a:endParaRPr>
          </a:p>
          <a:p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Free Cy7APC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channel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to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accommodate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HLA-DR and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detect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activated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lang="it-IT" sz="1600" i="1" dirty="0" err="1" smtClean="0">
                <a:solidFill>
                  <a:srgbClr val="0000FF"/>
                </a:solidFill>
                <a:latin typeface="Arial"/>
                <a:cs typeface="Arial"/>
              </a:rPr>
              <a:t>cells</a:t>
            </a:r>
            <a:r>
              <a:rPr lang="it-IT" sz="1600" i="1" dirty="0" smtClean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endParaRPr lang="it-IT" sz="1600" i="1" dirty="0">
              <a:solidFill>
                <a:srgbClr val="0000FF"/>
              </a:solidFill>
              <a:latin typeface="Arial"/>
              <a:cs typeface="Arial"/>
            </a:endParaRPr>
          </a:p>
        </p:txBody>
      </p:sp>
      <p:sp>
        <p:nvSpPr>
          <p:cNvPr id="24" name="CasellaDiTesto 23"/>
          <p:cNvSpPr txBox="1"/>
          <p:nvPr/>
        </p:nvSpPr>
        <p:spPr>
          <a:xfrm>
            <a:off x="150980" y="908720"/>
            <a:ext cx="16864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Lung</a:t>
            </a:r>
            <a:r>
              <a:rPr lang="it-IT" sz="2000" b="1" i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 </a:t>
            </a:r>
            <a:r>
              <a:rPr lang="it-IT" sz="2000" b="1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"/>
                <a:cs typeface="Arial"/>
              </a:rPr>
              <a:t>tissue</a:t>
            </a:r>
            <a:endParaRPr lang="it-IT" sz="2000" b="1" i="1" dirty="0">
              <a:solidFill>
                <a:schemeClr val="tx1">
                  <a:lumMod val="50000"/>
                  <a:lumOff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8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33400"/>
            <a:ext cx="8077200" cy="5386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600"/>
            <a:r>
              <a:rPr lang="en-US" sz="2000" b="1" dirty="0" smtClean="0"/>
              <a:t>Fluor	Antigen	Notes</a:t>
            </a:r>
          </a:p>
          <a:p>
            <a:pPr defTabSz="990600"/>
            <a:endParaRPr lang="en-US" dirty="0" smtClean="0"/>
          </a:p>
          <a:p>
            <a:pPr defTabSz="990600"/>
            <a:r>
              <a:rPr lang="en-US" dirty="0" smtClean="0"/>
              <a:t>FITC	HLA-DR	</a:t>
            </a:r>
          </a:p>
          <a:p>
            <a:pPr defTabSz="990600"/>
            <a:r>
              <a:rPr lang="en-US" dirty="0" smtClean="0"/>
              <a:t>PerCP5.5	CD45RO</a:t>
            </a:r>
          </a:p>
          <a:p>
            <a:pPr defTabSz="990600"/>
            <a:r>
              <a:rPr lang="en-US" dirty="0" smtClean="0"/>
              <a:t>PE	IRF4</a:t>
            </a:r>
          </a:p>
          <a:p>
            <a:pPr defTabSz="990600"/>
            <a:r>
              <a:rPr lang="en-US" dirty="0" smtClean="0"/>
              <a:t>PE-</a:t>
            </a:r>
            <a:r>
              <a:rPr lang="en-US" dirty="0" err="1" smtClean="0"/>
              <a:t>TxR</a:t>
            </a:r>
            <a:r>
              <a:rPr lang="en-US" dirty="0" smtClean="0"/>
              <a:t>	</a:t>
            </a:r>
            <a:r>
              <a:rPr lang="en-US" dirty="0" err="1" smtClean="0"/>
              <a:t>Eomes</a:t>
            </a:r>
            <a:r>
              <a:rPr lang="en-US" dirty="0" smtClean="0"/>
              <a:t>	</a:t>
            </a:r>
          </a:p>
          <a:p>
            <a:pPr defTabSz="990600"/>
            <a:r>
              <a:rPr lang="en-US" dirty="0" smtClean="0"/>
              <a:t>PE-Cy5	CD95	</a:t>
            </a:r>
          </a:p>
          <a:p>
            <a:pPr defTabSz="990600"/>
            <a:r>
              <a:rPr lang="en-US" dirty="0" smtClean="0"/>
              <a:t>PE-Cy7	T-bet</a:t>
            </a:r>
          </a:p>
          <a:p>
            <a:pPr defTabSz="990600"/>
            <a:r>
              <a:rPr lang="en-US" dirty="0" smtClean="0"/>
              <a:t>APC	CD45	</a:t>
            </a:r>
          </a:p>
          <a:p>
            <a:pPr defTabSz="990600"/>
            <a:r>
              <a:rPr lang="en-US" dirty="0" smtClean="0"/>
              <a:t>Alexa700	</a:t>
            </a:r>
            <a:r>
              <a:rPr lang="en-US" dirty="0" err="1" smtClean="0"/>
              <a:t>GrB</a:t>
            </a:r>
            <a:r>
              <a:rPr lang="en-US" dirty="0" smtClean="0"/>
              <a:t>	</a:t>
            </a:r>
          </a:p>
          <a:p>
            <a:pPr defTabSz="990600"/>
            <a:r>
              <a:rPr lang="en-US" dirty="0" smtClean="0"/>
              <a:t>Cy7APC	CD69	</a:t>
            </a:r>
          </a:p>
          <a:p>
            <a:pPr defTabSz="990600"/>
            <a:r>
              <a:rPr lang="en-US" dirty="0" smtClean="0"/>
              <a:t>BV421	PD-1</a:t>
            </a:r>
          </a:p>
          <a:p>
            <a:pPr defTabSz="990600"/>
            <a:r>
              <a:rPr lang="en-US" dirty="0" smtClean="0"/>
              <a:t>Dump	Aqua</a:t>
            </a:r>
          </a:p>
          <a:p>
            <a:pPr defTabSz="990600"/>
            <a:r>
              <a:rPr lang="en-US" dirty="0" smtClean="0"/>
              <a:t>BV570	CD4</a:t>
            </a:r>
          </a:p>
          <a:p>
            <a:pPr defTabSz="990600"/>
            <a:r>
              <a:rPr lang="en-US" dirty="0" smtClean="0"/>
              <a:t>BV605	CD57	</a:t>
            </a:r>
          </a:p>
          <a:p>
            <a:pPr defTabSz="990600"/>
            <a:r>
              <a:rPr lang="en-US" dirty="0" smtClean="0"/>
              <a:t>BV650	CD3</a:t>
            </a:r>
          </a:p>
          <a:p>
            <a:pPr defTabSz="990600"/>
            <a:r>
              <a:rPr lang="en-US" dirty="0" smtClean="0"/>
              <a:t>BV711	CCR7</a:t>
            </a:r>
          </a:p>
          <a:p>
            <a:pPr defTabSz="990600"/>
            <a:r>
              <a:rPr lang="en-US" dirty="0" smtClean="0"/>
              <a:t>BV780	CD8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33400"/>
            <a:ext cx="8077200" cy="5386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600"/>
            <a:r>
              <a:rPr lang="en-US" sz="2000" b="1" dirty="0" smtClean="0"/>
              <a:t>Fluor	Antigen	Notes</a:t>
            </a:r>
          </a:p>
          <a:p>
            <a:pPr defTabSz="990600"/>
            <a:endParaRPr lang="en-US" dirty="0" smtClean="0"/>
          </a:p>
          <a:p>
            <a:pPr defTabSz="990600"/>
            <a:r>
              <a:rPr lang="en-US" dirty="0" smtClean="0"/>
              <a:t>FITC	HLA-DR	</a:t>
            </a:r>
          </a:p>
          <a:p>
            <a:pPr defTabSz="990600"/>
            <a:r>
              <a:rPr lang="en-US" dirty="0" smtClean="0"/>
              <a:t>PerCP5.5	</a:t>
            </a:r>
            <a:r>
              <a:rPr lang="en-US" b="1" dirty="0" smtClean="0">
                <a:solidFill>
                  <a:srgbClr val="FF0000"/>
                </a:solidFill>
              </a:rPr>
              <a:t>CD45RO</a:t>
            </a:r>
          </a:p>
          <a:p>
            <a:pPr defTabSz="990600"/>
            <a:r>
              <a:rPr lang="en-US" dirty="0" smtClean="0"/>
              <a:t>PE	IRF4</a:t>
            </a:r>
          </a:p>
          <a:p>
            <a:pPr defTabSz="990600"/>
            <a:r>
              <a:rPr lang="en-US" dirty="0" smtClean="0"/>
              <a:t>PE-</a:t>
            </a:r>
            <a:r>
              <a:rPr lang="en-US" dirty="0" err="1" smtClean="0"/>
              <a:t>TxR</a:t>
            </a:r>
            <a:r>
              <a:rPr lang="en-US" dirty="0" smtClean="0"/>
              <a:t>	</a:t>
            </a:r>
            <a:r>
              <a:rPr lang="en-US" dirty="0" err="1" smtClean="0"/>
              <a:t>Eomes</a:t>
            </a:r>
            <a:r>
              <a:rPr lang="en-US" dirty="0" smtClean="0"/>
              <a:t>	</a:t>
            </a:r>
          </a:p>
          <a:p>
            <a:pPr defTabSz="990600"/>
            <a:r>
              <a:rPr lang="en-US" dirty="0" smtClean="0"/>
              <a:t>PE-Cy5	</a:t>
            </a:r>
            <a:r>
              <a:rPr lang="en-US" b="1" dirty="0" smtClean="0">
                <a:solidFill>
                  <a:srgbClr val="FF0000"/>
                </a:solidFill>
              </a:rPr>
              <a:t>CD95</a:t>
            </a:r>
            <a:r>
              <a:rPr lang="en-US" dirty="0" smtClean="0"/>
              <a:t>	</a:t>
            </a:r>
          </a:p>
          <a:p>
            <a:pPr defTabSz="990600"/>
            <a:r>
              <a:rPr lang="en-US" dirty="0" smtClean="0"/>
              <a:t>PE-Cy7	T-bet</a:t>
            </a:r>
          </a:p>
          <a:p>
            <a:pPr defTabSz="990600"/>
            <a:r>
              <a:rPr lang="en-US" dirty="0" smtClean="0"/>
              <a:t>APC	</a:t>
            </a:r>
            <a:r>
              <a:rPr lang="en-US" b="1" dirty="0" smtClean="0">
                <a:solidFill>
                  <a:srgbClr val="FF0000"/>
                </a:solidFill>
              </a:rPr>
              <a:t>CD45</a:t>
            </a:r>
            <a:r>
              <a:rPr lang="en-US" dirty="0" smtClean="0"/>
              <a:t>	</a:t>
            </a:r>
          </a:p>
          <a:p>
            <a:pPr defTabSz="990600"/>
            <a:r>
              <a:rPr lang="en-US" dirty="0" smtClean="0"/>
              <a:t>Alexa700	</a:t>
            </a:r>
            <a:r>
              <a:rPr lang="en-US" dirty="0" err="1" smtClean="0"/>
              <a:t>GrB</a:t>
            </a:r>
            <a:r>
              <a:rPr lang="en-US" dirty="0" smtClean="0"/>
              <a:t>	</a:t>
            </a:r>
          </a:p>
          <a:p>
            <a:pPr defTabSz="990600"/>
            <a:r>
              <a:rPr lang="en-US" dirty="0" smtClean="0"/>
              <a:t>Cy7APC	CD69	</a:t>
            </a:r>
          </a:p>
          <a:p>
            <a:pPr defTabSz="990600"/>
            <a:r>
              <a:rPr lang="en-US" dirty="0" smtClean="0"/>
              <a:t>BV421	PD-1</a:t>
            </a:r>
          </a:p>
          <a:p>
            <a:pPr defTabSz="990600"/>
            <a:r>
              <a:rPr lang="en-US" dirty="0" smtClean="0"/>
              <a:t>Dump	</a:t>
            </a:r>
            <a:r>
              <a:rPr lang="en-US" b="1" dirty="0" smtClean="0">
                <a:solidFill>
                  <a:srgbClr val="FF0000"/>
                </a:solidFill>
              </a:rPr>
              <a:t>Aqua</a:t>
            </a:r>
          </a:p>
          <a:p>
            <a:pPr defTabSz="990600"/>
            <a:r>
              <a:rPr lang="en-US" dirty="0" smtClean="0"/>
              <a:t>BV570	</a:t>
            </a:r>
            <a:r>
              <a:rPr lang="en-US" b="1" dirty="0" smtClean="0">
                <a:solidFill>
                  <a:srgbClr val="FF0000"/>
                </a:solidFill>
              </a:rPr>
              <a:t>CD4</a:t>
            </a:r>
          </a:p>
          <a:p>
            <a:pPr defTabSz="990600"/>
            <a:r>
              <a:rPr lang="en-US" dirty="0" smtClean="0"/>
              <a:t>BV605	</a:t>
            </a:r>
            <a:r>
              <a:rPr lang="en-US" b="1" dirty="0" smtClean="0">
                <a:solidFill>
                  <a:srgbClr val="FF0000"/>
                </a:solidFill>
              </a:rPr>
              <a:t>CD57</a:t>
            </a:r>
            <a:r>
              <a:rPr lang="en-US" dirty="0" smtClean="0"/>
              <a:t>	</a:t>
            </a:r>
          </a:p>
          <a:p>
            <a:pPr defTabSz="990600"/>
            <a:r>
              <a:rPr lang="en-US" dirty="0" smtClean="0"/>
              <a:t>BV650	</a:t>
            </a:r>
            <a:r>
              <a:rPr lang="en-US" b="1" dirty="0" smtClean="0">
                <a:solidFill>
                  <a:srgbClr val="FF0000"/>
                </a:solidFill>
              </a:rPr>
              <a:t>CD3</a:t>
            </a:r>
          </a:p>
          <a:p>
            <a:pPr defTabSz="990600"/>
            <a:r>
              <a:rPr lang="en-US" dirty="0" smtClean="0"/>
              <a:t>BV711	CCR7</a:t>
            </a:r>
          </a:p>
          <a:p>
            <a:pPr defTabSz="990600"/>
            <a:r>
              <a:rPr lang="en-US" dirty="0" smtClean="0"/>
              <a:t>BV780	</a:t>
            </a:r>
            <a:r>
              <a:rPr lang="en-US" b="1" dirty="0" smtClean="0">
                <a:solidFill>
                  <a:srgbClr val="FF0000"/>
                </a:solidFill>
              </a:rPr>
              <a:t>CD8</a:t>
            </a:r>
            <a:r>
              <a:rPr lang="en-US" dirty="0" smtClean="0"/>
              <a:t>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33400"/>
            <a:ext cx="8077200" cy="56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600"/>
            <a:r>
              <a:rPr lang="en-US" sz="2000" b="1" dirty="0" smtClean="0"/>
              <a:t>Fluor	Antigen	Notes</a:t>
            </a:r>
          </a:p>
          <a:p>
            <a:pPr defTabSz="990600"/>
            <a:endParaRPr lang="en-US" dirty="0" smtClean="0"/>
          </a:p>
          <a:p>
            <a:pPr defTabSz="990600"/>
            <a:r>
              <a:rPr lang="en-US" dirty="0" smtClean="0"/>
              <a:t>FITC	</a:t>
            </a:r>
            <a:r>
              <a:rPr lang="en-US" b="1" dirty="0" smtClean="0">
                <a:solidFill>
                  <a:srgbClr val="0000FF"/>
                </a:solidFill>
              </a:rPr>
              <a:t>HLA-DR	Poor, move to Cy7APC</a:t>
            </a:r>
          </a:p>
          <a:p>
            <a:pPr defTabSz="990600"/>
            <a:r>
              <a:rPr lang="en-US" dirty="0" smtClean="0"/>
              <a:t>PerCP5.5	</a:t>
            </a:r>
            <a:r>
              <a:rPr lang="en-US" b="1" dirty="0" smtClean="0">
                <a:solidFill>
                  <a:srgbClr val="FF0000"/>
                </a:solidFill>
              </a:rPr>
              <a:t>CD45RO</a:t>
            </a:r>
          </a:p>
          <a:p>
            <a:pPr defTabSz="990600"/>
            <a:r>
              <a:rPr lang="en-US" dirty="0" smtClean="0"/>
              <a:t>PE	IRF4</a:t>
            </a:r>
          </a:p>
          <a:p>
            <a:pPr defTabSz="990600"/>
            <a:r>
              <a:rPr lang="en-US" dirty="0" smtClean="0"/>
              <a:t>PE-</a:t>
            </a:r>
            <a:r>
              <a:rPr lang="en-US" dirty="0" err="1" smtClean="0"/>
              <a:t>TxR</a:t>
            </a:r>
            <a:r>
              <a:rPr lang="en-US" dirty="0" smtClean="0"/>
              <a:t>	</a:t>
            </a:r>
            <a:r>
              <a:rPr lang="en-US" b="1" dirty="0" err="1" smtClean="0">
                <a:solidFill>
                  <a:srgbClr val="F79646"/>
                </a:solidFill>
              </a:rPr>
              <a:t>Eomes</a:t>
            </a:r>
            <a:r>
              <a:rPr lang="en-US" b="1" dirty="0" smtClean="0">
                <a:solidFill>
                  <a:srgbClr val="F79646"/>
                </a:solidFill>
              </a:rPr>
              <a:t>	Not that bright</a:t>
            </a:r>
          </a:p>
          <a:p>
            <a:pPr defTabSz="990600"/>
            <a:r>
              <a:rPr lang="en-US" b="1" dirty="0" smtClean="0">
                <a:solidFill>
                  <a:srgbClr val="F79646"/>
                </a:solidFill>
              </a:rPr>
              <a:t>		Sensitive to CD57 spread</a:t>
            </a:r>
          </a:p>
          <a:p>
            <a:pPr defTabSz="990600"/>
            <a:r>
              <a:rPr lang="en-US" dirty="0" smtClean="0"/>
              <a:t>PE-Cy5	</a:t>
            </a:r>
            <a:r>
              <a:rPr lang="en-US" b="1" dirty="0" smtClean="0">
                <a:solidFill>
                  <a:srgbClr val="408000"/>
                </a:solidFill>
              </a:rPr>
              <a:t>CD95	TF buffer sensitive</a:t>
            </a:r>
          </a:p>
          <a:p>
            <a:pPr defTabSz="990600"/>
            <a:r>
              <a:rPr lang="en-US" dirty="0" smtClean="0"/>
              <a:t>PE-Cy7	T-bet</a:t>
            </a:r>
          </a:p>
          <a:p>
            <a:pPr defTabSz="990600"/>
            <a:r>
              <a:rPr lang="en-US" dirty="0" smtClean="0"/>
              <a:t>APC	</a:t>
            </a:r>
            <a:r>
              <a:rPr lang="en-US" b="1" dirty="0" smtClean="0">
                <a:solidFill>
                  <a:srgbClr val="666666"/>
                </a:solidFill>
              </a:rPr>
              <a:t>CD45	Dispensable, drop</a:t>
            </a:r>
          </a:p>
          <a:p>
            <a:pPr defTabSz="990600"/>
            <a:r>
              <a:rPr lang="en-US" dirty="0" smtClean="0"/>
              <a:t>Alexa700	</a:t>
            </a:r>
            <a:r>
              <a:rPr lang="en-US" dirty="0" err="1" smtClean="0"/>
              <a:t>GrB</a:t>
            </a:r>
            <a:r>
              <a:rPr lang="en-US" dirty="0" smtClean="0"/>
              <a:t>	</a:t>
            </a:r>
          </a:p>
          <a:p>
            <a:pPr defTabSz="990600"/>
            <a:r>
              <a:rPr lang="en-US" dirty="0" smtClean="0"/>
              <a:t>Cy7APC	</a:t>
            </a:r>
            <a:r>
              <a:rPr lang="en-US" b="1" dirty="0" smtClean="0">
                <a:solidFill>
                  <a:srgbClr val="0000FF"/>
                </a:solidFill>
              </a:rPr>
              <a:t>CD69</a:t>
            </a:r>
            <a:r>
              <a:rPr lang="en-US" b="1" dirty="0" smtClean="0">
                <a:solidFill>
                  <a:srgbClr val="FF0000"/>
                </a:solidFill>
              </a:rPr>
              <a:t>	</a:t>
            </a:r>
            <a:r>
              <a:rPr lang="en-US" b="1" dirty="0" smtClean="0">
                <a:solidFill>
                  <a:srgbClr val="0000FF"/>
                </a:solidFill>
              </a:rPr>
              <a:t>Fine, but move to FITC</a:t>
            </a:r>
          </a:p>
          <a:p>
            <a:pPr defTabSz="990600"/>
            <a:r>
              <a:rPr lang="en-US" dirty="0" smtClean="0"/>
              <a:t>BV421	PD-1</a:t>
            </a:r>
          </a:p>
          <a:p>
            <a:pPr defTabSz="990600"/>
            <a:r>
              <a:rPr lang="en-US" dirty="0" smtClean="0"/>
              <a:t>Dump	</a:t>
            </a:r>
            <a:r>
              <a:rPr lang="en-US" b="1" dirty="0" smtClean="0">
                <a:solidFill>
                  <a:srgbClr val="FF0000"/>
                </a:solidFill>
              </a:rPr>
              <a:t>Aqua</a:t>
            </a:r>
          </a:p>
          <a:p>
            <a:pPr defTabSz="990600"/>
            <a:r>
              <a:rPr lang="en-US" dirty="0" smtClean="0"/>
              <a:t>BV570	</a:t>
            </a:r>
            <a:r>
              <a:rPr lang="en-US" b="1" dirty="0" smtClean="0">
                <a:solidFill>
                  <a:srgbClr val="FF0000"/>
                </a:solidFill>
              </a:rPr>
              <a:t>CD4</a:t>
            </a:r>
          </a:p>
          <a:p>
            <a:pPr defTabSz="990600"/>
            <a:r>
              <a:rPr lang="en-US" dirty="0" smtClean="0"/>
              <a:t>BV605	</a:t>
            </a:r>
            <a:r>
              <a:rPr lang="en-US" b="1" dirty="0" smtClean="0">
                <a:solidFill>
                  <a:srgbClr val="FF6600"/>
                </a:solidFill>
              </a:rPr>
              <a:t>CD57	Very bright, titer down</a:t>
            </a:r>
          </a:p>
          <a:p>
            <a:pPr defTabSz="990600"/>
            <a:r>
              <a:rPr lang="en-US" dirty="0" smtClean="0"/>
              <a:t>BV650	</a:t>
            </a:r>
            <a:r>
              <a:rPr lang="en-US" b="1" dirty="0" smtClean="0">
                <a:solidFill>
                  <a:srgbClr val="FF0000"/>
                </a:solidFill>
              </a:rPr>
              <a:t>CD3</a:t>
            </a:r>
          </a:p>
          <a:p>
            <a:pPr defTabSz="990600"/>
            <a:r>
              <a:rPr lang="en-US" dirty="0" smtClean="0"/>
              <a:t>BV711	</a:t>
            </a:r>
            <a:r>
              <a:rPr lang="en-US" dirty="0" smtClean="0">
                <a:solidFill>
                  <a:srgbClr val="000000"/>
                </a:solidFill>
              </a:rPr>
              <a:t>CCR7</a:t>
            </a:r>
          </a:p>
          <a:p>
            <a:pPr defTabSz="990600"/>
            <a:r>
              <a:rPr lang="en-US" dirty="0" smtClean="0"/>
              <a:t>BV780	</a:t>
            </a:r>
            <a:r>
              <a:rPr lang="en-US" b="1" dirty="0" smtClean="0">
                <a:solidFill>
                  <a:srgbClr val="FF0000"/>
                </a:solidFill>
              </a:rPr>
              <a:t>CD8	</a:t>
            </a:r>
            <a:r>
              <a:rPr lang="en-US" b="1" dirty="0" smtClean="0">
                <a:solidFill>
                  <a:srgbClr val="0000FF"/>
                </a:solidFill>
              </a:rPr>
              <a:t>Titer down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33400"/>
            <a:ext cx="8077200" cy="56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600"/>
            <a:r>
              <a:rPr lang="en-US" sz="2000" b="1" dirty="0" smtClean="0"/>
              <a:t>Fluor	Antigen	Notes</a:t>
            </a:r>
          </a:p>
          <a:p>
            <a:pPr defTabSz="990600"/>
            <a:endParaRPr lang="en-US" dirty="0" smtClean="0"/>
          </a:p>
          <a:p>
            <a:pPr defTabSz="990600"/>
            <a:r>
              <a:rPr lang="en-US" dirty="0" smtClean="0"/>
              <a:t>FITC	</a:t>
            </a:r>
            <a:r>
              <a:rPr lang="en-US" b="1" dirty="0" smtClean="0">
                <a:solidFill>
                  <a:srgbClr val="0000FF"/>
                </a:solidFill>
              </a:rPr>
              <a:t>HLA-DR	Poor, move to Cy7APC</a:t>
            </a:r>
          </a:p>
          <a:p>
            <a:pPr defTabSz="990600"/>
            <a:r>
              <a:rPr lang="en-US" dirty="0" smtClean="0"/>
              <a:t>PerCP5.5	</a:t>
            </a:r>
            <a:r>
              <a:rPr lang="en-US" b="1" dirty="0" smtClean="0">
                <a:solidFill>
                  <a:srgbClr val="FF0000"/>
                </a:solidFill>
              </a:rPr>
              <a:t>CD45RO</a:t>
            </a:r>
          </a:p>
          <a:p>
            <a:pPr defTabSz="990600"/>
            <a:r>
              <a:rPr lang="en-US" dirty="0" smtClean="0"/>
              <a:t>PE	IRF4</a:t>
            </a:r>
          </a:p>
          <a:p>
            <a:pPr defTabSz="990600"/>
            <a:r>
              <a:rPr lang="en-US" dirty="0" smtClean="0"/>
              <a:t>PE-</a:t>
            </a:r>
            <a:r>
              <a:rPr lang="en-US" dirty="0" err="1" smtClean="0"/>
              <a:t>TxR</a:t>
            </a:r>
            <a:r>
              <a:rPr lang="en-US" dirty="0" smtClean="0"/>
              <a:t>	</a:t>
            </a:r>
            <a:r>
              <a:rPr lang="en-US" b="1" dirty="0" err="1" smtClean="0">
                <a:solidFill>
                  <a:schemeClr val="accent6"/>
                </a:solidFill>
              </a:rPr>
              <a:t>Eomes</a:t>
            </a:r>
            <a:r>
              <a:rPr lang="en-US" b="1" dirty="0" smtClean="0">
                <a:solidFill>
                  <a:schemeClr val="accent6"/>
                </a:solidFill>
              </a:rPr>
              <a:t>	Not that bright</a:t>
            </a:r>
          </a:p>
          <a:p>
            <a:pPr defTabSz="990600"/>
            <a:r>
              <a:rPr lang="en-US" b="1" dirty="0" smtClean="0">
                <a:solidFill>
                  <a:schemeClr val="accent6"/>
                </a:solidFill>
              </a:rPr>
              <a:t>		Sensitive to CD57 spread</a:t>
            </a:r>
          </a:p>
          <a:p>
            <a:pPr defTabSz="990600"/>
            <a:r>
              <a:rPr lang="en-US" dirty="0" smtClean="0"/>
              <a:t>PE-Cy5	</a:t>
            </a:r>
            <a:r>
              <a:rPr lang="en-US" b="1" dirty="0" smtClean="0">
                <a:solidFill>
                  <a:srgbClr val="408000"/>
                </a:solidFill>
              </a:rPr>
              <a:t>CD95	TF buffer sensitive</a:t>
            </a:r>
          </a:p>
          <a:p>
            <a:pPr defTabSz="990600"/>
            <a:r>
              <a:rPr lang="en-US" dirty="0" smtClean="0"/>
              <a:t>PE-Cy7	T-bet</a:t>
            </a:r>
          </a:p>
          <a:p>
            <a:pPr defTabSz="990600"/>
            <a:r>
              <a:rPr lang="en-US" dirty="0" smtClean="0"/>
              <a:t>APC	</a:t>
            </a:r>
            <a:r>
              <a:rPr lang="en-US" b="1" dirty="0" smtClean="0">
                <a:solidFill>
                  <a:srgbClr val="666666"/>
                </a:solidFill>
              </a:rPr>
              <a:t>CD45	Dispensable, drop</a:t>
            </a:r>
          </a:p>
          <a:p>
            <a:pPr defTabSz="990600"/>
            <a:r>
              <a:rPr lang="en-US" dirty="0" smtClean="0"/>
              <a:t>Alexa700	</a:t>
            </a:r>
            <a:r>
              <a:rPr lang="en-US" dirty="0" err="1" smtClean="0"/>
              <a:t>GrB</a:t>
            </a:r>
            <a:r>
              <a:rPr lang="en-US" dirty="0" smtClean="0"/>
              <a:t>	</a:t>
            </a:r>
          </a:p>
          <a:p>
            <a:pPr defTabSz="990600"/>
            <a:r>
              <a:rPr lang="en-US" dirty="0" smtClean="0"/>
              <a:t>Cy7APC	</a:t>
            </a:r>
            <a:r>
              <a:rPr lang="en-US" b="1" dirty="0" smtClean="0">
                <a:solidFill>
                  <a:srgbClr val="FF0000"/>
                </a:solidFill>
              </a:rPr>
              <a:t>CD69	</a:t>
            </a:r>
            <a:r>
              <a:rPr lang="en-US" b="1" dirty="0" smtClean="0">
                <a:solidFill>
                  <a:srgbClr val="0000FF"/>
                </a:solidFill>
              </a:rPr>
              <a:t>Fine, but move to FITC</a:t>
            </a:r>
          </a:p>
          <a:p>
            <a:pPr defTabSz="990600"/>
            <a:r>
              <a:rPr lang="en-US" dirty="0" smtClean="0"/>
              <a:t>BV421	PD-1</a:t>
            </a:r>
          </a:p>
          <a:p>
            <a:pPr defTabSz="990600"/>
            <a:r>
              <a:rPr lang="en-US" dirty="0" smtClean="0"/>
              <a:t>Dump	</a:t>
            </a:r>
            <a:r>
              <a:rPr lang="en-US" b="1" dirty="0" smtClean="0">
                <a:solidFill>
                  <a:srgbClr val="FF0000"/>
                </a:solidFill>
              </a:rPr>
              <a:t>Aqua</a:t>
            </a:r>
          </a:p>
          <a:p>
            <a:pPr defTabSz="990600"/>
            <a:r>
              <a:rPr lang="en-US" dirty="0" smtClean="0"/>
              <a:t>BV570	</a:t>
            </a:r>
            <a:r>
              <a:rPr lang="en-US" b="1" dirty="0" smtClean="0">
                <a:solidFill>
                  <a:srgbClr val="FF0000"/>
                </a:solidFill>
              </a:rPr>
              <a:t>CD4</a:t>
            </a:r>
          </a:p>
          <a:p>
            <a:pPr defTabSz="990600"/>
            <a:r>
              <a:rPr lang="en-US" dirty="0" smtClean="0"/>
              <a:t>BV605	</a:t>
            </a:r>
            <a:r>
              <a:rPr lang="en-US" b="1" dirty="0" smtClean="0">
                <a:solidFill>
                  <a:srgbClr val="FF6600"/>
                </a:solidFill>
              </a:rPr>
              <a:t>CD57	Very bright, titer down</a:t>
            </a:r>
          </a:p>
          <a:p>
            <a:pPr defTabSz="990600"/>
            <a:r>
              <a:rPr lang="en-US" dirty="0" smtClean="0"/>
              <a:t>BV650	</a:t>
            </a:r>
            <a:r>
              <a:rPr lang="en-US" b="1" dirty="0" smtClean="0">
                <a:solidFill>
                  <a:srgbClr val="FF0000"/>
                </a:solidFill>
              </a:rPr>
              <a:t>CD3</a:t>
            </a:r>
          </a:p>
          <a:p>
            <a:pPr defTabSz="990600"/>
            <a:r>
              <a:rPr lang="en-US" dirty="0" smtClean="0"/>
              <a:t>BV711	</a:t>
            </a:r>
            <a:r>
              <a:rPr lang="en-US" dirty="0" smtClean="0">
                <a:solidFill>
                  <a:srgbClr val="000000"/>
                </a:solidFill>
              </a:rPr>
              <a:t>CCR7</a:t>
            </a:r>
          </a:p>
          <a:p>
            <a:pPr defTabSz="990600"/>
            <a:r>
              <a:rPr lang="en-US" dirty="0" smtClean="0"/>
              <a:t>BV780	</a:t>
            </a:r>
            <a:r>
              <a:rPr lang="en-US" b="1" dirty="0" smtClean="0">
                <a:solidFill>
                  <a:srgbClr val="0000FF"/>
                </a:solidFill>
              </a:rPr>
              <a:t>CD8</a:t>
            </a:r>
            <a:r>
              <a:rPr lang="en-US" b="1" dirty="0" smtClean="0">
                <a:solidFill>
                  <a:srgbClr val="FF0000"/>
                </a:solidFill>
              </a:rPr>
              <a:t>	</a:t>
            </a:r>
            <a:r>
              <a:rPr lang="en-US" b="1" dirty="0" smtClean="0">
                <a:solidFill>
                  <a:srgbClr val="0000FF"/>
                </a:solidFill>
              </a:rPr>
              <a:t>Titer down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29201" y="520700"/>
            <a:ext cx="41148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/>
            <a:r>
              <a:rPr lang="en-US" sz="2000" b="1" dirty="0" smtClean="0"/>
              <a:t>Operations</a:t>
            </a:r>
          </a:p>
          <a:p>
            <a:pPr marL="266700" indent="-266700">
              <a:buFont typeface="Arial"/>
              <a:buChar char="•"/>
            </a:pPr>
            <a:r>
              <a:rPr lang="en-US" sz="2000" dirty="0" smtClean="0"/>
              <a:t>Panel design </a:t>
            </a:r>
          </a:p>
          <a:p>
            <a:pPr marL="266700" indent="-266700">
              <a:buFont typeface="Arial"/>
              <a:buChar char="•"/>
            </a:pPr>
            <a:r>
              <a:rPr lang="en-US" sz="2000" dirty="0" smtClean="0"/>
              <a:t>Titrate all reagents and predict spreading with titration curves</a:t>
            </a:r>
          </a:p>
          <a:p>
            <a:pPr marL="266700" indent="-266700">
              <a:buFont typeface="Arial"/>
              <a:buChar char="•"/>
            </a:pPr>
            <a:r>
              <a:rPr lang="en-US" sz="2000" dirty="0" smtClean="0"/>
              <a:t>Test panel </a:t>
            </a:r>
          </a:p>
          <a:p>
            <a:pPr marL="266700" indent="-266700">
              <a:buFont typeface="Arial"/>
              <a:buChar char="•"/>
            </a:pPr>
            <a:r>
              <a:rPr lang="en-US" sz="2000" dirty="0" smtClean="0">
                <a:solidFill>
                  <a:srgbClr val="0000FF"/>
                </a:solidFill>
              </a:rPr>
              <a:t>Swap HLA-DR with CD69</a:t>
            </a:r>
          </a:p>
          <a:p>
            <a:pPr marL="266700" indent="-266700">
              <a:buFont typeface="Arial"/>
              <a:buChar char="•"/>
            </a:pPr>
            <a:r>
              <a:rPr lang="en-US" sz="2000" dirty="0" smtClean="0">
                <a:solidFill>
                  <a:srgbClr val="0000FF"/>
                </a:solidFill>
              </a:rPr>
              <a:t>Titrate new reagents</a:t>
            </a:r>
          </a:p>
          <a:p>
            <a:pPr marL="266700" indent="-266700">
              <a:buFont typeface="Arial"/>
              <a:buChar char="•"/>
            </a:pPr>
            <a:r>
              <a:rPr lang="en-US" sz="2000" dirty="0" smtClean="0">
                <a:solidFill>
                  <a:srgbClr val="0000FF"/>
                </a:solidFill>
              </a:rPr>
              <a:t>Test panel</a:t>
            </a:r>
          </a:p>
          <a:p>
            <a:pPr marL="266700" indent="-266700">
              <a:buFont typeface="Arial"/>
              <a:buChar char="•"/>
            </a:pPr>
            <a:r>
              <a:rPr lang="en-US" sz="2000" dirty="0" smtClean="0">
                <a:solidFill>
                  <a:schemeClr val="accent6"/>
                </a:solidFill>
              </a:rPr>
              <a:t>CD57 still too bright, titer down, test with FMO controls</a:t>
            </a:r>
          </a:p>
          <a:p>
            <a:pPr marL="266700" indent="-266700">
              <a:buFont typeface="Arial"/>
              <a:buChar char="•"/>
            </a:pPr>
            <a:r>
              <a:rPr lang="en-US" sz="2000" dirty="0" smtClean="0">
                <a:solidFill>
                  <a:srgbClr val="008000"/>
                </a:solidFill>
              </a:rPr>
              <a:t>TF sensitive, re-titer CD95</a:t>
            </a:r>
          </a:p>
          <a:p>
            <a:pPr marL="266700" indent="-266700">
              <a:buFont typeface="Arial"/>
              <a:buChar char="•"/>
            </a:pPr>
            <a:r>
              <a:rPr lang="en-US" sz="2000" dirty="0" smtClean="0">
                <a:solidFill>
                  <a:srgbClr val="666666"/>
                </a:solidFill>
              </a:rPr>
              <a:t>Test panel on PB and tumor, drop CD45</a:t>
            </a:r>
          </a:p>
          <a:p>
            <a:pPr marL="266700" indent="-266700">
              <a:buFont typeface="Arial"/>
              <a:buChar char="•"/>
            </a:pPr>
            <a:r>
              <a:rPr lang="en-US" sz="2000" dirty="0" smtClean="0">
                <a:solidFill>
                  <a:srgbClr val="666666"/>
                </a:solidFill>
              </a:rPr>
              <a:t>Replace with </a:t>
            </a:r>
            <a:r>
              <a:rPr lang="en-US" sz="2000" dirty="0" err="1" smtClean="0">
                <a:solidFill>
                  <a:srgbClr val="666666"/>
                </a:solidFill>
              </a:rPr>
              <a:t>Perforin</a:t>
            </a:r>
            <a:r>
              <a:rPr lang="en-US" sz="2000" dirty="0" smtClean="0">
                <a:solidFill>
                  <a:srgbClr val="666666"/>
                </a:solidFill>
              </a:rPr>
              <a:t>, titrate </a:t>
            </a:r>
            <a:r>
              <a:rPr lang="en-US" sz="2000" dirty="0" err="1" smtClean="0">
                <a:solidFill>
                  <a:srgbClr val="666666"/>
                </a:solidFill>
              </a:rPr>
              <a:t>Ab</a:t>
            </a:r>
            <a:endParaRPr lang="en-US" sz="2000" dirty="0" smtClean="0">
              <a:solidFill>
                <a:srgbClr val="666666"/>
              </a:solidFill>
            </a:endParaRPr>
          </a:p>
          <a:p>
            <a:endParaRPr lang="en-US" sz="2000" dirty="0" smtClean="0"/>
          </a:p>
          <a:p>
            <a:r>
              <a:rPr lang="en-US" sz="2000" b="1" dirty="0" smtClean="0"/>
              <a:t>EXPERIMENTS!!</a:t>
            </a:r>
          </a:p>
          <a:p>
            <a:endParaRPr lang="en-US" sz="2000" b="1" dirty="0" smtClean="0"/>
          </a:p>
          <a:p>
            <a:r>
              <a:rPr lang="en-US" sz="2000" dirty="0" smtClean="0"/>
              <a:t>1 month to develop 16 color panel, considering </a:t>
            </a:r>
            <a:r>
              <a:rPr lang="en-US" sz="2000" b="1" dirty="0" smtClean="0">
                <a:solidFill>
                  <a:srgbClr val="FF0000"/>
                </a:solidFill>
              </a:rPr>
              <a:t>backbone</a:t>
            </a:r>
            <a:r>
              <a:rPr lang="en-US" sz="2000" dirty="0" smtClean="0"/>
              <a:t>	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38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533400"/>
            <a:ext cx="8077200" cy="56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90600"/>
            <a:r>
              <a:rPr lang="en-US" sz="2000" b="1" dirty="0" smtClean="0"/>
              <a:t>Fluor	Antigen	Notes</a:t>
            </a:r>
          </a:p>
          <a:p>
            <a:pPr defTabSz="990600"/>
            <a:endParaRPr lang="en-US" dirty="0" smtClean="0"/>
          </a:p>
          <a:p>
            <a:pPr defTabSz="990600"/>
            <a:r>
              <a:rPr lang="en-US" dirty="0" smtClean="0"/>
              <a:t>FITC	</a:t>
            </a:r>
            <a:r>
              <a:rPr lang="en-US" b="1" dirty="0" smtClean="0">
                <a:solidFill>
                  <a:srgbClr val="0000FF"/>
                </a:solidFill>
              </a:rPr>
              <a:t>HLA-DR	Poor, move to Cy7APC</a:t>
            </a:r>
          </a:p>
          <a:p>
            <a:pPr defTabSz="990600"/>
            <a:r>
              <a:rPr lang="en-US" dirty="0" smtClean="0"/>
              <a:t>PerCP5.5	</a:t>
            </a:r>
            <a:r>
              <a:rPr lang="en-US" b="1" dirty="0" smtClean="0">
                <a:solidFill>
                  <a:srgbClr val="FF0000"/>
                </a:solidFill>
              </a:rPr>
              <a:t>CD45RO</a:t>
            </a:r>
          </a:p>
          <a:p>
            <a:pPr defTabSz="990600"/>
            <a:r>
              <a:rPr lang="en-US" dirty="0" smtClean="0"/>
              <a:t>PE	IRF4</a:t>
            </a:r>
          </a:p>
          <a:p>
            <a:pPr defTabSz="990600"/>
            <a:r>
              <a:rPr lang="en-US" dirty="0" smtClean="0"/>
              <a:t>PE-</a:t>
            </a:r>
            <a:r>
              <a:rPr lang="en-US" dirty="0" err="1" smtClean="0"/>
              <a:t>TxR</a:t>
            </a:r>
            <a:r>
              <a:rPr lang="en-US" dirty="0" smtClean="0"/>
              <a:t>	</a:t>
            </a:r>
            <a:r>
              <a:rPr lang="en-US" b="1" dirty="0" err="1" smtClean="0">
                <a:solidFill>
                  <a:schemeClr val="accent6"/>
                </a:solidFill>
              </a:rPr>
              <a:t>Eomes</a:t>
            </a:r>
            <a:r>
              <a:rPr lang="en-US" b="1" dirty="0" smtClean="0">
                <a:solidFill>
                  <a:schemeClr val="accent6"/>
                </a:solidFill>
              </a:rPr>
              <a:t>	Not that bright</a:t>
            </a:r>
          </a:p>
          <a:p>
            <a:pPr defTabSz="990600"/>
            <a:r>
              <a:rPr lang="en-US" b="1" dirty="0" smtClean="0">
                <a:solidFill>
                  <a:schemeClr val="accent6"/>
                </a:solidFill>
              </a:rPr>
              <a:t>		Sensitive to CD57 spread</a:t>
            </a:r>
          </a:p>
          <a:p>
            <a:pPr defTabSz="990600"/>
            <a:r>
              <a:rPr lang="en-US" dirty="0" smtClean="0"/>
              <a:t>PE-Cy5	</a:t>
            </a:r>
            <a:r>
              <a:rPr lang="en-US" b="1" dirty="0" smtClean="0">
                <a:solidFill>
                  <a:srgbClr val="408000"/>
                </a:solidFill>
              </a:rPr>
              <a:t>CD95	TF buffer sensitive</a:t>
            </a:r>
          </a:p>
          <a:p>
            <a:pPr defTabSz="990600"/>
            <a:r>
              <a:rPr lang="en-US" dirty="0" smtClean="0"/>
              <a:t>PE-Cy7	T-bet</a:t>
            </a:r>
          </a:p>
          <a:p>
            <a:pPr defTabSz="990600"/>
            <a:r>
              <a:rPr lang="en-US" dirty="0" smtClean="0"/>
              <a:t>APC	</a:t>
            </a:r>
            <a:r>
              <a:rPr lang="en-US" b="1" dirty="0" smtClean="0">
                <a:solidFill>
                  <a:srgbClr val="666666"/>
                </a:solidFill>
              </a:rPr>
              <a:t>CD45	Dispensable, drop</a:t>
            </a:r>
          </a:p>
          <a:p>
            <a:pPr defTabSz="990600"/>
            <a:r>
              <a:rPr lang="en-US" dirty="0" smtClean="0"/>
              <a:t>Alexa700	</a:t>
            </a:r>
            <a:r>
              <a:rPr lang="en-US" dirty="0" err="1" smtClean="0"/>
              <a:t>GrB</a:t>
            </a:r>
            <a:r>
              <a:rPr lang="en-US" dirty="0" smtClean="0"/>
              <a:t>	</a:t>
            </a:r>
          </a:p>
          <a:p>
            <a:pPr defTabSz="990600"/>
            <a:r>
              <a:rPr lang="en-US" dirty="0" smtClean="0"/>
              <a:t>Cy7APC	</a:t>
            </a:r>
            <a:r>
              <a:rPr lang="en-US" b="1" dirty="0" smtClean="0">
                <a:solidFill>
                  <a:srgbClr val="FF0000"/>
                </a:solidFill>
              </a:rPr>
              <a:t>CD69	</a:t>
            </a:r>
            <a:r>
              <a:rPr lang="en-US" b="1" dirty="0" smtClean="0">
                <a:solidFill>
                  <a:srgbClr val="0000FF"/>
                </a:solidFill>
              </a:rPr>
              <a:t>Fine, but move to FITC</a:t>
            </a:r>
          </a:p>
          <a:p>
            <a:pPr defTabSz="990600"/>
            <a:r>
              <a:rPr lang="en-US" dirty="0" smtClean="0"/>
              <a:t>BV421	PD-1</a:t>
            </a:r>
          </a:p>
          <a:p>
            <a:pPr defTabSz="990600"/>
            <a:r>
              <a:rPr lang="en-US" dirty="0" smtClean="0"/>
              <a:t>Dump	</a:t>
            </a:r>
            <a:r>
              <a:rPr lang="en-US" b="1" dirty="0" smtClean="0">
                <a:solidFill>
                  <a:srgbClr val="FF0000"/>
                </a:solidFill>
              </a:rPr>
              <a:t>Aqua</a:t>
            </a:r>
          </a:p>
          <a:p>
            <a:pPr defTabSz="990600"/>
            <a:r>
              <a:rPr lang="en-US" dirty="0" smtClean="0"/>
              <a:t>BV570	</a:t>
            </a:r>
            <a:r>
              <a:rPr lang="en-US" b="1" dirty="0" smtClean="0">
                <a:solidFill>
                  <a:srgbClr val="FF0000"/>
                </a:solidFill>
              </a:rPr>
              <a:t>CD4</a:t>
            </a:r>
          </a:p>
          <a:p>
            <a:pPr defTabSz="990600"/>
            <a:r>
              <a:rPr lang="en-US" dirty="0" smtClean="0"/>
              <a:t>BV605	</a:t>
            </a:r>
            <a:r>
              <a:rPr lang="en-US" b="1" dirty="0" smtClean="0">
                <a:solidFill>
                  <a:srgbClr val="FF6600"/>
                </a:solidFill>
              </a:rPr>
              <a:t>CD57	Very bright, titer down</a:t>
            </a:r>
          </a:p>
          <a:p>
            <a:pPr defTabSz="990600"/>
            <a:r>
              <a:rPr lang="en-US" dirty="0" smtClean="0"/>
              <a:t>BV650	</a:t>
            </a:r>
            <a:r>
              <a:rPr lang="en-US" b="1" dirty="0" smtClean="0">
                <a:solidFill>
                  <a:srgbClr val="FF0000"/>
                </a:solidFill>
              </a:rPr>
              <a:t>CD3</a:t>
            </a:r>
          </a:p>
          <a:p>
            <a:pPr defTabSz="990600"/>
            <a:r>
              <a:rPr lang="en-US" dirty="0" smtClean="0"/>
              <a:t>BV711	</a:t>
            </a:r>
            <a:r>
              <a:rPr lang="en-US" dirty="0" smtClean="0">
                <a:solidFill>
                  <a:srgbClr val="000000"/>
                </a:solidFill>
              </a:rPr>
              <a:t>CCR7</a:t>
            </a:r>
          </a:p>
          <a:p>
            <a:pPr defTabSz="990600"/>
            <a:r>
              <a:rPr lang="en-US" dirty="0" smtClean="0"/>
              <a:t>BV780	</a:t>
            </a:r>
            <a:r>
              <a:rPr lang="en-US" b="1" dirty="0" smtClean="0">
                <a:solidFill>
                  <a:srgbClr val="FF0000"/>
                </a:solidFill>
              </a:rPr>
              <a:t>CD8	</a:t>
            </a:r>
            <a:r>
              <a:rPr lang="en-US" b="1" dirty="0" smtClean="0">
                <a:solidFill>
                  <a:srgbClr val="0000FF"/>
                </a:solidFill>
              </a:rPr>
              <a:t>Titer down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1" y="520700"/>
            <a:ext cx="1981199" cy="5386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6700" indent="-266700"/>
            <a:r>
              <a:rPr lang="en-US" sz="2000" b="1" dirty="0" smtClean="0"/>
              <a:t>Final panel</a:t>
            </a:r>
          </a:p>
          <a:p>
            <a:endParaRPr lang="en-US" dirty="0" smtClean="0"/>
          </a:p>
          <a:p>
            <a:r>
              <a:rPr lang="en-US" dirty="0" smtClean="0"/>
              <a:t>CD69</a:t>
            </a:r>
          </a:p>
          <a:p>
            <a:r>
              <a:rPr lang="en-US" dirty="0" smtClean="0"/>
              <a:t>CD45RO</a:t>
            </a:r>
          </a:p>
          <a:p>
            <a:r>
              <a:rPr lang="en-US" dirty="0" smtClean="0"/>
              <a:t>IRF4</a:t>
            </a:r>
          </a:p>
          <a:p>
            <a:r>
              <a:rPr lang="en-US" dirty="0" err="1" smtClean="0"/>
              <a:t>Eomes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CD95</a:t>
            </a:r>
          </a:p>
          <a:p>
            <a:r>
              <a:rPr lang="en-US" dirty="0" smtClean="0"/>
              <a:t>T-bet</a:t>
            </a:r>
          </a:p>
          <a:p>
            <a:r>
              <a:rPr lang="en-US" dirty="0" err="1" smtClean="0"/>
              <a:t>Perforin</a:t>
            </a:r>
            <a:endParaRPr lang="en-US" dirty="0" smtClean="0"/>
          </a:p>
          <a:p>
            <a:r>
              <a:rPr lang="en-US" dirty="0" err="1" smtClean="0"/>
              <a:t>GrB</a:t>
            </a:r>
            <a:endParaRPr lang="en-US" dirty="0" smtClean="0"/>
          </a:p>
          <a:p>
            <a:r>
              <a:rPr lang="en-US" dirty="0" smtClean="0"/>
              <a:t>HLA-DR</a:t>
            </a:r>
          </a:p>
          <a:p>
            <a:r>
              <a:rPr lang="en-US" dirty="0" smtClean="0"/>
              <a:t>PD-1</a:t>
            </a:r>
          </a:p>
          <a:p>
            <a:r>
              <a:rPr lang="en-US" dirty="0" smtClean="0"/>
              <a:t>Aqua</a:t>
            </a:r>
          </a:p>
          <a:p>
            <a:r>
              <a:rPr lang="en-US" dirty="0" smtClean="0"/>
              <a:t>CD4</a:t>
            </a:r>
          </a:p>
          <a:p>
            <a:r>
              <a:rPr lang="en-US" dirty="0" smtClean="0"/>
              <a:t>CD57</a:t>
            </a:r>
          </a:p>
          <a:p>
            <a:r>
              <a:rPr lang="en-US" dirty="0" smtClean="0"/>
              <a:t>CD3</a:t>
            </a:r>
          </a:p>
          <a:p>
            <a:r>
              <a:rPr lang="en-US" dirty="0" smtClean="0"/>
              <a:t>CCR7</a:t>
            </a:r>
          </a:p>
          <a:p>
            <a:r>
              <a:rPr lang="en-US" dirty="0" smtClean="0"/>
              <a:t>CD8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80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491"/>
          <p:cNvSpPr>
            <a:spLocks/>
          </p:cNvSpPr>
          <p:nvPr/>
        </p:nvSpPr>
        <p:spPr bwMode="auto">
          <a:xfrm>
            <a:off x="452438" y="109538"/>
            <a:ext cx="82550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/>
            <a:r>
              <a:rPr lang="en-US" sz="3600" dirty="0">
                <a:solidFill>
                  <a:srgbClr val="000090"/>
                </a:solidFill>
                <a:latin typeface="Arial" charset="0"/>
                <a:cs typeface="Arial" charset="0"/>
                <a:sym typeface="Arial Bold" charset="0"/>
              </a:rPr>
              <a:t>20-parameter FACS</a:t>
            </a:r>
          </a:p>
        </p:txBody>
      </p:sp>
      <p:sp>
        <p:nvSpPr>
          <p:cNvPr id="45059" name="Line 492"/>
          <p:cNvSpPr>
            <a:spLocks noChangeShapeType="1"/>
          </p:cNvSpPr>
          <p:nvPr/>
        </p:nvSpPr>
        <p:spPr bwMode="auto">
          <a:xfrm>
            <a:off x="254000" y="858838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pic>
        <p:nvPicPr>
          <p:cNvPr id="45060" name="Immagine 1" descr="Schermata 2016-11-17 alle 11.55.53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143000"/>
            <a:ext cx="379095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1" name="CasellaDiTesto 2"/>
          <p:cNvSpPr txBox="1">
            <a:spLocks noChangeArrowheads="1"/>
          </p:cNvSpPr>
          <p:nvPr/>
        </p:nvSpPr>
        <p:spPr bwMode="auto">
          <a:xfrm>
            <a:off x="4419600" y="990600"/>
            <a:ext cx="2457450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37931725" indent="-37474525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/>
            <a:r>
              <a:rPr lang="it-IT" sz="3200">
                <a:latin typeface="Arial" charset="0"/>
                <a:cs typeface="Arial" charset="0"/>
              </a:rPr>
              <a:t>FSC</a:t>
            </a:r>
          </a:p>
          <a:p>
            <a:pPr algn="l" eaLnBrk="1" hangingPunct="1"/>
            <a:r>
              <a:rPr lang="it-IT" sz="3200">
                <a:latin typeface="Arial" charset="0"/>
                <a:cs typeface="Arial" charset="0"/>
              </a:rPr>
              <a:t>SSC</a:t>
            </a:r>
          </a:p>
          <a:p>
            <a:pPr algn="l" eaLnBrk="1" hangingPunct="1"/>
            <a:r>
              <a:rPr lang="it-IT" sz="3200">
                <a:solidFill>
                  <a:srgbClr val="8000FF"/>
                </a:solidFill>
                <a:latin typeface="Arial" charset="0"/>
                <a:cs typeface="Arial" charset="0"/>
              </a:rPr>
              <a:t>BV421</a:t>
            </a:r>
          </a:p>
          <a:p>
            <a:pPr algn="l" eaLnBrk="1" hangingPunct="1"/>
            <a:r>
              <a:rPr lang="it-IT" sz="3200">
                <a:solidFill>
                  <a:srgbClr val="8000FF"/>
                </a:solidFill>
                <a:latin typeface="Arial" charset="0"/>
                <a:cs typeface="Arial" charset="0"/>
              </a:rPr>
              <a:t>BV510</a:t>
            </a:r>
          </a:p>
          <a:p>
            <a:pPr algn="l" eaLnBrk="1" hangingPunct="1"/>
            <a:r>
              <a:rPr lang="it-IT" sz="3200">
                <a:solidFill>
                  <a:srgbClr val="8000FF"/>
                </a:solidFill>
                <a:latin typeface="Arial" charset="0"/>
                <a:cs typeface="Arial" charset="0"/>
              </a:rPr>
              <a:t>BV570</a:t>
            </a:r>
          </a:p>
          <a:p>
            <a:pPr algn="l" eaLnBrk="1" hangingPunct="1"/>
            <a:r>
              <a:rPr lang="it-IT" sz="3200">
                <a:solidFill>
                  <a:srgbClr val="8000FF"/>
                </a:solidFill>
                <a:latin typeface="Arial" charset="0"/>
                <a:cs typeface="Arial" charset="0"/>
              </a:rPr>
              <a:t>BV605</a:t>
            </a:r>
          </a:p>
          <a:p>
            <a:pPr algn="l" eaLnBrk="1" hangingPunct="1"/>
            <a:r>
              <a:rPr lang="it-IT" sz="3200">
                <a:solidFill>
                  <a:srgbClr val="8000FF"/>
                </a:solidFill>
                <a:latin typeface="Arial" charset="0"/>
                <a:cs typeface="Arial" charset="0"/>
              </a:rPr>
              <a:t>BV650</a:t>
            </a:r>
          </a:p>
          <a:p>
            <a:pPr algn="l" eaLnBrk="1" hangingPunct="1"/>
            <a:r>
              <a:rPr lang="it-IT" sz="3200">
                <a:solidFill>
                  <a:srgbClr val="8000FF"/>
                </a:solidFill>
                <a:latin typeface="Arial" charset="0"/>
                <a:cs typeface="Arial" charset="0"/>
              </a:rPr>
              <a:t>BV711</a:t>
            </a:r>
          </a:p>
          <a:p>
            <a:pPr algn="l" eaLnBrk="1" hangingPunct="1"/>
            <a:r>
              <a:rPr lang="it-IT" sz="3200">
                <a:solidFill>
                  <a:srgbClr val="8000FF"/>
                </a:solidFill>
                <a:latin typeface="Arial" charset="0"/>
                <a:cs typeface="Arial" charset="0"/>
              </a:rPr>
              <a:t>BV786</a:t>
            </a:r>
          </a:p>
          <a:p>
            <a:pPr algn="l" eaLnBrk="1" hangingPunct="1"/>
            <a:r>
              <a:rPr lang="it-IT" sz="3200">
                <a:solidFill>
                  <a:srgbClr val="0000FF"/>
                </a:solidFill>
                <a:latin typeface="Arial" charset="0"/>
                <a:cs typeface="Arial" charset="0"/>
              </a:rPr>
              <a:t>FITC</a:t>
            </a:r>
          </a:p>
          <a:p>
            <a:pPr algn="l" eaLnBrk="1" hangingPunct="1"/>
            <a:r>
              <a:rPr lang="it-IT" sz="3200">
                <a:solidFill>
                  <a:srgbClr val="0000FF"/>
                </a:solidFill>
                <a:latin typeface="Arial" charset="0"/>
                <a:cs typeface="Arial" charset="0"/>
              </a:rPr>
              <a:t>Cy5.5PerCP</a:t>
            </a:r>
          </a:p>
        </p:txBody>
      </p:sp>
      <p:sp>
        <p:nvSpPr>
          <p:cNvPr id="45062" name="Rettangolo 3"/>
          <p:cNvSpPr>
            <a:spLocks noChangeArrowheads="1"/>
          </p:cNvSpPr>
          <p:nvPr/>
        </p:nvSpPr>
        <p:spPr bwMode="auto">
          <a:xfrm>
            <a:off x="6858000" y="1966913"/>
            <a:ext cx="25908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it-IT" sz="3200">
                <a:solidFill>
                  <a:srgbClr val="FF0000"/>
                </a:solidFill>
                <a:latin typeface="Arial" charset="0"/>
                <a:cs typeface="Arial" charset="0"/>
              </a:rPr>
              <a:t>APC</a:t>
            </a:r>
          </a:p>
          <a:p>
            <a:pPr algn="l"/>
            <a:r>
              <a:rPr lang="it-IT" sz="3200">
                <a:solidFill>
                  <a:srgbClr val="FF0000"/>
                </a:solidFill>
                <a:latin typeface="Arial" charset="0"/>
                <a:cs typeface="Arial" charset="0"/>
              </a:rPr>
              <a:t>Alexa700</a:t>
            </a:r>
          </a:p>
          <a:p>
            <a:pPr algn="l"/>
            <a:r>
              <a:rPr lang="it-IT" sz="3200">
                <a:solidFill>
                  <a:srgbClr val="FF0000"/>
                </a:solidFill>
                <a:latin typeface="Arial" charset="0"/>
                <a:cs typeface="Arial" charset="0"/>
              </a:rPr>
              <a:t>Cy7APC</a:t>
            </a:r>
          </a:p>
          <a:p>
            <a:pPr algn="l"/>
            <a:r>
              <a:rPr lang="it-IT" sz="3200">
                <a:solidFill>
                  <a:srgbClr val="008000"/>
                </a:solidFill>
                <a:latin typeface="Arial" charset="0"/>
                <a:cs typeface="Arial" charset="0"/>
              </a:rPr>
              <a:t>PE</a:t>
            </a:r>
          </a:p>
          <a:p>
            <a:pPr algn="l"/>
            <a:r>
              <a:rPr lang="it-IT" sz="3200">
                <a:solidFill>
                  <a:srgbClr val="008000"/>
                </a:solidFill>
                <a:latin typeface="Arial" charset="0"/>
                <a:cs typeface="Arial" charset="0"/>
              </a:rPr>
              <a:t>PE-CF594</a:t>
            </a:r>
          </a:p>
          <a:p>
            <a:pPr algn="l"/>
            <a:r>
              <a:rPr lang="it-IT" sz="3200">
                <a:solidFill>
                  <a:srgbClr val="008000"/>
                </a:solidFill>
                <a:latin typeface="Arial" charset="0"/>
                <a:cs typeface="Arial" charset="0"/>
              </a:rPr>
              <a:t>Cy5PE</a:t>
            </a:r>
          </a:p>
          <a:p>
            <a:pPr algn="l"/>
            <a:r>
              <a:rPr lang="it-IT" sz="3200">
                <a:solidFill>
                  <a:srgbClr val="008000"/>
                </a:solidFill>
                <a:latin typeface="Arial" charset="0"/>
                <a:cs typeface="Arial" charset="0"/>
              </a:rPr>
              <a:t>Cy5.5PE</a:t>
            </a:r>
          </a:p>
          <a:p>
            <a:pPr algn="l"/>
            <a:r>
              <a:rPr lang="it-IT" sz="3200">
                <a:solidFill>
                  <a:srgbClr val="008000"/>
                </a:solidFill>
                <a:latin typeface="Arial" charset="0"/>
                <a:cs typeface="Arial" charset="0"/>
              </a:rPr>
              <a:t>Cy7PE</a:t>
            </a:r>
            <a:endParaRPr lang="it-IT" sz="3200"/>
          </a:p>
        </p:txBody>
      </p:sp>
    </p:spTree>
    <p:extLst>
      <p:ext uri="{BB962C8B-B14F-4D97-AF65-F5344CB8AC3E}">
        <p14:creationId xmlns:p14="http://schemas.microsoft.com/office/powerpoint/2010/main" val="3776942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mv="urn:schemas-microsoft-com:mac:vml" xmlns="">
      <mp:transition xmlns:mp="http://schemas.microsoft.com/office/mac/powerpoint/2008/main"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535"/>
          <p:cNvSpPr>
            <a:spLocks/>
          </p:cNvSpPr>
          <p:nvPr/>
        </p:nvSpPr>
        <p:spPr bwMode="auto">
          <a:xfrm>
            <a:off x="452438" y="109538"/>
            <a:ext cx="82550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 algn="ctr"/>
            <a:r>
              <a:rPr lang="en-US" sz="3600" dirty="0">
                <a:solidFill>
                  <a:srgbClr val="000090"/>
                </a:solidFill>
                <a:latin typeface="Arial Bold" charset="0"/>
                <a:cs typeface="Arial Bold" charset="0"/>
                <a:sym typeface="Arial Bold" charset="0"/>
              </a:rPr>
              <a:t>Moving towards 50 parameter FACS</a:t>
            </a:r>
          </a:p>
        </p:txBody>
      </p:sp>
      <p:sp>
        <p:nvSpPr>
          <p:cNvPr id="75779" name="Line 536"/>
          <p:cNvSpPr>
            <a:spLocks noChangeShapeType="1"/>
          </p:cNvSpPr>
          <p:nvPr/>
        </p:nvSpPr>
        <p:spPr bwMode="auto">
          <a:xfrm>
            <a:off x="254000" y="9144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  <p:pic>
        <p:nvPicPr>
          <p:cNvPr id="75780" name="Immagine 1" descr="image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56" r="19446"/>
          <a:stretch>
            <a:fillRect/>
          </a:stretch>
        </p:blipFill>
        <p:spPr bwMode="auto">
          <a:xfrm>
            <a:off x="228600" y="1677988"/>
            <a:ext cx="4170363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1" name="Rettangolo 2"/>
          <p:cNvSpPr>
            <a:spLocks noChangeArrowheads="1"/>
          </p:cNvSpPr>
          <p:nvPr/>
        </p:nvSpPr>
        <p:spPr bwMode="auto">
          <a:xfrm>
            <a:off x="152400" y="1220788"/>
            <a:ext cx="4572000" cy="487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20000"/>
              </a:spcBef>
            </a:pPr>
            <a:r>
              <a:rPr lang="en-US" sz="2800" i="1">
                <a:solidFill>
                  <a:srgbClr val="FF0000"/>
                </a:solidFill>
                <a:latin typeface="Arial" charset="0"/>
                <a:ea typeface="ＭＳ Ｐゴシック" charset="0"/>
                <a:cs typeface="ＭＳ Ｐゴシック" charset="0"/>
              </a:rPr>
              <a:t>BD Symphony A5</a:t>
            </a:r>
          </a:p>
        </p:txBody>
      </p:sp>
      <p:sp>
        <p:nvSpPr>
          <p:cNvPr id="75782" name="CasellaDiTesto 7"/>
          <p:cNvSpPr txBox="1">
            <a:spLocks noChangeArrowheads="1"/>
          </p:cNvSpPr>
          <p:nvPr/>
        </p:nvSpPr>
        <p:spPr bwMode="auto">
          <a:xfrm>
            <a:off x="4419600" y="1143000"/>
            <a:ext cx="4724400" cy="4986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37931725" indent="-37474525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algn="l" eaLnBrk="1" hangingPunct="1"/>
            <a:r>
              <a:rPr lang="it-IT" sz="3000">
                <a:latin typeface="Arial" charset="0"/>
                <a:cs typeface="Arial" charset="0"/>
              </a:rPr>
              <a:t>5 lsr: </a:t>
            </a:r>
            <a:r>
              <a:rPr lang="it-IT" sz="3000">
                <a:solidFill>
                  <a:srgbClr val="FF00FF"/>
                </a:solidFill>
                <a:latin typeface="Arial" charset="0"/>
                <a:cs typeface="Arial" charset="0"/>
              </a:rPr>
              <a:t>395</a:t>
            </a:r>
            <a:r>
              <a:rPr lang="it-IT" sz="3000">
                <a:latin typeface="Arial" charset="0"/>
                <a:cs typeface="Arial" charset="0"/>
              </a:rPr>
              <a:t> </a:t>
            </a:r>
            <a:r>
              <a:rPr lang="it-IT" sz="3000">
                <a:solidFill>
                  <a:srgbClr val="CC66FF"/>
                </a:solidFill>
                <a:latin typeface="Arial" charset="0"/>
                <a:cs typeface="Arial" charset="0"/>
              </a:rPr>
              <a:t>405 </a:t>
            </a:r>
            <a:r>
              <a:rPr lang="it-IT" sz="3000">
                <a:solidFill>
                  <a:srgbClr val="0000FF"/>
                </a:solidFill>
                <a:latin typeface="Arial" charset="0"/>
                <a:cs typeface="Arial" charset="0"/>
              </a:rPr>
              <a:t>488</a:t>
            </a:r>
            <a:r>
              <a:rPr lang="it-IT" sz="3000">
                <a:latin typeface="Arial" charset="0"/>
                <a:cs typeface="Arial" charset="0"/>
              </a:rPr>
              <a:t> </a:t>
            </a:r>
            <a:r>
              <a:rPr lang="it-IT" sz="3000">
                <a:solidFill>
                  <a:srgbClr val="008000"/>
                </a:solidFill>
                <a:latin typeface="Arial" charset="0"/>
                <a:cs typeface="Arial" charset="0"/>
              </a:rPr>
              <a:t>561</a:t>
            </a:r>
            <a:r>
              <a:rPr lang="it-IT" sz="3000">
                <a:latin typeface="Arial" charset="0"/>
                <a:cs typeface="Arial" charset="0"/>
              </a:rPr>
              <a:t> </a:t>
            </a:r>
            <a:r>
              <a:rPr lang="it-IT" sz="3000">
                <a:solidFill>
                  <a:srgbClr val="FF0000"/>
                </a:solidFill>
                <a:latin typeface="Arial" charset="0"/>
                <a:cs typeface="Arial" charset="0"/>
              </a:rPr>
              <a:t>640</a:t>
            </a:r>
            <a:endParaRPr lang="it-IT" sz="3000">
              <a:latin typeface="Arial" charset="0"/>
              <a:cs typeface="Arial" charset="0"/>
            </a:endParaRPr>
          </a:p>
          <a:p>
            <a:pPr algn="l" eaLnBrk="1" hangingPunct="1"/>
            <a:endParaRPr lang="it-IT" sz="3200">
              <a:latin typeface="Arial" charset="0"/>
              <a:cs typeface="Arial" charset="0"/>
            </a:endParaRPr>
          </a:p>
          <a:p>
            <a:pPr algn="l" eaLnBrk="1" hangingPunct="1"/>
            <a:r>
              <a:rPr lang="it-IT" sz="3200">
                <a:solidFill>
                  <a:srgbClr val="FF00FF"/>
                </a:solidFill>
                <a:latin typeface="Arial" charset="0"/>
                <a:cs typeface="Arial" charset="0"/>
              </a:rPr>
              <a:t>  BUV395</a:t>
            </a:r>
          </a:p>
          <a:p>
            <a:pPr algn="l" eaLnBrk="1" hangingPunct="1"/>
            <a:r>
              <a:rPr lang="it-IT" sz="3200">
                <a:solidFill>
                  <a:srgbClr val="FF00FF"/>
                </a:solidFill>
                <a:latin typeface="Arial" charset="0"/>
                <a:cs typeface="Arial" charset="0"/>
              </a:rPr>
              <a:t>  BUV496</a:t>
            </a:r>
          </a:p>
          <a:p>
            <a:pPr algn="l" eaLnBrk="1" hangingPunct="1"/>
            <a:r>
              <a:rPr lang="it-IT" sz="3200">
                <a:solidFill>
                  <a:srgbClr val="FF00FF"/>
                </a:solidFill>
                <a:latin typeface="Arial" charset="0"/>
                <a:cs typeface="Arial" charset="0"/>
              </a:rPr>
              <a:t>  BUV563</a:t>
            </a:r>
          </a:p>
          <a:p>
            <a:pPr algn="l" eaLnBrk="1" hangingPunct="1"/>
            <a:r>
              <a:rPr lang="it-IT" sz="3200">
                <a:solidFill>
                  <a:srgbClr val="FF00FF"/>
                </a:solidFill>
                <a:latin typeface="Arial" charset="0"/>
                <a:cs typeface="Arial" charset="0"/>
              </a:rPr>
              <a:t>  BUV615</a:t>
            </a:r>
          </a:p>
          <a:p>
            <a:pPr algn="l" eaLnBrk="1" hangingPunct="1"/>
            <a:r>
              <a:rPr lang="it-IT" sz="3200">
                <a:solidFill>
                  <a:srgbClr val="FF00FF"/>
                </a:solidFill>
                <a:latin typeface="Arial" charset="0"/>
                <a:cs typeface="Arial" charset="0"/>
              </a:rPr>
              <a:t>  BUV661</a:t>
            </a:r>
          </a:p>
          <a:p>
            <a:pPr algn="l" eaLnBrk="1" hangingPunct="1"/>
            <a:r>
              <a:rPr lang="it-IT" sz="3200">
                <a:solidFill>
                  <a:srgbClr val="FF00FF"/>
                </a:solidFill>
                <a:latin typeface="Arial" charset="0"/>
                <a:cs typeface="Arial" charset="0"/>
              </a:rPr>
              <a:t>  BUV737</a:t>
            </a:r>
          </a:p>
          <a:p>
            <a:pPr algn="l" eaLnBrk="1" hangingPunct="1"/>
            <a:r>
              <a:rPr lang="it-IT" sz="3200">
                <a:solidFill>
                  <a:srgbClr val="FF00FF"/>
                </a:solidFill>
                <a:latin typeface="Arial" charset="0"/>
                <a:cs typeface="Arial" charset="0"/>
              </a:rPr>
              <a:t>  BUV805</a:t>
            </a:r>
          </a:p>
          <a:p>
            <a:pPr algn="l" eaLnBrk="1" hangingPunct="1"/>
            <a:endParaRPr lang="it-IT" sz="3200">
              <a:solidFill>
                <a:srgbClr val="FF00FF"/>
              </a:solidFill>
              <a:latin typeface="Arial" charset="0"/>
              <a:cs typeface="Arial" charset="0"/>
            </a:endParaRPr>
          </a:p>
        </p:txBody>
      </p:sp>
      <p:sp>
        <p:nvSpPr>
          <p:cNvPr id="75783" name="Rettangolo 8"/>
          <p:cNvSpPr>
            <a:spLocks noChangeArrowheads="1"/>
          </p:cNvSpPr>
          <p:nvPr/>
        </p:nvSpPr>
        <p:spPr bwMode="auto">
          <a:xfrm>
            <a:off x="7086600" y="2197100"/>
            <a:ext cx="25908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/>
            <a:r>
              <a:rPr lang="it-IT" sz="3200">
                <a:solidFill>
                  <a:srgbClr val="0000FF"/>
                </a:solidFill>
                <a:latin typeface="Arial" charset="0"/>
                <a:cs typeface="Arial" charset="0"/>
              </a:rPr>
              <a:t>BB630</a:t>
            </a:r>
          </a:p>
          <a:p>
            <a:pPr algn="l"/>
            <a:r>
              <a:rPr lang="it-IT" sz="3200">
                <a:solidFill>
                  <a:srgbClr val="0000FF"/>
                </a:solidFill>
                <a:latin typeface="Arial" charset="0"/>
                <a:cs typeface="Arial" charset="0"/>
              </a:rPr>
              <a:t>BB660</a:t>
            </a:r>
          </a:p>
          <a:p>
            <a:pPr algn="l"/>
            <a:r>
              <a:rPr lang="it-IT" sz="3200">
                <a:solidFill>
                  <a:srgbClr val="0000FF"/>
                </a:solidFill>
                <a:latin typeface="Arial" charset="0"/>
                <a:cs typeface="Arial" charset="0"/>
              </a:rPr>
              <a:t>BB700</a:t>
            </a:r>
          </a:p>
          <a:p>
            <a:pPr algn="l"/>
            <a:r>
              <a:rPr lang="it-IT" sz="3200">
                <a:solidFill>
                  <a:srgbClr val="0000FF"/>
                </a:solidFill>
                <a:latin typeface="Arial" charset="0"/>
                <a:cs typeface="Arial" charset="0"/>
              </a:rPr>
              <a:t>BB790</a:t>
            </a:r>
          </a:p>
          <a:p>
            <a:pPr algn="l"/>
            <a:r>
              <a:rPr lang="it-IT" sz="3200">
                <a:solidFill>
                  <a:srgbClr val="CC66FF"/>
                </a:solidFill>
                <a:latin typeface="Arial" charset="0"/>
                <a:cs typeface="Arial" charset="0"/>
              </a:rPr>
              <a:t>BV480</a:t>
            </a:r>
          </a:p>
          <a:p>
            <a:pPr algn="l"/>
            <a:endParaRPr lang="it-IT" sz="3200">
              <a:solidFill>
                <a:srgbClr val="CC66FF"/>
              </a:solidFill>
              <a:latin typeface="Arial" charset="0"/>
              <a:cs typeface="Arial" charset="0"/>
            </a:endParaRPr>
          </a:p>
          <a:p>
            <a:pPr algn="l"/>
            <a:endParaRPr lang="it-IT" sz="3200"/>
          </a:p>
        </p:txBody>
      </p:sp>
      <p:sp>
        <p:nvSpPr>
          <p:cNvPr id="75784" name="CasellaDiTesto 3"/>
          <p:cNvSpPr txBox="1">
            <a:spLocks noChangeArrowheads="1"/>
          </p:cNvSpPr>
          <p:nvPr/>
        </p:nvSpPr>
        <p:spPr bwMode="auto">
          <a:xfrm>
            <a:off x="3048000" y="5932488"/>
            <a:ext cx="6046788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37931725" indent="-37474525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eaLnBrk="1" hangingPunct="1"/>
            <a:r>
              <a:rPr lang="is-IS" sz="3200">
                <a:solidFill>
                  <a:schemeClr val="tx1"/>
                </a:solidFill>
                <a:latin typeface="Arial" charset="0"/>
                <a:cs typeface="Arial" charset="0"/>
              </a:rPr>
              <a:t>…and </a:t>
            </a:r>
            <a:r>
              <a:rPr lang="it-IT" sz="3200">
                <a:solidFill>
                  <a:schemeClr val="tx1"/>
                </a:solidFill>
                <a:latin typeface="Arial" charset="0"/>
                <a:cs typeface="Arial" charset="0"/>
              </a:rPr>
              <a:t>new IR and deepUV dyes </a:t>
            </a:r>
          </a:p>
          <a:p>
            <a:pPr eaLnBrk="1" hangingPunct="1"/>
            <a:endParaRPr lang="it-IT" sz="3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5800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mv="urn:schemas-microsoft-com:mac:vml" xmlns="">
      <mp:transition xmlns:mp="http://schemas.microsoft.com/office/mac/powerpoint/2008/main"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afico 4"/>
          <p:cNvGraphicFramePr>
            <a:graphicFrameLocks/>
          </p:cNvGraphicFramePr>
          <p:nvPr/>
        </p:nvGraphicFramePr>
        <p:xfrm>
          <a:off x="685800" y="1981200"/>
          <a:ext cx="8305800" cy="350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6803" name="CasellaDiTesto 5"/>
          <p:cNvSpPr txBox="1">
            <a:spLocks noChangeArrowheads="1"/>
          </p:cNvSpPr>
          <p:nvPr/>
        </p:nvSpPr>
        <p:spPr bwMode="auto">
          <a:xfrm rot="-5400000">
            <a:off x="-796925" y="2984501"/>
            <a:ext cx="2801937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1pPr>
            <a:lvl2pPr marL="37931725" indent="-37474525"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2pPr>
            <a:lvl3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3pPr>
            <a:lvl4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4pPr>
            <a:lvl5pPr eaLnBrk="0" hangingPunct="0"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rgbClr val="000000"/>
                </a:solidFill>
                <a:latin typeface="Gill Sans" charset="0"/>
                <a:ea typeface="ヒラギノ角ゴ ProN W3" charset="0"/>
                <a:cs typeface="ヒラギノ角ゴ ProN W3" charset="0"/>
                <a:sym typeface="Gill Sans" charset="0"/>
              </a:defRPr>
            </a:lvl9pPr>
          </a:lstStyle>
          <a:p>
            <a:pPr eaLnBrk="1" hangingPunct="1"/>
            <a:r>
              <a:rPr lang="it-IT" sz="2400">
                <a:solidFill>
                  <a:schemeClr val="tx1"/>
                </a:solidFill>
                <a:latin typeface="Arial" charset="0"/>
                <a:cs typeface="Arial" charset="0"/>
              </a:rPr>
              <a:t>Relative brightness</a:t>
            </a:r>
          </a:p>
          <a:p>
            <a:pPr eaLnBrk="1" hangingPunct="1"/>
            <a:endParaRPr lang="it-IT" sz="2400">
              <a:solidFill>
                <a:schemeClr val="tx1"/>
              </a:solidFill>
            </a:endParaRPr>
          </a:p>
        </p:txBody>
      </p:sp>
      <p:cxnSp>
        <p:nvCxnSpPr>
          <p:cNvPr id="76804" name="Connettore 2 7"/>
          <p:cNvCxnSpPr>
            <a:cxnSpLocks noChangeShapeType="1"/>
          </p:cNvCxnSpPr>
          <p:nvPr/>
        </p:nvCxnSpPr>
        <p:spPr bwMode="auto">
          <a:xfrm>
            <a:off x="2705100" y="2286000"/>
            <a:ext cx="0" cy="685800"/>
          </a:xfrm>
          <a:prstGeom prst="straightConnector1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6805" name="Rectangle 535"/>
          <p:cNvSpPr>
            <a:spLocks/>
          </p:cNvSpPr>
          <p:nvPr/>
        </p:nvSpPr>
        <p:spPr bwMode="auto">
          <a:xfrm>
            <a:off x="452438" y="109538"/>
            <a:ext cx="8255000" cy="59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38100" tIns="38100" rIns="38100" bIns="38100"/>
          <a:lstStyle/>
          <a:p>
            <a:pPr algn="ctr"/>
            <a:r>
              <a:rPr lang="en-US" sz="3600" dirty="0">
                <a:solidFill>
                  <a:srgbClr val="000090"/>
                </a:solidFill>
                <a:latin typeface="Arial Bold" charset="0"/>
                <a:cs typeface="Arial Bold" charset="0"/>
                <a:sym typeface="Arial Bold" charset="0"/>
              </a:rPr>
              <a:t>A new Age of Enlightenment in FACS</a:t>
            </a:r>
          </a:p>
        </p:txBody>
      </p:sp>
      <p:sp>
        <p:nvSpPr>
          <p:cNvPr id="76806" name="Line 536"/>
          <p:cNvSpPr>
            <a:spLocks noChangeShapeType="1"/>
          </p:cNvSpPr>
          <p:nvPr/>
        </p:nvSpPr>
        <p:spPr bwMode="auto">
          <a:xfrm>
            <a:off x="254000" y="914400"/>
            <a:ext cx="8655050" cy="0"/>
          </a:xfrm>
          <a:prstGeom prst="line">
            <a:avLst/>
          </a:prstGeom>
          <a:noFill/>
          <a:ln w="41275">
            <a:solidFill>
              <a:srgbClr val="8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11857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:mv="urn:schemas-microsoft-com:mac:vml" xmlns="">
      <mp:transition xmlns:mp="http://schemas.microsoft.com/office/mac/powerpoint/2008/main"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76829" y="1872598"/>
            <a:ext cx="7458391" cy="17543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5400" b="1" dirty="0" smtClean="0">
                <a:solidFill>
                  <a:srgbClr val="000090"/>
                </a:solidFill>
                <a:latin typeface="Arial"/>
                <a:cs typeface="Arial"/>
              </a:rPr>
              <a:t>Flow </a:t>
            </a:r>
            <a:r>
              <a:rPr lang="it-IT" sz="5400" b="1" dirty="0" err="1" smtClean="0">
                <a:solidFill>
                  <a:srgbClr val="000090"/>
                </a:solidFill>
                <a:latin typeface="Arial"/>
                <a:cs typeface="Arial"/>
              </a:rPr>
              <a:t>cytometry</a:t>
            </a:r>
            <a:r>
              <a:rPr lang="it-IT" sz="5400" b="1" dirty="0" smtClean="0">
                <a:solidFill>
                  <a:srgbClr val="000090"/>
                </a:solidFill>
                <a:latin typeface="Arial"/>
                <a:cs typeface="Arial"/>
              </a:rPr>
              <a:t> data </a:t>
            </a:r>
            <a:r>
              <a:rPr lang="it-IT" sz="5400" b="1" dirty="0" err="1" smtClean="0">
                <a:solidFill>
                  <a:srgbClr val="000090"/>
                </a:solidFill>
                <a:latin typeface="Arial"/>
                <a:cs typeface="Arial"/>
              </a:rPr>
              <a:t>presentation</a:t>
            </a:r>
            <a:endParaRPr lang="it-IT" sz="54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6840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>
            <a:spLocks/>
          </p:cNvSpPr>
          <p:nvPr/>
        </p:nvSpPr>
        <p:spPr bwMode="auto">
          <a:xfrm>
            <a:off x="114300" y="69850"/>
            <a:ext cx="8890000" cy="69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38100" tIns="38100" rIns="38100" bIns="38100" anchor="ctr">
            <a:prstTxWarp prst="textNoShape">
              <a:avLst/>
            </a:prstTxWarp>
          </a:bodyPr>
          <a:lstStyle/>
          <a:p>
            <a:pPr algn="ctr"/>
            <a:r>
              <a:rPr lang="en-US" sz="4000" dirty="0" smtClean="0">
                <a:solidFill>
                  <a:srgbClr val="000090"/>
                </a:solidFill>
                <a:latin typeface="Arial Bold" charset="0"/>
                <a:ea typeface="Arial Bold" charset="0"/>
                <a:cs typeface="Arial Bold" charset="0"/>
                <a:sym typeface="Arial Bold" charset="0"/>
              </a:rPr>
              <a:t>A call for data integrity in FACS</a:t>
            </a:r>
            <a:endParaRPr lang="en-US" sz="4000" dirty="0">
              <a:solidFill>
                <a:srgbClr val="000090"/>
              </a:solidFill>
              <a:latin typeface="Arial Bold" charset="0"/>
              <a:ea typeface="Arial Bold" charset="0"/>
              <a:cs typeface="Arial Bold" charset="0"/>
              <a:sym typeface="Arial Bold" charset="0"/>
            </a:endParaRPr>
          </a:p>
        </p:txBody>
      </p:sp>
      <p:sp>
        <p:nvSpPr>
          <p:cNvPr id="9" name="CasellaDiTesto 4"/>
          <p:cNvSpPr txBox="1"/>
          <p:nvPr/>
        </p:nvSpPr>
        <p:spPr>
          <a:xfrm>
            <a:off x="268900" y="1282700"/>
            <a:ext cx="8367100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it-IT" sz="2800" dirty="0" smtClean="0">
                <a:latin typeface="Arial"/>
                <a:cs typeface="Arial"/>
              </a:rPr>
              <a:t>Science </a:t>
            </a:r>
            <a:r>
              <a:rPr lang="it-IT" sz="2800" dirty="0" err="1" smtClean="0">
                <a:latin typeface="Arial"/>
                <a:cs typeface="Arial"/>
              </a:rPr>
              <a:t>is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experiencing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an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increased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number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of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paper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retractions</a:t>
            </a:r>
            <a:endParaRPr lang="it-IT" sz="2800" dirty="0" smtClean="0">
              <a:latin typeface="Arial"/>
              <a:cs typeface="Arial"/>
            </a:endParaRPr>
          </a:p>
          <a:p>
            <a:pPr marL="457200" indent="-457200"/>
            <a:endParaRPr lang="it-IT" sz="2800" dirty="0" smtClean="0"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it-IT" sz="2800" b="1" dirty="0" err="1" smtClean="0">
                <a:solidFill>
                  <a:srgbClr val="A551CF"/>
                </a:solidFill>
                <a:latin typeface="Arial"/>
                <a:cs typeface="Arial"/>
              </a:rPr>
              <a:t>Frauds</a:t>
            </a:r>
            <a:r>
              <a:rPr lang="it-IT" sz="2800" b="1" dirty="0" smtClean="0">
                <a:solidFill>
                  <a:srgbClr val="A551CF"/>
                </a:solidFill>
                <a:latin typeface="Arial"/>
                <a:cs typeface="Arial"/>
              </a:rPr>
              <a:t>: </a:t>
            </a:r>
            <a:r>
              <a:rPr lang="it-IT" sz="2800" dirty="0" smtClean="0">
                <a:latin typeface="Arial"/>
                <a:cs typeface="Arial"/>
              </a:rPr>
              <a:t>can’</a:t>
            </a:r>
            <a:r>
              <a:rPr lang="it-IT" sz="2800" dirty="0" err="1" smtClean="0">
                <a:latin typeface="Arial"/>
                <a:cs typeface="Arial"/>
              </a:rPr>
              <a:t>t</a:t>
            </a:r>
            <a:r>
              <a:rPr lang="it-IT" sz="2800" dirty="0" smtClean="0">
                <a:latin typeface="Arial"/>
                <a:cs typeface="Arial"/>
              </a:rPr>
              <a:t> do </a:t>
            </a:r>
            <a:r>
              <a:rPr lang="it-IT" sz="2800" dirty="0" err="1" smtClean="0">
                <a:latin typeface="Arial"/>
                <a:cs typeface="Arial"/>
              </a:rPr>
              <a:t>anything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unless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giving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better</a:t>
            </a:r>
            <a:r>
              <a:rPr lang="it-IT" sz="2800" dirty="0" smtClean="0">
                <a:latin typeface="Arial"/>
                <a:cs typeface="Arial"/>
              </a:rPr>
              <a:t> supervision</a:t>
            </a:r>
          </a:p>
          <a:p>
            <a:pPr marL="457200" indent="-457200">
              <a:buFont typeface="Arial"/>
              <a:buChar char="•"/>
            </a:pPr>
            <a:r>
              <a:rPr lang="it-IT" sz="2800" b="1" dirty="0" smtClean="0">
                <a:solidFill>
                  <a:srgbClr val="A551CF"/>
                </a:solidFill>
                <a:latin typeface="Arial"/>
                <a:cs typeface="Arial"/>
              </a:rPr>
              <a:t>Data </a:t>
            </a:r>
            <a:r>
              <a:rPr lang="it-IT" sz="2800" b="1" dirty="0" err="1" smtClean="0">
                <a:solidFill>
                  <a:srgbClr val="A551CF"/>
                </a:solidFill>
                <a:latin typeface="Arial"/>
                <a:cs typeface="Arial"/>
              </a:rPr>
              <a:t>quality</a:t>
            </a:r>
            <a:r>
              <a:rPr lang="it-IT" sz="2800" b="1" dirty="0" smtClean="0">
                <a:solidFill>
                  <a:srgbClr val="A551CF"/>
                </a:solidFill>
                <a:latin typeface="Arial"/>
                <a:cs typeface="Arial"/>
              </a:rPr>
              <a:t>: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gels</a:t>
            </a:r>
            <a:r>
              <a:rPr lang="it-IT" sz="2800" dirty="0" smtClean="0">
                <a:latin typeface="Arial"/>
                <a:cs typeface="Arial"/>
              </a:rPr>
              <a:t>, </a:t>
            </a:r>
            <a:r>
              <a:rPr lang="it-IT" sz="2800" dirty="0" err="1" smtClean="0">
                <a:latin typeface="Arial"/>
                <a:cs typeface="Arial"/>
              </a:rPr>
              <a:t>statistics</a:t>
            </a:r>
            <a:r>
              <a:rPr lang="it-IT" sz="2800" dirty="0" smtClean="0">
                <a:latin typeface="Arial"/>
                <a:cs typeface="Arial"/>
              </a:rPr>
              <a:t>, </a:t>
            </a:r>
            <a:r>
              <a:rPr lang="it-IT" sz="2800" dirty="0" err="1" smtClean="0">
                <a:latin typeface="Arial"/>
                <a:cs typeface="Arial"/>
              </a:rPr>
              <a:t>bioinformatics</a:t>
            </a:r>
            <a:endParaRPr lang="it-IT" sz="2800" dirty="0" smtClean="0">
              <a:latin typeface="Arial"/>
              <a:cs typeface="Arial"/>
            </a:endParaRPr>
          </a:p>
          <a:p>
            <a:pPr marL="457200" indent="-457200"/>
            <a:endParaRPr lang="it-IT" sz="2800" dirty="0" smtClean="0"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it-IT" sz="2800" dirty="0" smtClean="0">
                <a:latin typeface="Arial"/>
                <a:cs typeface="Arial"/>
              </a:rPr>
              <a:t>Flow </a:t>
            </a:r>
            <a:r>
              <a:rPr lang="it-IT" sz="2800" dirty="0" err="1" smtClean="0">
                <a:latin typeface="Arial"/>
                <a:cs typeface="Arial"/>
              </a:rPr>
              <a:t>cytometry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is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widely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used</a:t>
            </a:r>
            <a:r>
              <a:rPr lang="it-IT" sz="2800" dirty="0" smtClean="0">
                <a:latin typeface="Arial"/>
                <a:cs typeface="Arial"/>
              </a:rPr>
              <a:t> in </a:t>
            </a:r>
            <a:r>
              <a:rPr lang="it-IT" sz="2800" dirty="0" err="1" smtClean="0">
                <a:latin typeface="Arial"/>
                <a:cs typeface="Arial"/>
              </a:rPr>
              <a:t>immunology</a:t>
            </a:r>
            <a:r>
              <a:rPr lang="it-IT" sz="2800" dirty="0" smtClean="0">
                <a:latin typeface="Arial"/>
                <a:cs typeface="Arial"/>
              </a:rPr>
              <a:t> and </a:t>
            </a:r>
            <a:r>
              <a:rPr lang="it-IT" sz="2800" dirty="0" err="1" smtClean="0">
                <a:latin typeface="Arial"/>
                <a:cs typeface="Arial"/>
              </a:rPr>
              <a:t>hematology</a:t>
            </a:r>
            <a:r>
              <a:rPr lang="it-IT" sz="2800" dirty="0" smtClean="0">
                <a:latin typeface="Arial"/>
                <a:cs typeface="Arial"/>
              </a:rPr>
              <a:t> </a:t>
            </a:r>
          </a:p>
          <a:p>
            <a:pPr marL="457200" indent="-457200">
              <a:buFont typeface="Arial"/>
              <a:buChar char="•"/>
            </a:pPr>
            <a:r>
              <a:rPr lang="it-IT" sz="2800" dirty="0" smtClean="0">
                <a:latin typeface="Arial"/>
                <a:cs typeface="Arial"/>
              </a:rPr>
              <a:t>Sample </a:t>
            </a:r>
            <a:r>
              <a:rPr lang="it-IT" sz="2800" dirty="0" err="1" smtClean="0">
                <a:latin typeface="Arial"/>
                <a:cs typeface="Arial"/>
              </a:rPr>
              <a:t>preparation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is</a:t>
            </a:r>
            <a:r>
              <a:rPr lang="it-IT" sz="2800" dirty="0" smtClean="0">
                <a:latin typeface="Arial"/>
                <a:cs typeface="Arial"/>
              </a:rPr>
              <a:t> SIMPLE and </a:t>
            </a:r>
            <a:r>
              <a:rPr lang="it-IT" sz="2800" dirty="0" err="1" smtClean="0">
                <a:latin typeface="Arial"/>
                <a:cs typeface="Arial"/>
              </a:rPr>
              <a:t>for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somewhat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reasons</a:t>
            </a:r>
            <a:r>
              <a:rPr lang="it-IT" sz="2800" dirty="0" smtClean="0">
                <a:latin typeface="Arial"/>
                <a:cs typeface="Arial"/>
              </a:rPr>
              <a:t> people </a:t>
            </a:r>
            <a:r>
              <a:rPr lang="it-IT" sz="2800" dirty="0" err="1" smtClean="0">
                <a:latin typeface="Arial"/>
                <a:cs typeface="Arial"/>
              </a:rPr>
              <a:t>think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they</a:t>
            </a:r>
            <a:r>
              <a:rPr lang="it-IT" sz="2800" dirty="0" smtClean="0">
                <a:latin typeface="Arial"/>
                <a:cs typeface="Arial"/>
              </a:rPr>
              <a:t> don’</a:t>
            </a:r>
            <a:r>
              <a:rPr lang="it-IT" sz="2800" dirty="0" err="1" smtClean="0">
                <a:latin typeface="Arial"/>
                <a:cs typeface="Arial"/>
              </a:rPr>
              <a:t>t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need</a:t>
            </a:r>
            <a:r>
              <a:rPr lang="it-IT" sz="2800" dirty="0" smtClean="0">
                <a:latin typeface="Arial"/>
                <a:cs typeface="Arial"/>
              </a:rPr>
              <a:t> training (or </a:t>
            </a:r>
            <a:r>
              <a:rPr lang="it-IT" sz="2800" dirty="0" err="1" smtClean="0">
                <a:latin typeface="Arial"/>
                <a:cs typeface="Arial"/>
              </a:rPr>
              <a:t>need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little</a:t>
            </a:r>
            <a:r>
              <a:rPr lang="it-IT" sz="2800" dirty="0" smtClean="0">
                <a:latin typeface="Arial"/>
                <a:cs typeface="Arial"/>
              </a:rPr>
              <a:t>)</a:t>
            </a:r>
          </a:p>
        </p:txBody>
      </p:sp>
      <p:cxnSp>
        <p:nvCxnSpPr>
          <p:cNvPr id="10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8272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48301" y="174306"/>
            <a:ext cx="803457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Introducing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artifacts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in flow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cytometry</a:t>
            </a:r>
            <a:endParaRPr lang="it-IT" sz="32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sp>
        <p:nvSpPr>
          <p:cNvPr id="5" name="CasellaDiTesto 4"/>
          <p:cNvSpPr txBox="1"/>
          <p:nvPr/>
        </p:nvSpPr>
        <p:spPr>
          <a:xfrm>
            <a:off x="268899" y="1167573"/>
            <a:ext cx="8646501" cy="5191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it-IT" sz="2800" dirty="0" err="1" smtClean="0">
                <a:latin typeface="Arial"/>
                <a:cs typeface="Arial"/>
              </a:rPr>
              <a:t>Instrument</a:t>
            </a:r>
            <a:r>
              <a:rPr lang="it-IT" sz="2800" dirty="0" smtClean="0">
                <a:latin typeface="Arial"/>
                <a:cs typeface="Arial"/>
              </a:rPr>
              <a:t> setup and </a:t>
            </a:r>
            <a:r>
              <a:rPr lang="it-IT" sz="2800" dirty="0" err="1" smtClean="0">
                <a:latin typeface="Arial"/>
                <a:cs typeface="Arial"/>
              </a:rPr>
              <a:t>calibration</a:t>
            </a:r>
            <a:r>
              <a:rPr lang="it-IT" sz="2800" dirty="0" smtClean="0">
                <a:latin typeface="Arial"/>
                <a:cs typeface="Arial"/>
              </a:rPr>
              <a:t> (PMT </a:t>
            </a:r>
            <a:r>
              <a:rPr lang="it-IT" sz="2800" dirty="0" err="1" smtClean="0">
                <a:latin typeface="Arial"/>
                <a:cs typeface="Arial"/>
              </a:rPr>
              <a:t>voltage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generally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dependent</a:t>
            </a:r>
            <a:r>
              <a:rPr lang="it-IT" sz="2800" dirty="0" smtClean="0">
                <a:latin typeface="Arial"/>
                <a:cs typeface="Arial"/>
              </a:rPr>
              <a:t> on the </a:t>
            </a:r>
            <a:r>
              <a:rPr lang="it-IT" sz="2800" b="1" dirty="0" smtClean="0">
                <a:solidFill>
                  <a:srgbClr val="A551CF"/>
                </a:solidFill>
                <a:latin typeface="Arial"/>
                <a:cs typeface="Arial"/>
              </a:rPr>
              <a:t>mood of the operator</a:t>
            </a:r>
            <a:r>
              <a:rPr lang="it-IT" sz="2800" dirty="0" smtClean="0">
                <a:latin typeface="Arial"/>
                <a:cs typeface="Arial"/>
              </a:rPr>
              <a:t>)</a:t>
            </a:r>
          </a:p>
          <a:p>
            <a:pPr marL="457200" indent="-457200"/>
            <a:endParaRPr lang="it-IT" sz="2800" dirty="0" smtClean="0">
              <a:latin typeface="Arial"/>
              <a:cs typeface="Arial"/>
            </a:endParaRPr>
          </a:p>
          <a:p>
            <a:pPr marL="457200" indent="-457200">
              <a:buFont typeface="Arial"/>
              <a:buChar char="•"/>
            </a:pPr>
            <a:r>
              <a:rPr lang="it-IT" sz="2800" dirty="0" err="1" smtClean="0">
                <a:latin typeface="Arial"/>
                <a:cs typeface="Arial"/>
              </a:rPr>
              <a:t>Reagent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b="1" dirty="0" err="1" smtClean="0">
                <a:solidFill>
                  <a:srgbClr val="A551CF"/>
                </a:solidFill>
                <a:latin typeface="Arial"/>
                <a:cs typeface="Arial"/>
              </a:rPr>
              <a:t>titration</a:t>
            </a:r>
            <a:r>
              <a:rPr lang="it-IT" sz="2800" dirty="0" smtClean="0">
                <a:latin typeface="Arial"/>
                <a:cs typeface="Arial"/>
              </a:rPr>
              <a:t>: high background, </a:t>
            </a:r>
            <a:r>
              <a:rPr lang="it-IT" sz="2800" dirty="0" err="1" smtClean="0">
                <a:latin typeface="Arial"/>
                <a:cs typeface="Arial"/>
              </a:rPr>
              <a:t>little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separation</a:t>
            </a:r>
            <a:endParaRPr lang="it-IT" sz="2800" dirty="0" smtClean="0">
              <a:latin typeface="Arial"/>
              <a:cs typeface="Arial"/>
            </a:endParaRP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it-IT" sz="2800" b="1" dirty="0" smtClean="0">
                <a:solidFill>
                  <a:srgbClr val="A551CF"/>
                </a:solidFill>
                <a:latin typeface="Arial"/>
                <a:cs typeface="Arial"/>
              </a:rPr>
              <a:t>COMPENSATION</a:t>
            </a: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r>
              <a:rPr lang="it-IT" sz="2800" b="1" dirty="0" smtClean="0">
                <a:solidFill>
                  <a:srgbClr val="A551CF"/>
                </a:solidFill>
                <a:latin typeface="Arial"/>
                <a:cs typeface="Arial"/>
              </a:rPr>
              <a:t>CONTROLS </a:t>
            </a:r>
            <a:r>
              <a:rPr lang="it-IT" sz="2800" dirty="0" smtClean="0">
                <a:latin typeface="Arial"/>
                <a:cs typeface="Arial"/>
              </a:rPr>
              <a:t>(</a:t>
            </a:r>
            <a:r>
              <a:rPr lang="it-IT" sz="2800" dirty="0" err="1" smtClean="0">
                <a:latin typeface="Arial"/>
                <a:cs typeface="Arial"/>
              </a:rPr>
              <a:t>define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positivity</a:t>
            </a:r>
            <a:r>
              <a:rPr lang="it-IT" sz="2800" dirty="0" smtClean="0">
                <a:latin typeface="Arial"/>
                <a:cs typeface="Arial"/>
              </a:rPr>
              <a:t>)</a:t>
            </a:r>
          </a:p>
          <a:p>
            <a:pPr marL="457200" indent="-457200">
              <a:lnSpc>
                <a:spcPct val="200000"/>
              </a:lnSpc>
              <a:buFont typeface="Arial"/>
              <a:buChar char="•"/>
            </a:pPr>
            <a:endParaRPr lang="it-IT" sz="2800" dirty="0">
              <a:latin typeface="Arial"/>
              <a:cs typeface="Arial"/>
            </a:endParaRPr>
          </a:p>
        </p:txBody>
      </p:sp>
      <p:cxnSp>
        <p:nvCxnSpPr>
          <p:cNvPr id="10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373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280738" y="110806"/>
            <a:ext cx="8555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Some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papers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rely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heavily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on FACS</a:t>
            </a:r>
            <a:endParaRPr lang="it-IT" sz="40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Screen Shot 2014-10-29 at 1.08.2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1" y="1155468"/>
            <a:ext cx="5715000" cy="547106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844842" y="3368842"/>
            <a:ext cx="5356059" cy="534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844842" y="6128086"/>
            <a:ext cx="5356059" cy="534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1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Screen Shot 2014-10-29 at 1.08.29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1" y="1155468"/>
            <a:ext cx="5715000" cy="5471067"/>
          </a:xfrm>
          <a:prstGeom prst="rect">
            <a:avLst/>
          </a:prstGeom>
        </p:spPr>
      </p:pic>
      <p:sp>
        <p:nvSpPr>
          <p:cNvPr id="4" name="CasellaDiTesto 3"/>
          <p:cNvSpPr txBox="1"/>
          <p:nvPr/>
        </p:nvSpPr>
        <p:spPr>
          <a:xfrm>
            <a:off x="534933" y="2606852"/>
            <a:ext cx="8034570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it-IT" sz="7200" b="1" dirty="0" smtClean="0">
                <a:solidFill>
                  <a:srgbClr val="000090"/>
                </a:solidFill>
                <a:latin typeface="Arial"/>
                <a:cs typeface="Arial"/>
              </a:rPr>
              <a:t>SHOW ME THE DATA !</a:t>
            </a:r>
            <a:endParaRPr lang="it-IT" sz="72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sp>
        <p:nvSpPr>
          <p:cNvPr id="5" name="CasellaDiTesto 3"/>
          <p:cNvSpPr txBox="1"/>
          <p:nvPr/>
        </p:nvSpPr>
        <p:spPr>
          <a:xfrm>
            <a:off x="280738" y="110806"/>
            <a:ext cx="85557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Some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papers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rely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heavily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on FACS</a:t>
            </a:r>
            <a:endParaRPr lang="it-IT" sz="40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844842" y="6128086"/>
            <a:ext cx="5356059" cy="53473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076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48301" y="110806"/>
            <a:ext cx="8034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Questions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arising</a:t>
            </a:r>
            <a:endParaRPr lang="it-IT" sz="40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4"/>
          <p:cNvSpPr txBox="1"/>
          <p:nvPr/>
        </p:nvSpPr>
        <p:spPr>
          <a:xfrm>
            <a:off x="268899" y="1269173"/>
            <a:ext cx="8646501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it-IT" sz="2400" dirty="0" err="1" smtClean="0">
                <a:latin typeface="Arial"/>
                <a:cs typeface="Arial"/>
              </a:rPr>
              <a:t>Were</a:t>
            </a:r>
            <a:r>
              <a:rPr lang="it-IT" sz="2400" dirty="0" smtClean="0">
                <a:latin typeface="Arial"/>
                <a:cs typeface="Arial"/>
              </a:rPr>
              <a:t> the data </a:t>
            </a:r>
            <a:r>
              <a:rPr lang="it-IT" sz="2400" dirty="0" err="1" smtClean="0">
                <a:latin typeface="Arial"/>
                <a:cs typeface="Arial"/>
              </a:rPr>
              <a:t>compensated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correctly</a:t>
            </a:r>
            <a:r>
              <a:rPr lang="it-IT" sz="2400" dirty="0" smtClean="0">
                <a:latin typeface="Arial"/>
                <a:cs typeface="Arial"/>
              </a:rPr>
              <a:t>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it-IT" sz="2400" dirty="0" smtClean="0">
                <a:latin typeface="Arial"/>
                <a:cs typeface="Arial"/>
              </a:rPr>
              <a:t>And the </a:t>
            </a:r>
            <a:r>
              <a:rPr lang="it-IT" sz="2400" dirty="0" err="1" smtClean="0">
                <a:latin typeface="Arial"/>
                <a:cs typeface="Arial"/>
              </a:rPr>
              <a:t>gating</a:t>
            </a:r>
            <a:r>
              <a:rPr lang="it-IT" sz="2400" dirty="0" smtClean="0">
                <a:latin typeface="Arial"/>
                <a:cs typeface="Arial"/>
              </a:rPr>
              <a:t>? </a:t>
            </a:r>
            <a:r>
              <a:rPr lang="it-IT" sz="2400" dirty="0" err="1">
                <a:latin typeface="Arial"/>
                <a:cs typeface="Arial"/>
              </a:rPr>
              <a:t>S</a:t>
            </a:r>
            <a:r>
              <a:rPr lang="it-IT" sz="2400" dirty="0" err="1" smtClean="0">
                <a:latin typeface="Arial"/>
                <a:cs typeface="Arial"/>
              </a:rPr>
              <a:t>ame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gates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used</a:t>
            </a:r>
            <a:r>
              <a:rPr lang="it-IT" sz="2400" dirty="0" smtClean="0">
                <a:latin typeface="Arial"/>
                <a:cs typeface="Arial"/>
              </a:rPr>
              <a:t> for </a:t>
            </a:r>
            <a:r>
              <a:rPr lang="it-IT" sz="2400" dirty="0" err="1" smtClean="0">
                <a:latin typeface="Arial"/>
                <a:cs typeface="Arial"/>
              </a:rPr>
              <a:t>all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patients</a:t>
            </a:r>
            <a:r>
              <a:rPr lang="it-IT" sz="2400" dirty="0" smtClean="0">
                <a:latin typeface="Arial"/>
                <a:cs typeface="Arial"/>
              </a:rPr>
              <a:t>/</a:t>
            </a:r>
            <a:r>
              <a:rPr lang="it-IT" sz="2400" dirty="0" err="1" smtClean="0">
                <a:latin typeface="Arial"/>
                <a:cs typeface="Arial"/>
              </a:rPr>
              <a:t>controls</a:t>
            </a:r>
            <a:r>
              <a:rPr lang="it-IT" sz="2400" dirty="0" smtClean="0">
                <a:latin typeface="Arial"/>
                <a:cs typeface="Arial"/>
              </a:rPr>
              <a:t>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it-IT" sz="2400" dirty="0" err="1" smtClean="0">
                <a:latin typeface="Arial"/>
                <a:cs typeface="Arial"/>
              </a:rPr>
              <a:t>Were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antibodies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titrated</a:t>
            </a:r>
            <a:r>
              <a:rPr lang="it-IT" sz="2400" dirty="0" smtClean="0">
                <a:latin typeface="Arial"/>
                <a:cs typeface="Arial"/>
              </a:rPr>
              <a:t>?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it-IT" sz="2400" dirty="0" err="1" smtClean="0">
                <a:latin typeface="Arial"/>
                <a:cs typeface="Arial"/>
              </a:rPr>
              <a:t>How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many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cells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were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acquired</a:t>
            </a:r>
            <a:r>
              <a:rPr lang="it-IT" sz="2400" dirty="0" smtClean="0">
                <a:latin typeface="Arial"/>
                <a:cs typeface="Arial"/>
              </a:rPr>
              <a:t>? </a:t>
            </a:r>
            <a:r>
              <a:rPr lang="it-IT" sz="2400" dirty="0" err="1" smtClean="0">
                <a:latin typeface="Arial"/>
                <a:cs typeface="Arial"/>
              </a:rPr>
              <a:t>Treg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cells</a:t>
            </a:r>
            <a:r>
              <a:rPr lang="it-IT" sz="2400" dirty="0" smtClean="0">
                <a:latin typeface="Arial"/>
                <a:cs typeface="Arial"/>
              </a:rPr>
              <a:t> are ~5% </a:t>
            </a:r>
            <a:r>
              <a:rPr lang="it-IT" sz="2400" dirty="0" err="1" smtClean="0">
                <a:latin typeface="Arial"/>
                <a:cs typeface="Arial"/>
              </a:rPr>
              <a:t>of</a:t>
            </a:r>
            <a:r>
              <a:rPr lang="it-IT" sz="2400" dirty="0" smtClean="0">
                <a:latin typeface="Arial"/>
                <a:cs typeface="Arial"/>
              </a:rPr>
              <a:t> CD4</a:t>
            </a:r>
            <a:r>
              <a:rPr lang="en-US" sz="2400" baseline="30000" dirty="0" smtClean="0">
                <a:latin typeface="Arial"/>
                <a:cs typeface="Arial"/>
              </a:rPr>
              <a:t>+</a:t>
            </a:r>
            <a:r>
              <a:rPr lang="it-IT" sz="2400" dirty="0" smtClean="0">
                <a:latin typeface="Arial"/>
                <a:cs typeface="Arial"/>
              </a:rPr>
              <a:t>, </a:t>
            </a:r>
            <a:r>
              <a:rPr lang="it-IT" sz="2400" dirty="0" err="1" smtClean="0">
                <a:latin typeface="Arial"/>
                <a:cs typeface="Arial"/>
              </a:rPr>
              <a:t>transplanted</a:t>
            </a:r>
            <a:r>
              <a:rPr lang="it-IT" sz="2400" dirty="0" smtClean="0">
                <a:latin typeface="Arial"/>
                <a:cs typeface="Arial"/>
              </a:rPr>
              <a:t> people are </a:t>
            </a:r>
            <a:r>
              <a:rPr lang="it-IT" sz="2400" dirty="0" err="1" smtClean="0">
                <a:latin typeface="Arial"/>
                <a:cs typeface="Arial"/>
              </a:rPr>
              <a:t>lymphopenic</a:t>
            </a:r>
            <a:r>
              <a:rPr lang="en-US" sz="2400" dirty="0" smtClean="0">
                <a:latin typeface="Arial"/>
                <a:cs typeface="Arial"/>
              </a:rPr>
              <a:t>. Methods can report 1,000,000 cells were acquired – but what if the frequency of total CD3</a:t>
            </a:r>
            <a:r>
              <a:rPr lang="en-US" sz="2400" baseline="30000" dirty="0" smtClean="0">
                <a:latin typeface="Arial"/>
                <a:cs typeface="Arial"/>
              </a:rPr>
              <a:t>+</a:t>
            </a:r>
            <a:r>
              <a:rPr lang="en-US" sz="2400" dirty="0" smtClean="0">
                <a:latin typeface="Arial"/>
                <a:cs typeface="Arial"/>
              </a:rPr>
              <a:t> is 1%?</a:t>
            </a:r>
          </a:p>
          <a:p>
            <a:pPr marL="457200" indent="-457200">
              <a:buFont typeface="Arial"/>
              <a:buChar char="•"/>
            </a:pPr>
            <a:endParaRPr lang="en-US" sz="2400" dirty="0" smtClean="0">
              <a:latin typeface="Arial"/>
              <a:cs typeface="Arial"/>
            </a:endParaRPr>
          </a:p>
          <a:p>
            <a:pPr marL="457200" indent="-457200"/>
            <a:endParaRPr lang="en-US" sz="3200" b="1" dirty="0" smtClean="0">
              <a:solidFill>
                <a:srgbClr val="A551CF"/>
              </a:solidFill>
              <a:latin typeface="Arial"/>
              <a:cs typeface="Arial"/>
            </a:endParaRPr>
          </a:p>
          <a:p>
            <a:pPr marL="457200" indent="-457200"/>
            <a:r>
              <a:rPr lang="en-US" sz="3200" b="1" dirty="0" smtClean="0">
                <a:solidFill>
                  <a:srgbClr val="A551CF"/>
                </a:solidFill>
                <a:latin typeface="Arial"/>
                <a:cs typeface="Arial"/>
              </a:rPr>
              <a:t>Cannot tell if raw data are not provided</a:t>
            </a:r>
            <a:endParaRPr lang="it-IT" sz="2400" dirty="0" smtClean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3352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48301" y="110806"/>
            <a:ext cx="8034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Outline</a:t>
            </a:r>
            <a:endParaRPr lang="it-IT" sz="40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4"/>
          <p:cNvSpPr txBox="1"/>
          <p:nvPr/>
        </p:nvSpPr>
        <p:spPr>
          <a:xfrm>
            <a:off x="268899" y="1167573"/>
            <a:ext cx="8646501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3200" dirty="0" smtClean="0">
                <a:latin typeface="Arial"/>
                <a:cs typeface="Arial"/>
              </a:rPr>
              <a:t>Data display methods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3200" dirty="0" smtClean="0">
                <a:latin typeface="Arial"/>
                <a:cs typeface="Arial"/>
              </a:rPr>
              <a:t>Dot vs. density plot vs. contour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3200" dirty="0" smtClean="0">
                <a:latin typeface="Arial"/>
                <a:cs typeface="Arial"/>
              </a:rPr>
              <a:t>Gating strategy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3200" dirty="0" smtClean="0">
                <a:latin typeface="Arial"/>
                <a:cs typeface="Arial"/>
              </a:rPr>
              <a:t>Type of gating</a:t>
            </a:r>
          </a:p>
        </p:txBody>
      </p:sp>
    </p:spTree>
    <p:extLst>
      <p:ext uri="{BB962C8B-B14F-4D97-AF65-F5344CB8AC3E}">
        <p14:creationId xmlns:p14="http://schemas.microsoft.com/office/powerpoint/2010/main" val="3544413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48301" y="110806"/>
            <a:ext cx="8034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Avoid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histograms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(or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be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careful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)</a:t>
            </a:r>
            <a:endParaRPr lang="it-IT" sz="40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sellaDiTesto 4"/>
          <p:cNvSpPr txBox="1"/>
          <p:nvPr/>
        </p:nvSpPr>
        <p:spPr>
          <a:xfrm>
            <a:off x="268899" y="1087365"/>
            <a:ext cx="8646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it-IT" sz="2800" dirty="0" err="1" smtClean="0">
                <a:latin typeface="Arial"/>
                <a:cs typeface="Arial"/>
              </a:rPr>
              <a:t>Histograms</a:t>
            </a:r>
            <a:r>
              <a:rPr lang="it-IT" sz="2800" dirty="0" smtClean="0">
                <a:latin typeface="Arial"/>
                <a:cs typeface="Arial"/>
              </a:rPr>
              <a:t> are </a:t>
            </a:r>
            <a:r>
              <a:rPr lang="it-IT" sz="2800" dirty="0" err="1" smtClean="0">
                <a:latin typeface="Arial"/>
                <a:cs typeface="Arial"/>
              </a:rPr>
              <a:t>very</a:t>
            </a:r>
            <a:r>
              <a:rPr lang="it-IT" sz="2800" dirty="0" smtClean="0">
                <a:latin typeface="Arial"/>
                <a:cs typeface="Arial"/>
              </a:rPr>
              <a:t> intuitive </a:t>
            </a:r>
            <a:r>
              <a:rPr lang="it-IT" sz="2800" dirty="0" err="1" smtClean="0">
                <a:latin typeface="Arial"/>
                <a:cs typeface="Arial"/>
              </a:rPr>
              <a:t>but</a:t>
            </a:r>
            <a:r>
              <a:rPr lang="it-IT" sz="2800" dirty="0" smtClean="0">
                <a:latin typeface="Arial"/>
                <a:cs typeface="Arial"/>
              </a:rPr>
              <a:t> display </a:t>
            </a:r>
            <a:r>
              <a:rPr lang="it-IT" sz="2800" dirty="0" err="1" smtClean="0">
                <a:latin typeface="Arial"/>
                <a:cs typeface="Arial"/>
              </a:rPr>
              <a:t>only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one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parameter</a:t>
            </a:r>
            <a:r>
              <a:rPr lang="it-IT" sz="2800" dirty="0" smtClean="0">
                <a:latin typeface="Arial"/>
                <a:cs typeface="Arial"/>
              </a:rPr>
              <a:t> (</a:t>
            </a:r>
            <a:r>
              <a:rPr lang="it-IT" sz="2800" dirty="0" err="1" smtClean="0">
                <a:latin typeface="Arial"/>
                <a:cs typeface="Arial"/>
              </a:rPr>
              <a:t>we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now</a:t>
            </a:r>
            <a:r>
              <a:rPr lang="it-IT" sz="2800" dirty="0" smtClean="0">
                <a:latin typeface="Arial"/>
                <a:cs typeface="Arial"/>
              </a:rPr>
              <a:t> live in a </a:t>
            </a:r>
            <a:r>
              <a:rPr lang="it-IT" sz="2800" dirty="0" err="1" smtClean="0">
                <a:latin typeface="Arial"/>
                <a:cs typeface="Arial"/>
              </a:rPr>
              <a:t>multicolor</a:t>
            </a:r>
            <a:r>
              <a:rPr lang="it-IT" sz="2800" dirty="0" smtClean="0">
                <a:latin typeface="Arial"/>
                <a:cs typeface="Arial"/>
              </a:rPr>
              <a:t> world)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381" y="2362231"/>
            <a:ext cx="4239311" cy="180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0737" y="2553370"/>
            <a:ext cx="633933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88.1</a:t>
            </a:r>
            <a:endParaRPr lang="en-US" dirty="0">
              <a:latin typeface="Arial"/>
              <a:cs typeface="Arial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4381" y="4329312"/>
            <a:ext cx="4239311" cy="1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0737" y="4545263"/>
            <a:ext cx="633933" cy="369332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77.8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27116" y="6062472"/>
            <a:ext cx="81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CCR7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499481" y="6062472"/>
            <a:ext cx="8131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CCR7</a:t>
            </a:r>
            <a:endParaRPr lang="en-US" dirty="0">
              <a:latin typeface="Arial"/>
              <a:cs typeface="Arial"/>
            </a:endParaRPr>
          </a:p>
        </p:txBody>
      </p:sp>
      <p:grpSp>
        <p:nvGrpSpPr>
          <p:cNvPr id="19" name="Group 18"/>
          <p:cNvGrpSpPr/>
          <p:nvPr/>
        </p:nvGrpSpPr>
        <p:grpSpPr>
          <a:xfrm>
            <a:off x="5886803" y="2738036"/>
            <a:ext cx="2168683" cy="2820404"/>
            <a:chOff x="5886803" y="2738036"/>
            <a:chExt cx="2168683" cy="2820404"/>
          </a:xfrm>
        </p:grpSpPr>
        <p:sp>
          <p:nvSpPr>
            <p:cNvPr id="14" name="Rectangle 13"/>
            <p:cNvSpPr/>
            <p:nvPr/>
          </p:nvSpPr>
          <p:spPr>
            <a:xfrm>
              <a:off x="5886803" y="2738036"/>
              <a:ext cx="216868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/>
              <a:r>
                <a:rPr lang="en-US" sz="2400" b="1" dirty="0" smtClean="0">
                  <a:solidFill>
                    <a:srgbClr val="A551CF"/>
                  </a:solidFill>
                  <a:latin typeface="Arial"/>
                  <a:cs typeface="Arial"/>
                </a:rPr>
                <a:t>Under </a:t>
              </a:r>
            </a:p>
            <a:p>
              <a:pPr marL="457200" indent="-457200"/>
              <a:r>
                <a:rPr lang="en-US" sz="2400" b="1" dirty="0" smtClean="0">
                  <a:solidFill>
                    <a:srgbClr val="A551CF"/>
                  </a:solidFill>
                  <a:latin typeface="Arial"/>
                  <a:cs typeface="Arial"/>
                </a:rPr>
                <a:t>compensated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886803" y="4727443"/>
              <a:ext cx="2168683" cy="83099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/>
              <a:r>
                <a:rPr lang="en-US" sz="2400" b="1" dirty="0" smtClean="0">
                  <a:solidFill>
                    <a:srgbClr val="A551CF"/>
                  </a:solidFill>
                  <a:latin typeface="Arial"/>
                  <a:cs typeface="Arial"/>
                </a:rPr>
                <a:t>Correctly </a:t>
              </a:r>
            </a:p>
            <a:p>
              <a:pPr marL="457200" indent="-457200"/>
              <a:r>
                <a:rPr lang="en-US" sz="2400" b="1" dirty="0" smtClean="0">
                  <a:solidFill>
                    <a:srgbClr val="A551CF"/>
                  </a:solidFill>
                  <a:latin typeface="Arial"/>
                  <a:cs typeface="Arial"/>
                </a:rPr>
                <a:t>compensated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 rot="16200000">
            <a:off x="3457564" y="3990932"/>
            <a:ext cx="646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Arial"/>
                <a:cs typeface="Arial"/>
              </a:rPr>
              <a:t>CD4</a:t>
            </a:r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08164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48301" y="110806"/>
            <a:ext cx="80345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Dot vs. density plot vs.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contour</a:t>
            </a:r>
            <a:endParaRPr lang="it-IT" sz="40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asellaDiTesto 4"/>
          <p:cNvSpPr txBox="1"/>
          <p:nvPr/>
        </p:nvSpPr>
        <p:spPr>
          <a:xfrm>
            <a:off x="268899" y="1087365"/>
            <a:ext cx="86465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it-IT" sz="2800" dirty="0" smtClean="0">
                <a:latin typeface="Arial"/>
                <a:cs typeface="Arial"/>
              </a:rPr>
              <a:t>Multiple </a:t>
            </a:r>
            <a:r>
              <a:rPr lang="it-IT" sz="2800" dirty="0" err="1" smtClean="0">
                <a:latin typeface="Arial"/>
                <a:cs typeface="Arial"/>
              </a:rPr>
              <a:t>ways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to</a:t>
            </a:r>
            <a:r>
              <a:rPr lang="it-IT" sz="2800" dirty="0" smtClean="0">
                <a:latin typeface="Arial"/>
                <a:cs typeface="Arial"/>
              </a:rPr>
              <a:t> display data </a:t>
            </a:r>
            <a:r>
              <a:rPr lang="en-US" sz="2800" dirty="0" smtClean="0">
                <a:latin typeface="Arial"/>
                <a:cs typeface="Arial"/>
              </a:rPr>
              <a:t>–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use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depends</a:t>
            </a:r>
            <a:r>
              <a:rPr lang="it-IT" sz="2800" dirty="0" smtClean="0">
                <a:latin typeface="Arial"/>
                <a:cs typeface="Arial"/>
              </a:rPr>
              <a:t> on </a:t>
            </a:r>
            <a:r>
              <a:rPr lang="it-IT" sz="2800" dirty="0" err="1" smtClean="0">
                <a:latin typeface="Arial"/>
                <a:cs typeface="Arial"/>
              </a:rPr>
              <a:t>applications</a:t>
            </a:r>
            <a:endParaRPr lang="it-IT" sz="2800" dirty="0" smtClean="0">
              <a:latin typeface="Arial"/>
              <a:cs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85" y="2406316"/>
            <a:ext cx="1849828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0544" y="2406316"/>
            <a:ext cx="1849828" cy="1800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4585" y="4259788"/>
            <a:ext cx="1849826" cy="1800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0544" y="4259788"/>
            <a:ext cx="1849828" cy="1800000"/>
          </a:xfrm>
          <a:prstGeom prst="rect">
            <a:avLst/>
          </a:prstGeom>
        </p:spPr>
      </p:pic>
      <p:sp>
        <p:nvSpPr>
          <p:cNvPr id="12" name="CasellaDiTesto 4"/>
          <p:cNvSpPr txBox="1"/>
          <p:nvPr/>
        </p:nvSpPr>
        <p:spPr>
          <a:xfrm>
            <a:off x="2713317" y="6019684"/>
            <a:ext cx="177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it-IT" sz="2800" dirty="0" smtClean="0">
                <a:latin typeface="Arial"/>
                <a:cs typeface="Arial"/>
              </a:rPr>
              <a:t>CD45RA</a:t>
            </a:r>
          </a:p>
        </p:txBody>
      </p:sp>
      <p:sp>
        <p:nvSpPr>
          <p:cNvPr id="13" name="CasellaDiTesto 4"/>
          <p:cNvSpPr txBox="1"/>
          <p:nvPr/>
        </p:nvSpPr>
        <p:spPr>
          <a:xfrm rot="16200000">
            <a:off x="282693" y="3631476"/>
            <a:ext cx="177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it-IT" sz="2800" dirty="0" smtClean="0">
                <a:latin typeface="Arial"/>
                <a:cs typeface="Arial"/>
              </a:rPr>
              <a:t>CCR7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25096" y="2316475"/>
            <a:ext cx="10643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Color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55160" y="2316475"/>
            <a:ext cx="14573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Contour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11728" y="4224864"/>
            <a:ext cx="13726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Density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41792" y="4224864"/>
            <a:ext cx="7735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Dot</a:t>
            </a:r>
          </a:p>
        </p:txBody>
      </p:sp>
    </p:spTree>
    <p:extLst>
      <p:ext uri="{BB962C8B-B14F-4D97-AF65-F5344CB8AC3E}">
        <p14:creationId xmlns:p14="http://schemas.microsoft.com/office/powerpoint/2010/main" val="335155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548300" y="110806"/>
            <a:ext cx="83670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Saturated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areas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by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events</a:t>
            </a:r>
            <a:endParaRPr lang="it-IT" sz="40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146" y="2606838"/>
            <a:ext cx="1849827" cy="18000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944" y="2606838"/>
            <a:ext cx="1849826" cy="18000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741" y="2606838"/>
            <a:ext cx="1849827" cy="18000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2539" y="2606838"/>
            <a:ext cx="1849827" cy="1800000"/>
          </a:xfrm>
          <a:prstGeom prst="rect">
            <a:avLst/>
          </a:prstGeom>
        </p:spPr>
      </p:pic>
      <p:sp>
        <p:nvSpPr>
          <p:cNvPr id="23" name="CasellaDiTesto 4"/>
          <p:cNvSpPr txBox="1"/>
          <p:nvPr/>
        </p:nvSpPr>
        <p:spPr>
          <a:xfrm>
            <a:off x="3831458" y="4353366"/>
            <a:ext cx="177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it-IT" sz="2800" dirty="0" smtClean="0">
                <a:latin typeface="Arial"/>
                <a:cs typeface="Arial"/>
              </a:rPr>
              <a:t>CD45RA</a:t>
            </a:r>
          </a:p>
        </p:txBody>
      </p:sp>
      <p:sp>
        <p:nvSpPr>
          <p:cNvPr id="24" name="CasellaDiTesto 4"/>
          <p:cNvSpPr txBox="1"/>
          <p:nvPr/>
        </p:nvSpPr>
        <p:spPr>
          <a:xfrm rot="16200000">
            <a:off x="-586960" y="2894368"/>
            <a:ext cx="177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it-IT" sz="2800" dirty="0" smtClean="0">
                <a:latin typeface="Arial"/>
                <a:cs typeface="Arial"/>
              </a:rPr>
              <a:t>CCR7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8995" y="2145173"/>
            <a:ext cx="12021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50,000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43079" y="2145173"/>
            <a:ext cx="1373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150,000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12387" y="2145173"/>
            <a:ext cx="1373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300,000</a:t>
            </a:r>
          </a:p>
        </p:txBody>
      </p:sp>
      <p:cxnSp>
        <p:nvCxnSpPr>
          <p:cNvPr id="29" name="Straight Connector 28"/>
          <p:cNvCxnSpPr/>
          <p:nvPr/>
        </p:nvCxnSpPr>
        <p:spPr>
          <a:xfrm>
            <a:off x="1203158" y="2145173"/>
            <a:ext cx="4906210" cy="1588"/>
          </a:xfrm>
          <a:prstGeom prst="line">
            <a:avLst/>
          </a:prstGeom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sellaDiTesto 4"/>
          <p:cNvSpPr txBox="1"/>
          <p:nvPr/>
        </p:nvSpPr>
        <p:spPr>
          <a:xfrm>
            <a:off x="1917813" y="1595217"/>
            <a:ext cx="3576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it-IT" sz="2800" dirty="0" err="1" smtClean="0">
                <a:latin typeface="Arial"/>
                <a:cs typeface="Arial"/>
              </a:rPr>
              <a:t>Number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of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events</a:t>
            </a:r>
            <a:endParaRPr lang="it-IT" sz="2800" dirty="0" smtClean="0">
              <a:latin typeface="Arial"/>
              <a:cs typeface="Arial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143312" y="2158541"/>
            <a:ext cx="1373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300,000</a:t>
            </a:r>
          </a:p>
        </p:txBody>
      </p:sp>
    </p:spTree>
    <p:extLst>
      <p:ext uri="{BB962C8B-B14F-4D97-AF65-F5344CB8AC3E}">
        <p14:creationId xmlns:p14="http://schemas.microsoft.com/office/powerpoint/2010/main" val="3043527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268899" y="110806"/>
            <a:ext cx="8313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Dots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are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useful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with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low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numbers</a:t>
            </a:r>
            <a:endParaRPr lang="it-IT" sz="40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4"/>
          <p:cNvSpPr txBox="1"/>
          <p:nvPr/>
        </p:nvSpPr>
        <p:spPr>
          <a:xfrm>
            <a:off x="148587" y="1087365"/>
            <a:ext cx="8875101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400" dirty="0" err="1" smtClean="0">
                <a:latin typeface="Arial"/>
                <a:cs typeface="Arial"/>
              </a:rPr>
              <a:t>PBMCs</a:t>
            </a:r>
            <a:r>
              <a:rPr lang="en-US" sz="2400" dirty="0" smtClean="0">
                <a:latin typeface="Arial"/>
                <a:cs typeface="Arial"/>
              </a:rPr>
              <a:t> were stimulated with pool of peptides to induce cytokine production (identification of </a:t>
            </a:r>
            <a:r>
              <a:rPr lang="en-US" sz="2400" dirty="0" err="1" smtClean="0">
                <a:latin typeface="Arial"/>
                <a:cs typeface="Arial"/>
              </a:rPr>
              <a:t>ag</a:t>
            </a:r>
            <a:r>
              <a:rPr lang="en-US" sz="2400" dirty="0" smtClean="0">
                <a:latin typeface="Arial"/>
                <a:cs typeface="Arial"/>
              </a:rPr>
              <a:t>-specific T cells)</a:t>
            </a:r>
          </a:p>
          <a:p>
            <a:pPr marL="457200" indent="-457200">
              <a:spcBef>
                <a:spcPts val="600"/>
              </a:spcBef>
            </a:pPr>
            <a:r>
              <a:rPr lang="en-US" sz="2400" dirty="0" smtClean="0">
                <a:latin typeface="Arial"/>
                <a:cs typeface="Arial"/>
              </a:rPr>
              <a:t>Determine the </a:t>
            </a:r>
            <a:r>
              <a:rPr lang="en-US" sz="2400" b="1" dirty="0" smtClean="0">
                <a:latin typeface="Arial"/>
                <a:cs typeface="Arial"/>
              </a:rPr>
              <a:t>memory phenotype</a:t>
            </a:r>
            <a:r>
              <a:rPr lang="en-US" sz="2400" dirty="0" smtClean="0">
                <a:latin typeface="Arial"/>
                <a:cs typeface="Arial"/>
              </a:rPr>
              <a:t> of cytokine producing cells</a:t>
            </a:r>
            <a:endParaRPr lang="it-IT" sz="2400" dirty="0" smtClean="0">
              <a:latin typeface="Arial"/>
              <a:cs typeface="Arial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723" y="3120411"/>
            <a:ext cx="3049005" cy="296687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8625" y="3120411"/>
            <a:ext cx="3070713" cy="2988000"/>
          </a:xfrm>
          <a:prstGeom prst="rect">
            <a:avLst/>
          </a:prstGeom>
        </p:spPr>
      </p:pic>
      <p:sp>
        <p:nvSpPr>
          <p:cNvPr id="12" name="CasellaDiTesto 4"/>
          <p:cNvSpPr txBox="1"/>
          <p:nvPr/>
        </p:nvSpPr>
        <p:spPr>
          <a:xfrm>
            <a:off x="4235427" y="5993713"/>
            <a:ext cx="8068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it-IT" sz="2800" dirty="0" smtClean="0">
                <a:latin typeface="Arial"/>
                <a:cs typeface="Arial"/>
              </a:rPr>
              <a:t>IL-2</a:t>
            </a:r>
          </a:p>
        </p:txBody>
      </p:sp>
      <p:sp>
        <p:nvSpPr>
          <p:cNvPr id="13" name="CasellaDiTesto 4"/>
          <p:cNvSpPr txBox="1"/>
          <p:nvPr/>
        </p:nvSpPr>
        <p:spPr>
          <a:xfrm rot="16200000">
            <a:off x="133727" y="4080187"/>
            <a:ext cx="177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it-IT" sz="2800" dirty="0" err="1" smtClean="0">
                <a:latin typeface="Arial"/>
                <a:cs typeface="Arial"/>
              </a:rPr>
              <a:t>IFN-g</a:t>
            </a:r>
            <a:endParaRPr lang="it-IT" sz="2800" dirty="0" smtClean="0">
              <a:latin typeface="Arial"/>
              <a:cs typeface="Arial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5002134" y="3453190"/>
            <a:ext cx="2403971" cy="1588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16200000" flipH="1">
            <a:off x="6265174" y="4594120"/>
            <a:ext cx="2281863" cy="1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rot="16200000" flipH="1">
            <a:off x="4522939" y="3932383"/>
            <a:ext cx="958390" cy="1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rot="10800000">
            <a:off x="4988765" y="4411580"/>
            <a:ext cx="1508288" cy="3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rot="5400000" flipH="1" flipV="1">
            <a:off x="5826149" y="5069113"/>
            <a:ext cx="1315070" cy="1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6479689" y="5735052"/>
            <a:ext cx="921257" cy="2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711143" y="3454779"/>
            <a:ext cx="2403971" cy="1588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rot="16200000" flipH="1">
            <a:off x="2974183" y="4595709"/>
            <a:ext cx="2281863" cy="1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rot="16200000" flipH="1">
            <a:off x="1231948" y="3933972"/>
            <a:ext cx="958390" cy="1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rot="10800000">
            <a:off x="1712198" y="4413169"/>
            <a:ext cx="1400288" cy="3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rot="5400000" flipH="1" flipV="1">
            <a:off x="2454950" y="5070702"/>
            <a:ext cx="1315070" cy="1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121857" y="5736641"/>
            <a:ext cx="993256" cy="2"/>
          </a:xfrm>
          <a:prstGeom prst="line">
            <a:avLst/>
          </a:prstGeom>
          <a:ln w="28575" cap="flat" cmpd="sng" algn="ctr">
            <a:solidFill>
              <a:srgbClr val="A551C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027573" y="2658746"/>
            <a:ext cx="2210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b="1" i="1" dirty="0" err="1" smtClean="0">
                <a:solidFill>
                  <a:srgbClr val="A551CF"/>
                </a:solidFill>
                <a:latin typeface="Arial"/>
                <a:cs typeface="Arial"/>
              </a:rPr>
              <a:t>Unstimulated</a:t>
            </a:r>
            <a:endParaRPr lang="en-US" sz="2400" b="1" i="1" dirty="0" smtClean="0">
              <a:solidFill>
                <a:srgbClr val="A551CF"/>
              </a:solidFill>
              <a:latin typeface="Arial"/>
              <a:cs typeface="Arial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4826897" y="2658746"/>
            <a:ext cx="29971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Peptide stimulated</a:t>
            </a:r>
          </a:p>
        </p:txBody>
      </p:sp>
    </p:spTree>
    <p:extLst>
      <p:ext uri="{BB962C8B-B14F-4D97-AF65-F5344CB8AC3E}">
        <p14:creationId xmlns:p14="http://schemas.microsoft.com/office/powerpoint/2010/main" val="21525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268899" y="110806"/>
            <a:ext cx="8313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Dots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are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useful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with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low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numbers</a:t>
            </a:r>
            <a:endParaRPr lang="it-IT" sz="40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4"/>
          <p:cNvSpPr txBox="1"/>
          <p:nvPr/>
        </p:nvSpPr>
        <p:spPr>
          <a:xfrm rot="16200000">
            <a:off x="118747" y="3771570"/>
            <a:ext cx="17740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/>
            <a:r>
              <a:rPr lang="it-IT" sz="2800" dirty="0" smtClean="0">
                <a:latin typeface="Arial"/>
                <a:cs typeface="Arial"/>
              </a:rPr>
              <a:t>CCR7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26077" y="1071100"/>
            <a:ext cx="315660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High resolution</a:t>
            </a:r>
          </a:p>
          <a:p>
            <a:pPr marL="457200" indent="-457200" algn="ctr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(can’t see anything)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29181" y="1071100"/>
            <a:ext cx="303097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Low resolution</a:t>
            </a:r>
          </a:p>
          <a:p>
            <a:pPr marL="457200" indent="-457200" algn="ctr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(better, but gates?)</a:t>
            </a:r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77" y="4201772"/>
            <a:ext cx="2213023" cy="2153413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0823" y="4201772"/>
            <a:ext cx="2212262" cy="215267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2382490" y="4201772"/>
            <a:ext cx="43992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/>
            <a:r>
              <a:rPr lang="en-US" sz="2400" b="1" i="1" dirty="0" smtClean="0">
                <a:solidFill>
                  <a:srgbClr val="A551CF"/>
                </a:solidFill>
                <a:latin typeface="Arial"/>
                <a:cs typeface="Arial"/>
              </a:rPr>
              <a:t>No idea of number of events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293" y="1908092"/>
            <a:ext cx="2219792" cy="2160000"/>
          </a:xfrm>
          <a:prstGeom prst="rect">
            <a:avLst/>
          </a:prstGeom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2877" y="1908092"/>
            <a:ext cx="2219792" cy="2160000"/>
          </a:xfrm>
          <a:prstGeom prst="rect">
            <a:avLst/>
          </a:prstGeom>
        </p:spPr>
      </p:pic>
      <p:sp>
        <p:nvSpPr>
          <p:cNvPr id="48" name="CasellaDiTesto 4"/>
          <p:cNvSpPr txBox="1"/>
          <p:nvPr/>
        </p:nvSpPr>
        <p:spPr>
          <a:xfrm>
            <a:off x="3878914" y="6188483"/>
            <a:ext cx="1628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it-IT" sz="2800" dirty="0" smtClean="0">
                <a:latin typeface="Arial"/>
                <a:cs typeface="Arial"/>
              </a:rPr>
              <a:t>CD45RA</a:t>
            </a:r>
          </a:p>
        </p:txBody>
      </p:sp>
    </p:spTree>
    <p:extLst>
      <p:ext uri="{BB962C8B-B14F-4D97-AF65-F5344CB8AC3E}">
        <p14:creationId xmlns:p14="http://schemas.microsoft.com/office/powerpoint/2010/main" val="2212295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268899" y="110806"/>
            <a:ext cx="83139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Dots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are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useful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with</a:t>
            </a:r>
            <a:r>
              <a:rPr lang="it-IT" sz="4000" b="1" dirty="0" smtClean="0">
                <a:solidFill>
                  <a:srgbClr val="000090"/>
                </a:solidFill>
                <a:latin typeface="Arial"/>
                <a:cs typeface="Arial"/>
              </a:rPr>
              <a:t> low </a:t>
            </a:r>
            <a:r>
              <a:rPr lang="it-IT" sz="4000" b="1" dirty="0" err="1" smtClean="0">
                <a:solidFill>
                  <a:srgbClr val="000090"/>
                </a:solidFill>
                <a:latin typeface="Arial"/>
                <a:cs typeface="Arial"/>
              </a:rPr>
              <a:t>numbers</a:t>
            </a:r>
            <a:endParaRPr lang="it-IT" sz="40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735" y="1326482"/>
            <a:ext cx="3771900" cy="36703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68898" y="5117094"/>
            <a:ext cx="8500785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sz="2400" dirty="0" smtClean="0">
                <a:latin typeface="Arial"/>
                <a:cs typeface="Arial"/>
              </a:rPr>
              <a:t>Dots overlaid on density plot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 smtClean="0">
                <a:latin typeface="Arial"/>
                <a:cs typeface="Arial"/>
              </a:rPr>
              <a:t>Contrasting colors</a:t>
            </a:r>
          </a:p>
          <a:p>
            <a:pPr marL="457200" indent="-457200">
              <a:buFont typeface="Arial"/>
              <a:buChar char="•"/>
            </a:pPr>
            <a:r>
              <a:rPr lang="en-US" sz="2400" dirty="0" smtClean="0">
                <a:latin typeface="Arial"/>
                <a:cs typeface="Arial"/>
              </a:rPr>
              <a:t>Total CD8+ cells allow to see population distribution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328737" y="3074737"/>
            <a:ext cx="2406315" cy="1588"/>
          </a:xfrm>
          <a:prstGeom prst="line">
            <a:avLst/>
          </a:prstGeom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rot="5400000">
            <a:off x="3298199" y="3323349"/>
            <a:ext cx="2388771" cy="1589"/>
          </a:xfrm>
          <a:prstGeom prst="line">
            <a:avLst/>
          </a:prstGeom>
          <a:ln w="127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70322" y="1524000"/>
            <a:ext cx="240632" cy="2406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470322" y="2104176"/>
            <a:ext cx="240632" cy="2406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asellaDiTesto 4"/>
          <p:cNvSpPr txBox="1"/>
          <p:nvPr/>
        </p:nvSpPr>
        <p:spPr>
          <a:xfrm>
            <a:off x="6737690" y="1353218"/>
            <a:ext cx="2031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it-IT" sz="2800" dirty="0" smtClean="0">
                <a:latin typeface="Arial"/>
                <a:cs typeface="Arial"/>
              </a:rPr>
              <a:t>Total CD8+</a:t>
            </a:r>
          </a:p>
        </p:txBody>
      </p:sp>
      <p:sp>
        <p:nvSpPr>
          <p:cNvPr id="27" name="CasellaDiTesto 4"/>
          <p:cNvSpPr txBox="1"/>
          <p:nvPr/>
        </p:nvSpPr>
        <p:spPr>
          <a:xfrm>
            <a:off x="6737690" y="1921894"/>
            <a:ext cx="20319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/>
            <a:r>
              <a:rPr lang="en-US" sz="2800" dirty="0" smtClean="0">
                <a:latin typeface="Arial"/>
                <a:cs typeface="Arial"/>
              </a:rPr>
              <a:t>A</a:t>
            </a:r>
            <a:r>
              <a:rPr lang="it-IT" sz="2800" dirty="0" err="1" smtClean="0">
                <a:latin typeface="Arial"/>
                <a:cs typeface="Arial"/>
              </a:rPr>
              <a:t>g-specific</a:t>
            </a:r>
            <a:endParaRPr lang="it-IT" sz="2800" dirty="0" smtClean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1521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268899" y="110806"/>
            <a:ext cx="831397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Complex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experiments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: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gating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strategy</a:t>
            </a:r>
            <a:endParaRPr lang="it-IT" sz="32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asellaDiTesto 4"/>
          <p:cNvSpPr txBox="1"/>
          <p:nvPr/>
        </p:nvSpPr>
        <p:spPr>
          <a:xfrm>
            <a:off x="268899" y="1261149"/>
            <a:ext cx="8646501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1200"/>
              </a:spcBef>
            </a:pPr>
            <a:r>
              <a:rPr lang="it-IT" sz="2800" dirty="0" err="1" smtClean="0">
                <a:latin typeface="Arial"/>
                <a:cs typeface="Arial"/>
              </a:rPr>
              <a:t>Why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is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this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important</a:t>
            </a:r>
            <a:r>
              <a:rPr lang="it-IT" sz="2800" dirty="0" smtClean="0">
                <a:latin typeface="Arial"/>
                <a:cs typeface="Arial"/>
              </a:rPr>
              <a:t>? </a:t>
            </a:r>
            <a:r>
              <a:rPr lang="it-IT" sz="2800" dirty="0" err="1" smtClean="0">
                <a:latin typeface="Arial"/>
                <a:cs typeface="Arial"/>
              </a:rPr>
              <a:t>Tells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you</a:t>
            </a:r>
            <a:r>
              <a:rPr lang="it-IT" sz="2800" dirty="0" smtClean="0">
                <a:latin typeface="Arial"/>
                <a:cs typeface="Arial"/>
              </a:rPr>
              <a:t> </a:t>
            </a:r>
            <a:r>
              <a:rPr lang="it-IT" sz="2800" dirty="0" err="1" smtClean="0">
                <a:latin typeface="Arial"/>
                <a:cs typeface="Arial"/>
              </a:rPr>
              <a:t>whether</a:t>
            </a:r>
            <a:r>
              <a:rPr lang="it-IT" sz="2800" dirty="0" smtClean="0">
                <a:latin typeface="Arial"/>
                <a:cs typeface="Arial"/>
              </a:rPr>
              <a:t>: 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it-IT" sz="2400" dirty="0" smtClean="0">
                <a:latin typeface="Arial"/>
                <a:cs typeface="Arial"/>
              </a:rPr>
              <a:t>the </a:t>
            </a:r>
            <a:r>
              <a:rPr lang="it-IT" sz="2400" dirty="0" err="1" smtClean="0">
                <a:latin typeface="Arial"/>
                <a:cs typeface="Arial"/>
              </a:rPr>
              <a:t>authors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have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experience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with</a:t>
            </a:r>
            <a:r>
              <a:rPr lang="it-IT" sz="2400" dirty="0" smtClean="0">
                <a:latin typeface="Arial"/>
                <a:cs typeface="Arial"/>
              </a:rPr>
              <a:t> FACS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 smtClean="0">
                <a:latin typeface="Arial"/>
                <a:cs typeface="Arial"/>
              </a:rPr>
              <a:t>g</a:t>
            </a:r>
            <a:r>
              <a:rPr lang="it-IT" sz="2400" dirty="0" err="1" smtClean="0">
                <a:latin typeface="Arial"/>
                <a:cs typeface="Arial"/>
              </a:rPr>
              <a:t>ates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were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performed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correctly</a:t>
            </a:r>
            <a:r>
              <a:rPr lang="it-IT" sz="2400" dirty="0" smtClean="0">
                <a:latin typeface="Arial"/>
                <a:cs typeface="Arial"/>
              </a:rPr>
              <a:t> (</a:t>
            </a:r>
            <a:r>
              <a:rPr lang="it-IT" sz="2400" dirty="0" err="1" smtClean="0">
                <a:latin typeface="Arial"/>
                <a:cs typeface="Arial"/>
              </a:rPr>
              <a:t>polygon</a:t>
            </a:r>
            <a:r>
              <a:rPr lang="it-IT" sz="2400" dirty="0" smtClean="0">
                <a:latin typeface="Arial"/>
                <a:cs typeface="Arial"/>
              </a:rPr>
              <a:t> vs. </a:t>
            </a:r>
            <a:r>
              <a:rPr lang="it-IT" sz="2400" dirty="0" err="1" smtClean="0">
                <a:latin typeface="Arial"/>
                <a:cs typeface="Arial"/>
              </a:rPr>
              <a:t>quadrants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as</a:t>
            </a:r>
            <a:r>
              <a:rPr lang="it-IT" sz="2400" dirty="0" smtClean="0">
                <a:latin typeface="Arial"/>
                <a:cs typeface="Arial"/>
              </a:rPr>
              <a:t> a </a:t>
            </a:r>
            <a:r>
              <a:rPr lang="it-IT" sz="2400" dirty="0" err="1" smtClean="0">
                <a:latin typeface="Arial"/>
                <a:cs typeface="Arial"/>
              </a:rPr>
              <a:t>consequence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of</a:t>
            </a:r>
            <a:r>
              <a:rPr lang="it-IT" sz="2400" dirty="0" smtClean="0">
                <a:latin typeface="Arial"/>
                <a:cs typeface="Arial"/>
              </a:rPr>
              <a:t> </a:t>
            </a:r>
            <a:r>
              <a:rPr lang="it-IT" sz="2400" dirty="0" err="1" smtClean="0">
                <a:latin typeface="Arial"/>
                <a:cs typeface="Arial"/>
              </a:rPr>
              <a:t>spreading</a:t>
            </a:r>
            <a:r>
              <a:rPr lang="it-IT" sz="2400" dirty="0" smtClean="0">
                <a:latin typeface="Arial"/>
                <a:cs typeface="Arial"/>
              </a:rPr>
              <a:t>)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 smtClean="0">
                <a:latin typeface="Arial"/>
                <a:cs typeface="Arial"/>
              </a:rPr>
              <a:t>Dead cells were excluded in the right way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 smtClean="0">
                <a:latin typeface="Arial"/>
                <a:cs typeface="Arial"/>
              </a:rPr>
              <a:t>There is contamination from unwanted populations</a:t>
            </a:r>
          </a:p>
          <a:p>
            <a:pPr marL="457200" indent="-457200">
              <a:spcBef>
                <a:spcPts val="1200"/>
              </a:spcBef>
              <a:buFont typeface="Arial"/>
              <a:buChar char="•"/>
            </a:pPr>
            <a:r>
              <a:rPr lang="en-US" sz="2400" dirty="0" smtClean="0">
                <a:latin typeface="Arial"/>
                <a:cs typeface="Arial"/>
              </a:rPr>
              <a:t>Cells were chosen correctly on the basis of FSC and SSC</a:t>
            </a:r>
          </a:p>
        </p:txBody>
      </p:sp>
    </p:spTree>
    <p:extLst>
      <p:ext uri="{BB962C8B-B14F-4D97-AF65-F5344CB8AC3E}">
        <p14:creationId xmlns:p14="http://schemas.microsoft.com/office/powerpoint/2010/main" val="3653555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268899" y="110806"/>
            <a:ext cx="831397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Memory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T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cells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: full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gating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strategy</a:t>
            </a:r>
            <a:endParaRPr lang="it-IT" sz="32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024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Screen Shot 2014-11-01 at 12.19.06 PM.png"/>
          <p:cNvPicPr>
            <a:picLocks noChangeAspect="1"/>
          </p:cNvPicPr>
          <p:nvPr/>
        </p:nvPicPr>
        <p:blipFill>
          <a:blip r:embed="rId2"/>
          <a:srcRect b="69262"/>
          <a:stretch>
            <a:fillRect/>
          </a:stretch>
        </p:blipFill>
        <p:spPr>
          <a:xfrm>
            <a:off x="268899" y="1380732"/>
            <a:ext cx="7967579" cy="1536627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rot="5400000">
            <a:off x="527744" y="2621655"/>
            <a:ext cx="686005" cy="242891"/>
          </a:xfrm>
          <a:prstGeom prst="line">
            <a:avLst/>
          </a:prstGeom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asellaDiTesto 4"/>
          <p:cNvSpPr txBox="1"/>
          <p:nvPr/>
        </p:nvSpPr>
        <p:spPr>
          <a:xfrm>
            <a:off x="268899" y="3086103"/>
            <a:ext cx="2347301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/>
            <a:r>
              <a:rPr lang="en-US" sz="2400" dirty="0" smtClean="0">
                <a:latin typeface="Arial"/>
                <a:cs typeface="Arial"/>
              </a:rPr>
              <a:t>Is fluorescence stable over time?</a:t>
            </a:r>
            <a:endParaRPr lang="en-US" sz="2000" dirty="0" smtClean="0">
              <a:latin typeface="Arial"/>
              <a:cs typeface="Arial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1551589" y="3221818"/>
            <a:ext cx="1886333" cy="242892"/>
          </a:xfrm>
          <a:prstGeom prst="line">
            <a:avLst/>
          </a:prstGeom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sellaDiTesto 4"/>
          <p:cNvSpPr txBox="1"/>
          <p:nvPr/>
        </p:nvSpPr>
        <p:spPr>
          <a:xfrm>
            <a:off x="1594949" y="4286431"/>
            <a:ext cx="17832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/>
            <a:r>
              <a:rPr lang="en-US" sz="2400" dirty="0" smtClean="0">
                <a:latin typeface="Arial"/>
                <a:cs typeface="Arial"/>
              </a:rPr>
              <a:t>Doublets excluded?</a:t>
            </a:r>
            <a:endParaRPr lang="en-US" sz="2000" dirty="0" smtClean="0">
              <a:latin typeface="Arial"/>
              <a:cs typeface="Arial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rot="5400000">
            <a:off x="3631302" y="3047104"/>
            <a:ext cx="1536905" cy="242893"/>
          </a:xfrm>
          <a:prstGeom prst="line">
            <a:avLst/>
          </a:prstGeom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sellaDiTesto 4"/>
          <p:cNvSpPr txBox="1"/>
          <p:nvPr/>
        </p:nvSpPr>
        <p:spPr>
          <a:xfrm>
            <a:off x="3386681" y="3937003"/>
            <a:ext cx="23727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/>
            <a:r>
              <a:rPr lang="en-US" sz="2400" dirty="0" smtClean="0">
                <a:latin typeface="Arial"/>
                <a:cs typeface="Arial"/>
              </a:rPr>
              <a:t>Dead cells excluded correctly? Contaminating populations such as </a:t>
            </a:r>
            <a:r>
              <a:rPr lang="en-US" sz="2400" dirty="0" err="1" smtClean="0">
                <a:latin typeface="Arial"/>
                <a:cs typeface="Arial"/>
              </a:rPr>
              <a:t>Monos</a:t>
            </a:r>
            <a:r>
              <a:rPr lang="en-US" sz="2400" dirty="0" smtClean="0">
                <a:latin typeface="Arial"/>
                <a:cs typeface="Arial"/>
              </a:rPr>
              <a:t>?</a:t>
            </a:r>
            <a:endParaRPr lang="en-US" sz="2000" dirty="0" smtClean="0">
              <a:latin typeface="Arial"/>
              <a:cs typeface="Arial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rot="16200000" flipH="1">
            <a:off x="4716916" y="3442632"/>
            <a:ext cx="2275569" cy="190499"/>
          </a:xfrm>
          <a:prstGeom prst="line">
            <a:avLst/>
          </a:prstGeom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asellaDiTesto 4"/>
          <p:cNvSpPr txBox="1"/>
          <p:nvPr/>
        </p:nvSpPr>
        <p:spPr>
          <a:xfrm>
            <a:off x="5698081" y="4675667"/>
            <a:ext cx="23727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/>
            <a:r>
              <a:rPr lang="en-US" sz="2400" dirty="0" smtClean="0">
                <a:latin typeface="Arial"/>
                <a:cs typeface="Arial"/>
              </a:rPr>
              <a:t>Only small lymphocytes or also large lymphocytes included?</a:t>
            </a:r>
            <a:endParaRPr lang="en-US" sz="2000" dirty="0" smtClean="0">
              <a:latin typeface="Arial"/>
              <a:cs typeface="Arial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 rot="5400000">
            <a:off x="6421981" y="2548482"/>
            <a:ext cx="1075241" cy="1588"/>
          </a:xfrm>
          <a:prstGeom prst="line">
            <a:avLst/>
          </a:prstGeom>
          <a:ln w="2857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CasellaDiTesto 4"/>
          <p:cNvSpPr txBox="1"/>
          <p:nvPr/>
        </p:nvSpPr>
        <p:spPr>
          <a:xfrm>
            <a:off x="6498181" y="3086103"/>
            <a:ext cx="2372769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457200"/>
            <a:r>
              <a:rPr lang="en-US" sz="2400" dirty="0" smtClean="0">
                <a:latin typeface="Arial"/>
                <a:cs typeface="Arial"/>
              </a:rPr>
              <a:t>Spreading of CD8 into CD4: optimal gate?</a:t>
            </a:r>
            <a:endParaRPr lang="en-US" sz="2000" dirty="0" smtClean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6157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16" grpId="0"/>
      <p:bldP spid="19" grpId="0"/>
      <p:bldP spid="2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0" y="110806"/>
            <a:ext cx="914400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MIFlowCyt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en-US" sz="3200" b="1" dirty="0" smtClean="0">
                <a:solidFill>
                  <a:srgbClr val="000090"/>
                </a:solidFill>
                <a:latin typeface="Arial"/>
                <a:cs typeface="Arial"/>
              </a:rPr>
              <a:t>–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ISAC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standards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it-IT" sz="3200" b="1" dirty="0" err="1" smtClean="0">
                <a:solidFill>
                  <a:srgbClr val="000090"/>
                </a:solidFill>
                <a:latin typeface="Arial"/>
                <a:cs typeface="Arial"/>
              </a:rPr>
              <a:t>for</a:t>
            </a:r>
            <a:r>
              <a:rPr lang="it-IT" sz="3200" b="1" dirty="0" smtClean="0">
                <a:solidFill>
                  <a:srgbClr val="000090"/>
                </a:solidFill>
                <a:latin typeface="Arial"/>
                <a:cs typeface="Arial"/>
              </a:rPr>
              <a:t> data display</a:t>
            </a:r>
            <a:endParaRPr lang="it-IT" sz="3200" b="1" dirty="0">
              <a:solidFill>
                <a:srgbClr val="000090"/>
              </a:solidFill>
              <a:latin typeface="Arial"/>
              <a:cs typeface="Arial"/>
            </a:endParaRPr>
          </a:p>
        </p:txBody>
      </p:sp>
      <p:cxnSp>
        <p:nvCxnSpPr>
          <p:cNvPr id="8" name="Connettore 1 5"/>
          <p:cNvCxnSpPr/>
          <p:nvPr/>
        </p:nvCxnSpPr>
        <p:spPr>
          <a:xfrm flipV="1">
            <a:off x="0" y="915117"/>
            <a:ext cx="9144000" cy="6225"/>
          </a:xfrm>
          <a:prstGeom prst="line">
            <a:avLst/>
          </a:prstGeom>
          <a:ln w="57150" cmpd="sng">
            <a:solidFill>
              <a:srgbClr val="CB020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creen Shot 2014-11-01 at 12.33.5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144157"/>
            <a:ext cx="7772400" cy="554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718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creen Shot 2016-09-07 at 12.05.01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101600"/>
            <a:ext cx="5969000" cy="2641600"/>
          </a:xfrm>
          <a:prstGeom prst="rect">
            <a:avLst/>
          </a:prstGeom>
        </p:spPr>
      </p:pic>
      <p:pic>
        <p:nvPicPr>
          <p:cNvPr id="9" name="Picture 8" descr="Screen Shot 2016-09-09 at 9.06.38 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2743200"/>
            <a:ext cx="7112000" cy="3107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64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/>
          <p:cNvSpPr txBox="1"/>
          <p:nvPr/>
        </p:nvSpPr>
        <p:spPr>
          <a:xfrm>
            <a:off x="845079" y="2942906"/>
            <a:ext cx="7458391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 err="1" smtClean="0">
                <a:solidFill>
                  <a:srgbClr val="000090"/>
                </a:solidFill>
              </a:rPr>
              <a:t>enrico.lugli@humanitasresearch.it</a:t>
            </a:r>
            <a:endParaRPr lang="it-IT" sz="3200" dirty="0">
              <a:solidFill>
                <a:srgbClr val="00009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495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650000"/>
    </a:accent1>
    <a:accent2>
      <a:srgbClr val="333399"/>
    </a:accent2>
    <a:accent3>
      <a:srgbClr val="FFFFFF"/>
    </a:accent3>
    <a:accent4>
      <a:srgbClr val="000000"/>
    </a:accent4>
    <a:accent5>
      <a:srgbClr val="B8AAAA"/>
    </a:accent5>
    <a:accent6>
      <a:srgbClr val="2D2D8A"/>
    </a:accent6>
    <a:hlink>
      <a:srgbClr val="009999"/>
    </a:hlink>
    <a:folHlink>
      <a:srgbClr val="99CC00"/>
    </a:folHlink>
  </a:clrScheme>
  <a:fontScheme name="Default - Title and Content">
    <a:majorFont>
      <a:latin typeface="Arial"/>
      <a:ea typeface="ヒラギノ角ゴ ProN W3"/>
      <a:cs typeface="ヒラギノ角ゴ ProN W3"/>
    </a:majorFont>
    <a:minorFont>
      <a:latin typeface="Arial"/>
      <a:ea typeface="ヒラギノ角ゴ ProN W3"/>
      <a:cs typeface="ヒラギノ角ゴ ProN W3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tint val="100000"/>
              <a:shade val="100000"/>
              <a:satMod val="130000"/>
            </a:schemeClr>
          </a:gs>
          <a:gs pos="100000">
            <a:schemeClr val="phClr">
              <a:tint val="50000"/>
              <a:shade val="100000"/>
              <a:satMod val="350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2452</TotalTime>
  <Words>2704</Words>
  <Application>Microsoft Office PowerPoint</Application>
  <PresentationFormat>Presentazione su schermo (4:3)</PresentationFormat>
  <Paragraphs>596</Paragraphs>
  <Slides>71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71</vt:i4>
      </vt:variant>
    </vt:vector>
  </HeadingPairs>
  <TitlesOfParts>
    <vt:vector size="72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creator>Enrico Lugli</dc:creator>
  <cp:lastModifiedBy>Utente: rfavaro - Computer: RICPIEVE036</cp:lastModifiedBy>
  <cp:revision>125</cp:revision>
  <dcterms:created xsi:type="dcterms:W3CDTF">2016-12-05T13:35:02Z</dcterms:created>
  <dcterms:modified xsi:type="dcterms:W3CDTF">2016-12-12T15:01:17Z</dcterms:modified>
</cp:coreProperties>
</file>