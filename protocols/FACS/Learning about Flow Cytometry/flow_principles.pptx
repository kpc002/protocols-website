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10" r:id="rId3"/>
    <p:sldId id="361" r:id="rId4"/>
    <p:sldId id="269" r:id="rId5"/>
    <p:sldId id="290" r:id="rId6"/>
    <p:sldId id="266" r:id="rId7"/>
    <p:sldId id="357" r:id="rId8"/>
    <p:sldId id="358" r:id="rId9"/>
    <p:sldId id="385" r:id="rId10"/>
    <p:sldId id="387" r:id="rId11"/>
    <p:sldId id="268" r:id="rId12"/>
    <p:sldId id="362" r:id="rId13"/>
    <p:sldId id="359" r:id="rId14"/>
    <p:sldId id="360" r:id="rId15"/>
    <p:sldId id="265" r:id="rId16"/>
    <p:sldId id="365" r:id="rId17"/>
    <p:sldId id="366" r:id="rId18"/>
    <p:sldId id="389" r:id="rId19"/>
    <p:sldId id="390" r:id="rId20"/>
    <p:sldId id="367" r:id="rId21"/>
    <p:sldId id="363" r:id="rId22"/>
    <p:sldId id="368" r:id="rId23"/>
    <p:sldId id="369" r:id="rId24"/>
    <p:sldId id="372" r:id="rId25"/>
    <p:sldId id="370" r:id="rId26"/>
    <p:sldId id="371" r:id="rId27"/>
    <p:sldId id="392" r:id="rId28"/>
    <p:sldId id="364" r:id="rId29"/>
    <p:sldId id="373" r:id="rId30"/>
    <p:sldId id="375" r:id="rId31"/>
    <p:sldId id="376" r:id="rId32"/>
    <p:sldId id="377" r:id="rId33"/>
    <p:sldId id="378" r:id="rId34"/>
    <p:sldId id="380" r:id="rId35"/>
    <p:sldId id="382" r:id="rId36"/>
    <p:sldId id="383" r:id="rId37"/>
    <p:sldId id="394" r:id="rId38"/>
    <p:sldId id="3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316"/>
    <a:srgbClr val="8211B2"/>
    <a:srgbClr val="043E9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27"/>
    <p:restoredTop sz="58121"/>
  </p:normalViewPr>
  <p:slideViewPr>
    <p:cSldViewPr snapToGrid="0">
      <p:cViewPr varScale="1">
        <p:scale>
          <a:sx n="64" d="100"/>
          <a:sy n="64" d="100"/>
        </p:scale>
        <p:origin x="19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Cartella%20di%20lavoro1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comric$:Unita%20Imaging%202:Citometria:Machine_Setup:X50:161020_S03_EL_single_stained%20cells:161020_stain_index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63167526880402E-2"/>
          <c:y val="9.89954126188161E-2"/>
          <c:w val="0.807473943596273"/>
          <c:h val="0.70374213481525205"/>
        </c:manualLayout>
      </c:layout>
      <c:lineChart>
        <c:grouping val="standard"/>
        <c:varyColors val="0"/>
        <c:ser>
          <c:idx val="1"/>
          <c:order val="0"/>
          <c:tx>
            <c:strRef>
              <c:f>Foglio1!$E$3</c:f>
              <c:strCache>
                <c:ptCount val="1"/>
                <c:pt idx="0">
                  <c:v>SNR</c:v>
                </c:pt>
              </c:strCache>
            </c:strRef>
          </c:tx>
          <c:spPr>
            <a:ln w="28575" cmpd="sng">
              <a:solidFill>
                <a:srgbClr val="0000FF"/>
              </a:solidFill>
            </a:ln>
            <a:effectLst/>
          </c:spPr>
          <c:marker>
            <c:spPr>
              <a:solidFill>
                <a:srgbClr val="FF0000"/>
              </a:solidFill>
              <a:ln>
                <a:noFill/>
              </a:ln>
              <a:effectLst/>
            </c:spPr>
          </c:marker>
          <c:cat>
            <c:numRef>
              <c:f>Foglio1!$B$4:$B$10</c:f>
              <c:numCache>
                <c:formatCode>General</c:formatCode>
                <c:ptCount val="7"/>
                <c:pt idx="0">
                  <c:v>5</c:v>
                </c:pt>
                <c:pt idx="1">
                  <c:v>2.5</c:v>
                </c:pt>
                <c:pt idx="2">
                  <c:v>1.25</c:v>
                </c:pt>
                <c:pt idx="3">
                  <c:v>0.63</c:v>
                </c:pt>
                <c:pt idx="4">
                  <c:v>0.31</c:v>
                </c:pt>
                <c:pt idx="5">
                  <c:v>0.15</c:v>
                </c:pt>
                <c:pt idx="6">
                  <c:v>7.0000000000000007E-2</c:v>
                </c:pt>
              </c:numCache>
            </c:numRef>
          </c:cat>
          <c:val>
            <c:numRef>
              <c:f>Foglio1!$E$4:$E$10</c:f>
              <c:numCache>
                <c:formatCode>General</c:formatCode>
                <c:ptCount val="7"/>
                <c:pt idx="0">
                  <c:v>219</c:v>
                </c:pt>
                <c:pt idx="1">
                  <c:v>230</c:v>
                </c:pt>
                <c:pt idx="2">
                  <c:v>247</c:v>
                </c:pt>
                <c:pt idx="3">
                  <c:v>283</c:v>
                </c:pt>
                <c:pt idx="4">
                  <c:v>265</c:v>
                </c:pt>
                <c:pt idx="5">
                  <c:v>264</c:v>
                </c:pt>
                <c:pt idx="6">
                  <c:v>249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14-9E4D-AA61-ECEA7369E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957056"/>
        <c:axId val="40958976"/>
      </c:lineChart>
      <c:catAx>
        <c:axId val="40957056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it-IT" sz="1400"/>
            </a:pPr>
            <a:endParaRPr lang="it-IT"/>
          </a:p>
        </c:txPr>
        <c:crossAx val="40958976"/>
        <c:crosses val="autoZero"/>
        <c:auto val="1"/>
        <c:lblAlgn val="ctr"/>
        <c:lblOffset val="100"/>
        <c:noMultiLvlLbl val="0"/>
      </c:catAx>
      <c:valAx>
        <c:axId val="40958976"/>
        <c:scaling>
          <c:orientation val="minMax"/>
          <c:max val="350"/>
          <c:min val="150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it-IT" sz="1400"/>
            </a:pPr>
            <a:endParaRPr lang="it-IT"/>
          </a:p>
        </c:txPr>
        <c:crossAx val="40957056"/>
        <c:crosses val="autoZero"/>
        <c:crossBetween val="between"/>
      </c:valAx>
      <c:spPr>
        <a:ln>
          <a:solidFill>
            <a:srgbClr val="000000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Stain Index Chart</c:v>
          </c:tx>
          <c:spPr>
            <a:solidFill>
              <a:srgbClr val="3366FF"/>
            </a:solidFill>
          </c:spPr>
          <c:invertIfNegative val="0"/>
          <c:cat>
            <c:strRef>
              <c:f>'161020_stain_index'!$A$2:$A$34</c:f>
              <c:strCache>
                <c:ptCount val="33"/>
                <c:pt idx="0">
                  <c:v>BB610</c:v>
                </c:pt>
                <c:pt idx="1">
                  <c:v>PE-Cy5</c:v>
                </c:pt>
                <c:pt idx="2">
                  <c:v>PE-CF594</c:v>
                </c:pt>
                <c:pt idx="3">
                  <c:v>BB700</c:v>
                </c:pt>
                <c:pt idx="4">
                  <c:v>BYG584</c:v>
                </c:pt>
                <c:pt idx="5">
                  <c:v>BB670</c:v>
                </c:pt>
                <c:pt idx="6">
                  <c:v>PE</c:v>
                </c:pt>
                <c:pt idx="7">
                  <c:v>BB515</c:v>
                </c:pt>
                <c:pt idx="8">
                  <c:v>BB780</c:v>
                </c:pt>
                <c:pt idx="9">
                  <c:v>BUV661</c:v>
                </c:pt>
                <c:pt idx="10">
                  <c:v>BV750P</c:v>
                </c:pt>
                <c:pt idx="11">
                  <c:v>PE-Cy7</c:v>
                </c:pt>
                <c:pt idx="12">
                  <c:v>BV421</c:v>
                </c:pt>
                <c:pt idx="13">
                  <c:v>BV711</c:v>
                </c:pt>
                <c:pt idx="14">
                  <c:v>BV480</c:v>
                </c:pt>
                <c:pt idx="15">
                  <c:v>BUV805</c:v>
                </c:pt>
                <c:pt idx="16">
                  <c:v>BV650</c:v>
                </c:pt>
                <c:pt idx="17">
                  <c:v>BUV615</c:v>
                </c:pt>
                <c:pt idx="18">
                  <c:v>BUV563</c:v>
                </c:pt>
                <c:pt idx="19">
                  <c:v>BV605</c:v>
                </c:pt>
                <c:pt idx="20">
                  <c:v>PE-Cy5.5</c:v>
                </c:pt>
                <c:pt idx="21">
                  <c:v>BUV737</c:v>
                </c:pt>
                <c:pt idx="22">
                  <c:v>APC-R700</c:v>
                </c:pt>
                <c:pt idx="23">
                  <c:v>BV510</c:v>
                </c:pt>
                <c:pt idx="24">
                  <c:v>APC-Cy7</c:v>
                </c:pt>
                <c:pt idx="25">
                  <c:v>BUV496</c:v>
                </c:pt>
                <c:pt idx="26">
                  <c:v>PCP-Cy5.5</c:v>
                </c:pt>
                <c:pt idx="27">
                  <c:v>Alexa 488</c:v>
                </c:pt>
                <c:pt idx="28">
                  <c:v>BUV395</c:v>
                </c:pt>
                <c:pt idx="29">
                  <c:v>BV786</c:v>
                </c:pt>
                <c:pt idx="30">
                  <c:v>Alexa 647</c:v>
                </c:pt>
                <c:pt idx="31">
                  <c:v>BV570</c:v>
                </c:pt>
                <c:pt idx="32">
                  <c:v>FITC</c:v>
                </c:pt>
              </c:strCache>
            </c:strRef>
          </c:cat>
          <c:val>
            <c:numRef>
              <c:f>'161020_stain_index'!$F$2:$F$34</c:f>
              <c:numCache>
                <c:formatCode>0</c:formatCode>
                <c:ptCount val="33"/>
                <c:pt idx="0">
                  <c:v>772.21818181818196</c:v>
                </c:pt>
                <c:pt idx="1">
                  <c:v>766.60465116279067</c:v>
                </c:pt>
                <c:pt idx="2">
                  <c:v>639.12307692307695</c:v>
                </c:pt>
                <c:pt idx="3">
                  <c:v>608.14213197969548</c:v>
                </c:pt>
                <c:pt idx="4">
                  <c:v>540.70909090909095</c:v>
                </c:pt>
                <c:pt idx="5">
                  <c:v>537.74647887323943</c:v>
                </c:pt>
                <c:pt idx="6">
                  <c:v>501.5</c:v>
                </c:pt>
                <c:pt idx="7">
                  <c:v>481.72072072072069</c:v>
                </c:pt>
                <c:pt idx="8">
                  <c:v>422.78640776698859</c:v>
                </c:pt>
                <c:pt idx="9">
                  <c:v>415.39583333333331</c:v>
                </c:pt>
                <c:pt idx="10">
                  <c:v>339.07499999999999</c:v>
                </c:pt>
                <c:pt idx="11">
                  <c:v>266.97590361445782</c:v>
                </c:pt>
                <c:pt idx="12">
                  <c:v>237.8387096774193</c:v>
                </c:pt>
                <c:pt idx="13">
                  <c:v>230.17500000000001</c:v>
                </c:pt>
                <c:pt idx="14">
                  <c:v>217.69306930693071</c:v>
                </c:pt>
                <c:pt idx="15">
                  <c:v>193.2295081967213</c:v>
                </c:pt>
                <c:pt idx="16">
                  <c:v>187.875</c:v>
                </c:pt>
                <c:pt idx="17">
                  <c:v>179.62666666666669</c:v>
                </c:pt>
                <c:pt idx="18">
                  <c:v>162.2705882352941</c:v>
                </c:pt>
                <c:pt idx="19">
                  <c:v>158.40540540540539</c:v>
                </c:pt>
                <c:pt idx="20">
                  <c:v>129.69090909090909</c:v>
                </c:pt>
                <c:pt idx="21">
                  <c:v>112.1052631578947</c:v>
                </c:pt>
                <c:pt idx="22">
                  <c:v>104.3055555555556</c:v>
                </c:pt>
                <c:pt idx="23">
                  <c:v>83.157303370786181</c:v>
                </c:pt>
                <c:pt idx="24">
                  <c:v>76.553846153845868</c:v>
                </c:pt>
                <c:pt idx="25">
                  <c:v>73.294736842105266</c:v>
                </c:pt>
                <c:pt idx="26">
                  <c:v>70.553846153845868</c:v>
                </c:pt>
                <c:pt idx="27">
                  <c:v>66.307692307692307</c:v>
                </c:pt>
                <c:pt idx="28">
                  <c:v>65.727272727272734</c:v>
                </c:pt>
                <c:pt idx="29">
                  <c:v>60.495327102803728</c:v>
                </c:pt>
                <c:pt idx="30">
                  <c:v>53.796296296296298</c:v>
                </c:pt>
                <c:pt idx="31">
                  <c:v>51.157894736841989</c:v>
                </c:pt>
                <c:pt idx="32">
                  <c:v>30.194444444444439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3B-D749-8593-91924EDF4B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5243008"/>
        <c:axId val="105244544"/>
      </c:barChart>
      <c:catAx>
        <c:axId val="1052430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it-IT" sz="1100">
                <a:latin typeface="Arial"/>
                <a:cs typeface="Arial"/>
              </a:defRPr>
            </a:pPr>
            <a:endParaRPr lang="it-IT"/>
          </a:p>
        </c:txPr>
        <c:crossAx val="105244544"/>
        <c:crosses val="autoZero"/>
        <c:auto val="1"/>
        <c:lblAlgn val="ctr"/>
        <c:lblOffset val="100"/>
        <c:noMultiLvlLbl val="0"/>
      </c:catAx>
      <c:valAx>
        <c:axId val="10524454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" sourceLinked="1"/>
        <c:majorTickMark val="out"/>
        <c:minorTickMark val="none"/>
        <c:tickLblPos val="nextTo"/>
        <c:spPr>
          <a:ln w="3175" cmpd="sng">
            <a:solidFill>
              <a:schemeClr val="tx1"/>
            </a:solidFill>
          </a:ln>
        </c:spPr>
        <c:txPr>
          <a:bodyPr/>
          <a:lstStyle/>
          <a:p>
            <a:pPr>
              <a:defRPr lang="it-IT" sz="1200"/>
            </a:pPr>
            <a:endParaRPr lang="it-IT"/>
          </a:p>
        </c:txPr>
        <c:crossAx val="105243008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25757-14C7-7744-BE12-143C6E8A04E2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93424-BD4E-7340-8F7F-4978A1E69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5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93424-BD4E-7340-8F7F-4978A1E69E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7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93424-BD4E-7340-8F7F-4978A1E69E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72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641E-F938-EDB7-1273-4B059EAA1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751C0-125C-ED01-CC32-D9113CD2C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5647F-11C0-F840-1D95-841F6D16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ABA28-23F7-07AD-B9E3-C496973E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B7037-3506-D157-418C-8E5405D9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3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956F-501E-F405-5102-55B29B21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61D18-13EB-4BF5-1053-84B3A98BC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2A58D-89B9-2734-49BD-757A62457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43D19-DD39-80C8-515B-B93BD411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6D889-537C-A8A3-FA18-6A144A0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1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9BBE-B920-0E1F-452A-003421272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DC265-3C6C-EE54-062F-709F345A2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BD8B-2C84-0F0A-9EB7-0B4AC529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C9A8D-460D-338B-6C0B-54C22AAA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D232-E30C-9D7D-C79E-3DA2C9019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5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178C-DBE5-1A3D-F48C-2B31E6BB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0B32-66D5-9BC6-ADFA-F6599C5FD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71F22-8DCE-476C-9A8A-A5C1186CF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58484-A305-6780-E754-A1884B65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5E000-86A7-3F08-899F-71602B73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B36C9-6007-87C5-F294-8BD6B5B7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6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EEAF-8B6B-B36F-92D9-2A9DBE77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D000C-0F38-D008-AFA7-AC1E681CD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C7DD-A745-F6EF-B054-0B1FA3313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9730F-19A3-EABF-42DA-400D5545E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3F41A-A634-FCF2-C803-D086A2446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56E46-439F-E35C-54F9-B8FDD3C9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359D6-8108-852C-1AE0-05DA2FDC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9A0A1-311E-0E2B-ECD3-B4DBC117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3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FA5C-432E-AF85-A807-984E4DB5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2C7C0-17C2-75DA-9E51-5A9582E7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63896-E039-55B0-556C-E0927236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3EE3A-E6A3-3D78-6FA6-0174D05F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3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30E0D-ED79-6ED2-F94A-337F193FD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2AEC9-94DF-3AC3-D2D9-C44608E0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6E8F0-8650-C054-AF74-C4BF61A5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1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C5BA-76DE-DF06-37C1-9DDDBA0F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1383D-4C6B-237A-3EB8-AE5A03FE9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1747B-B86E-CA7E-91E4-9D73C5B2F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0F845-0A2F-AD3D-D01F-290BBFC5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5E68C-8EA3-85ED-4768-393C3610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5AB9C-A6D2-4691-41B1-4097790FD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2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B5C6-1905-0581-CCDF-AD25845A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2FF32-9040-4611-9437-D25C86EDD3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6964A-C237-87A6-74D6-327EAECD0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70DF3-C357-06E7-343C-C20FAD44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4B82B-E505-8FE9-8713-B3C7C6C6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EF366-A525-AE65-BD08-07D32500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8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A97F-94BB-1BF2-DBAD-421C2DE3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B1C0D-B92E-DDA8-D733-E86FAE4D3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7DA58-A7A3-3E58-CAA8-554F3624C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5F09-A909-9820-CCDC-C8DEF18D2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2B08E-9618-14DA-25C7-BAF555E3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5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87E0E-F413-688E-7E13-688B708B9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96EF3-8FCE-B5A9-6C9B-AF15D1BE4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18D0A-B06D-7EA0-5880-A2DAD6A5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3F9D-7BB5-4620-6DD5-9314EB24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A9CC-D3C0-D0E9-C329-6F44244D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09A6E-D3EB-5F18-6D41-7388D597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8D385-AACA-1823-C3AE-02E6F3C2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A5765-EA54-2AA9-EFF3-893B1EF43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A5B2A-E2B0-EE41-8264-7831884B6837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11C69-0BA3-A6C2-77DB-811DE977B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E7D61-B680-769B-238A-F7113ECBC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70D22-1E9A-B940-BDB7-70CAC170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19-0166-2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C50-EFF8-4E6A-63A3-77DBF95A1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 principles of flow cytometry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5A72B-EC20-4F18-FAC2-C96933553A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02/24/26</a:t>
            </a:r>
          </a:p>
        </p:txBody>
      </p:sp>
    </p:spTree>
    <p:extLst>
      <p:ext uri="{BB962C8B-B14F-4D97-AF65-F5344CB8AC3E}">
        <p14:creationId xmlns:p14="http://schemas.microsoft.com/office/powerpoint/2010/main" val="28575706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5391-F714-F235-3B54-93EA3F58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avoid artifacts in flow cytometry</a:t>
            </a:r>
            <a:endParaRPr lang="en-US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30396-07AC-C174-5DB1-593C6A89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659118"/>
            <a:ext cx="10515600" cy="4351338"/>
          </a:xfrm>
        </p:spPr>
        <p:txBody>
          <a:bodyPr anchor="ctr">
            <a:norm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Reagent titration: how to achieve the best separation over background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Multicolor (&gt;1 parameter) compensation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error in multicolor FACS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of high-quality data for publication</a:t>
            </a:r>
          </a:p>
        </p:txBody>
      </p:sp>
    </p:spTree>
    <p:extLst>
      <p:ext uri="{BB962C8B-B14F-4D97-AF65-F5344CB8AC3E}">
        <p14:creationId xmlns:p14="http://schemas.microsoft.com/office/powerpoint/2010/main" val="103519720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FFEE-9226-128B-7EE7-AAD26043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0A9A-8D60-B2ED-BB16-26AF29F0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avoid artifacts in flow cytometry</a:t>
            </a:r>
            <a:endParaRPr lang="en-US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80717-FF94-30CF-D90C-CF94C576F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659118"/>
            <a:ext cx="10515600" cy="4351338"/>
          </a:xfrm>
        </p:spPr>
        <p:txBody>
          <a:bodyPr anchor="ctr">
            <a:norm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Reagent titration: how to achieve the best separation over background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Multicolor (&gt;1 parameter) compensation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error in multicolor FACS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of high-quality data for publication</a:t>
            </a:r>
          </a:p>
        </p:txBody>
      </p:sp>
    </p:spTree>
    <p:extLst>
      <p:ext uri="{BB962C8B-B14F-4D97-AF65-F5344CB8AC3E}">
        <p14:creationId xmlns:p14="http://schemas.microsoft.com/office/powerpoint/2010/main" val="7534841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84D5-8DA1-F4F8-C30E-D78053B2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 and cons of antibody titration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E438-0AC7-0089-C814-773A71484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416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save a lot of money (100 tests can become 400, or more)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 separation, less background 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VERY important when performing multicolor analysis (can minimize ‘spreading’ in other channels)</a:t>
            </a: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None</a:t>
            </a:r>
          </a:p>
          <a:p>
            <a:pPr>
              <a:lnSpc>
                <a:spcPct val="100000"/>
              </a:lnSpc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82642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68" y="2637897"/>
            <a:ext cx="7974263" cy="3897533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663930" y="2415187"/>
            <a:ext cx="799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Titer: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12DDF3-7A35-D2BA-A7B3-9A86CC91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Abs: not just the manufacturer’s instructions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D26C29-7D96-9BB0-CA2C-CD5A1684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853"/>
            <a:ext cx="10515600" cy="91757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Fresh PBMC stained with 7 two-fold serial dilutions of BV421 anti-CD14 (µL of Ab in 100 µL total volume for 20’ at RT)</a:t>
            </a:r>
          </a:p>
        </p:txBody>
      </p:sp>
    </p:spTree>
    <p:extLst>
      <p:ext uri="{BB962C8B-B14F-4D97-AF65-F5344CB8AC3E}">
        <p14:creationId xmlns:p14="http://schemas.microsoft.com/office/powerpoint/2010/main" val="392652111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9CA8A4E-8D01-45F5-FAB9-EFF0B88D2F2D}"/>
              </a:ext>
            </a:extLst>
          </p:cNvPr>
          <p:cNvGrpSpPr/>
          <p:nvPr/>
        </p:nvGrpSpPr>
        <p:grpSpPr>
          <a:xfrm>
            <a:off x="3812392" y="1613963"/>
            <a:ext cx="3949700" cy="4118453"/>
            <a:chOff x="3801116" y="1613963"/>
            <a:chExt cx="3949700" cy="4118453"/>
          </a:xfrm>
        </p:grpSpPr>
        <p:pic>
          <p:nvPicPr>
            <p:cNvPr id="5" name="Immagine 4"/>
            <p:cNvPicPr>
              <a:picLocks noChangeAspect="1"/>
            </p:cNvPicPr>
            <p:nvPr/>
          </p:nvPicPr>
          <p:blipFill rotWithShape="1">
            <a:blip r:embed="rId2"/>
            <a:srcRect b="12483"/>
            <a:stretch/>
          </p:blipFill>
          <p:spPr>
            <a:xfrm>
              <a:off x="3801116" y="1613963"/>
              <a:ext cx="3949700" cy="3412185"/>
            </a:xfrm>
            <a:prstGeom prst="rect">
              <a:avLst/>
            </a:prstGeom>
          </p:spPr>
        </p:pic>
        <p:sp>
          <p:nvSpPr>
            <p:cNvPr id="12" name="Figura a mano libera 11"/>
            <p:cNvSpPr/>
            <p:nvPr/>
          </p:nvSpPr>
          <p:spPr>
            <a:xfrm>
              <a:off x="4802412" y="2032529"/>
              <a:ext cx="2565400" cy="1041400"/>
            </a:xfrm>
            <a:custGeom>
              <a:avLst/>
              <a:gdLst>
                <a:gd name="connsiteX0" fmla="*/ 0 w 2565400"/>
                <a:gd name="connsiteY0" fmla="*/ 1041400 h 1041400"/>
                <a:gd name="connsiteX1" fmla="*/ 527050 w 2565400"/>
                <a:gd name="connsiteY1" fmla="*/ 742950 h 1041400"/>
                <a:gd name="connsiteX2" fmla="*/ 939800 w 2565400"/>
                <a:gd name="connsiteY2" fmla="*/ 558800 h 1041400"/>
                <a:gd name="connsiteX3" fmla="*/ 1346200 w 2565400"/>
                <a:gd name="connsiteY3" fmla="*/ 381000 h 1041400"/>
                <a:gd name="connsiteX4" fmla="*/ 1733550 w 2565400"/>
                <a:gd name="connsiteY4" fmla="*/ 254000 h 1041400"/>
                <a:gd name="connsiteX5" fmla="*/ 2146300 w 2565400"/>
                <a:gd name="connsiteY5" fmla="*/ 114300 h 1041400"/>
                <a:gd name="connsiteX6" fmla="*/ 2565400 w 2565400"/>
                <a:gd name="connsiteY6" fmla="*/ 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5400" h="1041400">
                  <a:moveTo>
                    <a:pt x="0" y="1041400"/>
                  </a:moveTo>
                  <a:lnTo>
                    <a:pt x="527050" y="742950"/>
                  </a:lnTo>
                  <a:lnTo>
                    <a:pt x="939800" y="558800"/>
                  </a:lnTo>
                  <a:lnTo>
                    <a:pt x="1346200" y="381000"/>
                  </a:lnTo>
                  <a:lnTo>
                    <a:pt x="1733550" y="254000"/>
                  </a:lnTo>
                  <a:lnTo>
                    <a:pt x="2146300" y="114300"/>
                  </a:lnTo>
                  <a:lnTo>
                    <a:pt x="2565400" y="0"/>
                  </a:lnTo>
                </a:path>
              </a:pathLst>
            </a:cu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Figura a mano libera 13"/>
            <p:cNvSpPr/>
            <p:nvPr/>
          </p:nvSpPr>
          <p:spPr>
            <a:xfrm>
              <a:off x="4853212" y="3594629"/>
              <a:ext cx="2514600" cy="596900"/>
            </a:xfrm>
            <a:custGeom>
              <a:avLst/>
              <a:gdLst>
                <a:gd name="connsiteX0" fmla="*/ 0 w 2514600"/>
                <a:gd name="connsiteY0" fmla="*/ 596900 h 596900"/>
                <a:gd name="connsiteX1" fmla="*/ 501650 w 2514600"/>
                <a:gd name="connsiteY1" fmla="*/ 558800 h 596900"/>
                <a:gd name="connsiteX2" fmla="*/ 901700 w 2514600"/>
                <a:gd name="connsiteY2" fmla="*/ 508000 h 596900"/>
                <a:gd name="connsiteX3" fmla="*/ 1308100 w 2514600"/>
                <a:gd name="connsiteY3" fmla="*/ 431800 h 596900"/>
                <a:gd name="connsiteX4" fmla="*/ 1714500 w 2514600"/>
                <a:gd name="connsiteY4" fmla="*/ 342900 h 596900"/>
                <a:gd name="connsiteX5" fmla="*/ 2108200 w 2514600"/>
                <a:gd name="connsiteY5" fmla="*/ 203200 h 596900"/>
                <a:gd name="connsiteX6" fmla="*/ 2514600 w 2514600"/>
                <a:gd name="connsiteY6" fmla="*/ 0 h 59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4600" h="596900">
                  <a:moveTo>
                    <a:pt x="0" y="596900"/>
                  </a:moveTo>
                  <a:lnTo>
                    <a:pt x="501650" y="558800"/>
                  </a:lnTo>
                  <a:lnTo>
                    <a:pt x="901700" y="508000"/>
                  </a:lnTo>
                  <a:lnTo>
                    <a:pt x="1308100" y="431800"/>
                  </a:lnTo>
                  <a:lnTo>
                    <a:pt x="1714500" y="342900"/>
                  </a:lnTo>
                  <a:lnTo>
                    <a:pt x="2108200" y="203200"/>
                  </a:lnTo>
                  <a:lnTo>
                    <a:pt x="2514600" y="0"/>
                  </a:lnTo>
                </a:path>
              </a:pathLst>
            </a:cu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" name="CasellaDiTesto 1"/>
            <p:cNvSpPr txBox="1"/>
            <p:nvPr/>
          </p:nvSpPr>
          <p:spPr>
            <a:xfrm rot="1926634">
              <a:off x="7232415" y="4947991"/>
              <a:ext cx="29687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 rot="1926634">
              <a:off x="6831489" y="4947991"/>
              <a:ext cx="4716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2.5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 rot="1926634">
              <a:off x="6331929" y="4947991"/>
              <a:ext cx="5838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1.25</a:t>
              </a:r>
            </a:p>
          </p:txBody>
        </p:sp>
        <p:sp>
          <p:nvSpPr>
            <p:cNvPr id="13" name="CasellaDiTesto 12"/>
            <p:cNvSpPr txBox="1"/>
            <p:nvPr/>
          </p:nvSpPr>
          <p:spPr>
            <a:xfrm rot="1926634">
              <a:off x="5944579" y="4947991"/>
              <a:ext cx="4716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0.6</a:t>
              </a:r>
            </a:p>
          </p:txBody>
        </p:sp>
        <p:sp>
          <p:nvSpPr>
            <p:cNvPr id="16" name="CasellaDiTesto 15"/>
            <p:cNvSpPr txBox="1"/>
            <p:nvPr/>
          </p:nvSpPr>
          <p:spPr>
            <a:xfrm rot="1926634">
              <a:off x="5576569" y="4947991"/>
              <a:ext cx="4716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0.3</a:t>
              </a:r>
            </a:p>
          </p:txBody>
        </p:sp>
        <p:sp>
          <p:nvSpPr>
            <p:cNvPr id="17" name="CasellaDiTesto 16"/>
            <p:cNvSpPr txBox="1"/>
            <p:nvPr/>
          </p:nvSpPr>
          <p:spPr>
            <a:xfrm rot="1926634">
              <a:off x="5135629" y="4947991"/>
              <a:ext cx="5838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0.15</a:t>
              </a:r>
            </a:p>
          </p:txBody>
        </p:sp>
        <p:sp>
          <p:nvSpPr>
            <p:cNvPr id="18" name="CasellaDiTesto 17"/>
            <p:cNvSpPr txBox="1"/>
            <p:nvPr/>
          </p:nvSpPr>
          <p:spPr>
            <a:xfrm rot="1926634">
              <a:off x="4692927" y="4947991"/>
              <a:ext cx="5838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0.07</a:t>
              </a:r>
            </a:p>
          </p:txBody>
        </p:sp>
        <p:sp>
          <p:nvSpPr>
            <p:cNvPr id="7" name="CasellaDiTesto 6"/>
            <p:cNvSpPr txBox="1"/>
            <p:nvPr/>
          </p:nvSpPr>
          <p:spPr>
            <a:xfrm>
              <a:off x="5735332" y="5270751"/>
              <a:ext cx="8104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Titer</a:t>
              </a:r>
            </a:p>
          </p:txBody>
        </p:sp>
      </p:grpSp>
      <p:sp>
        <p:nvSpPr>
          <p:cNvPr id="15" name="Title 4">
            <a:extLst>
              <a:ext uri="{FF2B5EF4-FFF2-40B4-BE49-F238E27FC236}">
                <a16:creationId xmlns:a16="http://schemas.microsoft.com/office/drawing/2014/main" id="{5C3C0B69-443E-15AD-E204-8FBF9275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Abs: not just the manufacturer’s instructions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844AC-45FA-D7EB-8D34-D873F845D631}"/>
              </a:ext>
            </a:extLst>
          </p:cNvPr>
          <p:cNvSpPr txBox="1"/>
          <p:nvPr/>
        </p:nvSpPr>
        <p:spPr>
          <a:xfrm>
            <a:off x="898551" y="5876836"/>
            <a:ext cx="10394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AIM:</a:t>
            </a:r>
            <a:r>
              <a:rPr lang="en-US" sz="20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titer at which the best separation between the positive and the negative</a:t>
            </a:r>
          </a:p>
          <a:p>
            <a:pPr algn="ctr"/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achieved without increase in the background</a:t>
            </a:r>
          </a:p>
        </p:txBody>
      </p:sp>
    </p:spTree>
    <p:extLst>
      <p:ext uri="{BB962C8B-B14F-4D97-AF65-F5344CB8AC3E}">
        <p14:creationId xmlns:p14="http://schemas.microsoft.com/office/powerpoint/2010/main" val="287365694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FB4D-0712-CB46-CC42-E92D4BDC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4">
            <a:extLst>
              <a:ext uri="{FF2B5EF4-FFF2-40B4-BE49-F238E27FC236}">
                <a16:creationId xmlns:a16="http://schemas.microsoft.com/office/drawing/2014/main" id="{3FB27959-8C9F-9A32-9EE4-B814A2BE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Abs: not just the manufacturer’s instructions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D0941D-F869-C193-AD8E-9A3A4C006500}"/>
              </a:ext>
            </a:extLst>
          </p:cNvPr>
          <p:cNvGrpSpPr/>
          <p:nvPr/>
        </p:nvGrpSpPr>
        <p:grpSpPr>
          <a:xfrm>
            <a:off x="1956757" y="1588088"/>
            <a:ext cx="3949700" cy="4056898"/>
            <a:chOff x="3801116" y="1613963"/>
            <a:chExt cx="3949700" cy="4056898"/>
          </a:xfrm>
        </p:grpSpPr>
        <p:pic>
          <p:nvPicPr>
            <p:cNvPr id="4" name="Immagine 4">
              <a:extLst>
                <a:ext uri="{FF2B5EF4-FFF2-40B4-BE49-F238E27FC236}">
                  <a16:creationId xmlns:a16="http://schemas.microsoft.com/office/drawing/2014/main" id="{A7BF2AA2-2015-C9D7-B1A4-D1004313A5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2483"/>
            <a:stretch/>
          </p:blipFill>
          <p:spPr>
            <a:xfrm>
              <a:off x="3801116" y="1613963"/>
              <a:ext cx="3949700" cy="3412185"/>
            </a:xfrm>
            <a:prstGeom prst="rect">
              <a:avLst/>
            </a:prstGeom>
          </p:spPr>
        </p:pic>
        <p:sp>
          <p:nvSpPr>
            <p:cNvPr id="6" name="Figura a mano libera 11">
              <a:extLst>
                <a:ext uri="{FF2B5EF4-FFF2-40B4-BE49-F238E27FC236}">
                  <a16:creationId xmlns:a16="http://schemas.microsoft.com/office/drawing/2014/main" id="{FE24DDF3-D253-A0FC-C755-ABF46A41F401}"/>
                </a:ext>
              </a:extLst>
            </p:cNvPr>
            <p:cNvSpPr/>
            <p:nvPr/>
          </p:nvSpPr>
          <p:spPr>
            <a:xfrm>
              <a:off x="4802412" y="2032529"/>
              <a:ext cx="2565400" cy="1041400"/>
            </a:xfrm>
            <a:custGeom>
              <a:avLst/>
              <a:gdLst>
                <a:gd name="connsiteX0" fmla="*/ 0 w 2565400"/>
                <a:gd name="connsiteY0" fmla="*/ 1041400 h 1041400"/>
                <a:gd name="connsiteX1" fmla="*/ 527050 w 2565400"/>
                <a:gd name="connsiteY1" fmla="*/ 742950 h 1041400"/>
                <a:gd name="connsiteX2" fmla="*/ 939800 w 2565400"/>
                <a:gd name="connsiteY2" fmla="*/ 558800 h 1041400"/>
                <a:gd name="connsiteX3" fmla="*/ 1346200 w 2565400"/>
                <a:gd name="connsiteY3" fmla="*/ 381000 h 1041400"/>
                <a:gd name="connsiteX4" fmla="*/ 1733550 w 2565400"/>
                <a:gd name="connsiteY4" fmla="*/ 254000 h 1041400"/>
                <a:gd name="connsiteX5" fmla="*/ 2146300 w 2565400"/>
                <a:gd name="connsiteY5" fmla="*/ 114300 h 1041400"/>
                <a:gd name="connsiteX6" fmla="*/ 2565400 w 2565400"/>
                <a:gd name="connsiteY6" fmla="*/ 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5400" h="1041400">
                  <a:moveTo>
                    <a:pt x="0" y="1041400"/>
                  </a:moveTo>
                  <a:lnTo>
                    <a:pt x="527050" y="742950"/>
                  </a:lnTo>
                  <a:lnTo>
                    <a:pt x="939800" y="558800"/>
                  </a:lnTo>
                  <a:lnTo>
                    <a:pt x="1346200" y="381000"/>
                  </a:lnTo>
                  <a:lnTo>
                    <a:pt x="1733550" y="254000"/>
                  </a:lnTo>
                  <a:lnTo>
                    <a:pt x="2146300" y="114300"/>
                  </a:lnTo>
                  <a:lnTo>
                    <a:pt x="2565400" y="0"/>
                  </a:lnTo>
                </a:path>
              </a:pathLst>
            </a:cu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" name="Figura a mano libera 13">
              <a:extLst>
                <a:ext uri="{FF2B5EF4-FFF2-40B4-BE49-F238E27FC236}">
                  <a16:creationId xmlns:a16="http://schemas.microsoft.com/office/drawing/2014/main" id="{E3B326D9-B2C2-F285-4255-D3ADFE3DD61D}"/>
                </a:ext>
              </a:extLst>
            </p:cNvPr>
            <p:cNvSpPr/>
            <p:nvPr/>
          </p:nvSpPr>
          <p:spPr>
            <a:xfrm>
              <a:off x="4853212" y="3594629"/>
              <a:ext cx="2514600" cy="596900"/>
            </a:xfrm>
            <a:custGeom>
              <a:avLst/>
              <a:gdLst>
                <a:gd name="connsiteX0" fmla="*/ 0 w 2514600"/>
                <a:gd name="connsiteY0" fmla="*/ 596900 h 596900"/>
                <a:gd name="connsiteX1" fmla="*/ 501650 w 2514600"/>
                <a:gd name="connsiteY1" fmla="*/ 558800 h 596900"/>
                <a:gd name="connsiteX2" fmla="*/ 901700 w 2514600"/>
                <a:gd name="connsiteY2" fmla="*/ 508000 h 596900"/>
                <a:gd name="connsiteX3" fmla="*/ 1308100 w 2514600"/>
                <a:gd name="connsiteY3" fmla="*/ 431800 h 596900"/>
                <a:gd name="connsiteX4" fmla="*/ 1714500 w 2514600"/>
                <a:gd name="connsiteY4" fmla="*/ 342900 h 596900"/>
                <a:gd name="connsiteX5" fmla="*/ 2108200 w 2514600"/>
                <a:gd name="connsiteY5" fmla="*/ 203200 h 596900"/>
                <a:gd name="connsiteX6" fmla="*/ 2514600 w 2514600"/>
                <a:gd name="connsiteY6" fmla="*/ 0 h 59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4600" h="596900">
                  <a:moveTo>
                    <a:pt x="0" y="596900"/>
                  </a:moveTo>
                  <a:lnTo>
                    <a:pt x="501650" y="558800"/>
                  </a:lnTo>
                  <a:lnTo>
                    <a:pt x="901700" y="508000"/>
                  </a:lnTo>
                  <a:lnTo>
                    <a:pt x="1308100" y="431800"/>
                  </a:lnTo>
                  <a:lnTo>
                    <a:pt x="1714500" y="342900"/>
                  </a:lnTo>
                  <a:lnTo>
                    <a:pt x="2108200" y="203200"/>
                  </a:lnTo>
                  <a:lnTo>
                    <a:pt x="2514600" y="0"/>
                  </a:lnTo>
                </a:path>
              </a:pathLst>
            </a:cu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CasellaDiTesto 1">
              <a:extLst>
                <a:ext uri="{FF2B5EF4-FFF2-40B4-BE49-F238E27FC236}">
                  <a16:creationId xmlns:a16="http://schemas.microsoft.com/office/drawing/2014/main" id="{EBEDC40A-1CB4-9A03-4855-1A63343EF1E4}"/>
                </a:ext>
              </a:extLst>
            </p:cNvPr>
            <p:cNvSpPr txBox="1"/>
            <p:nvPr/>
          </p:nvSpPr>
          <p:spPr>
            <a:xfrm rot="1926634">
              <a:off x="7232415" y="4947991"/>
              <a:ext cx="29687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sp>
          <p:nvSpPr>
            <p:cNvPr id="21" name="CasellaDiTesto 9">
              <a:extLst>
                <a:ext uri="{FF2B5EF4-FFF2-40B4-BE49-F238E27FC236}">
                  <a16:creationId xmlns:a16="http://schemas.microsoft.com/office/drawing/2014/main" id="{DD2565EB-2C09-7346-738C-8A523E8EE2CA}"/>
                </a:ext>
              </a:extLst>
            </p:cNvPr>
            <p:cNvSpPr txBox="1"/>
            <p:nvPr/>
          </p:nvSpPr>
          <p:spPr>
            <a:xfrm rot="1926634">
              <a:off x="6831489" y="4947991"/>
              <a:ext cx="4716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2.5</a:t>
              </a:r>
            </a:p>
          </p:txBody>
        </p:sp>
        <p:sp>
          <p:nvSpPr>
            <p:cNvPr id="22" name="CasellaDiTesto 10">
              <a:extLst>
                <a:ext uri="{FF2B5EF4-FFF2-40B4-BE49-F238E27FC236}">
                  <a16:creationId xmlns:a16="http://schemas.microsoft.com/office/drawing/2014/main" id="{C35B0611-1AD1-5180-4EE4-400F399A5367}"/>
                </a:ext>
              </a:extLst>
            </p:cNvPr>
            <p:cNvSpPr txBox="1"/>
            <p:nvPr/>
          </p:nvSpPr>
          <p:spPr>
            <a:xfrm rot="1926634">
              <a:off x="6331929" y="4947991"/>
              <a:ext cx="5838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1.25</a:t>
              </a:r>
            </a:p>
          </p:txBody>
        </p:sp>
        <p:sp>
          <p:nvSpPr>
            <p:cNvPr id="23" name="CasellaDiTesto 12">
              <a:extLst>
                <a:ext uri="{FF2B5EF4-FFF2-40B4-BE49-F238E27FC236}">
                  <a16:creationId xmlns:a16="http://schemas.microsoft.com/office/drawing/2014/main" id="{31AFD442-2CD2-6F27-81DE-6488E3CC0C3A}"/>
                </a:ext>
              </a:extLst>
            </p:cNvPr>
            <p:cNvSpPr txBox="1"/>
            <p:nvPr/>
          </p:nvSpPr>
          <p:spPr>
            <a:xfrm rot="1926634">
              <a:off x="5944579" y="4947991"/>
              <a:ext cx="4716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0.6</a:t>
              </a:r>
            </a:p>
          </p:txBody>
        </p:sp>
        <p:sp>
          <p:nvSpPr>
            <p:cNvPr id="24" name="CasellaDiTesto 15">
              <a:extLst>
                <a:ext uri="{FF2B5EF4-FFF2-40B4-BE49-F238E27FC236}">
                  <a16:creationId xmlns:a16="http://schemas.microsoft.com/office/drawing/2014/main" id="{CDAC56EC-6527-7439-8EC7-A68464065222}"/>
                </a:ext>
              </a:extLst>
            </p:cNvPr>
            <p:cNvSpPr txBox="1"/>
            <p:nvPr/>
          </p:nvSpPr>
          <p:spPr>
            <a:xfrm rot="1926634">
              <a:off x="5576569" y="4947991"/>
              <a:ext cx="4716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0.3</a:t>
              </a:r>
            </a:p>
          </p:txBody>
        </p:sp>
        <p:sp>
          <p:nvSpPr>
            <p:cNvPr id="25" name="CasellaDiTesto 16">
              <a:extLst>
                <a:ext uri="{FF2B5EF4-FFF2-40B4-BE49-F238E27FC236}">
                  <a16:creationId xmlns:a16="http://schemas.microsoft.com/office/drawing/2014/main" id="{D8D63595-6053-CAFB-0D65-5E338925323F}"/>
                </a:ext>
              </a:extLst>
            </p:cNvPr>
            <p:cNvSpPr txBox="1"/>
            <p:nvPr/>
          </p:nvSpPr>
          <p:spPr>
            <a:xfrm rot="1926634">
              <a:off x="5135629" y="4947991"/>
              <a:ext cx="5838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0.15</a:t>
              </a:r>
            </a:p>
          </p:txBody>
        </p:sp>
        <p:sp>
          <p:nvSpPr>
            <p:cNvPr id="26" name="CasellaDiTesto 17">
              <a:extLst>
                <a:ext uri="{FF2B5EF4-FFF2-40B4-BE49-F238E27FC236}">
                  <a16:creationId xmlns:a16="http://schemas.microsoft.com/office/drawing/2014/main" id="{5D9F17CA-B06E-4183-9D80-6B23DBCB9FE0}"/>
                </a:ext>
              </a:extLst>
            </p:cNvPr>
            <p:cNvSpPr txBox="1"/>
            <p:nvPr/>
          </p:nvSpPr>
          <p:spPr>
            <a:xfrm rot="1926634">
              <a:off x="4692927" y="4947991"/>
              <a:ext cx="58381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0.07</a:t>
              </a:r>
            </a:p>
          </p:txBody>
        </p:sp>
        <p:sp>
          <p:nvSpPr>
            <p:cNvPr id="27" name="CasellaDiTesto 6">
              <a:extLst>
                <a:ext uri="{FF2B5EF4-FFF2-40B4-BE49-F238E27FC236}">
                  <a16:creationId xmlns:a16="http://schemas.microsoft.com/office/drawing/2014/main" id="{EF681814-D13D-7B71-4CD5-57AC8A3A3768}"/>
                </a:ext>
              </a:extLst>
            </p:cNvPr>
            <p:cNvSpPr txBox="1"/>
            <p:nvPr/>
          </p:nvSpPr>
          <p:spPr>
            <a:xfrm>
              <a:off x="5786132" y="5270751"/>
              <a:ext cx="7077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Titer</a:t>
              </a:r>
            </a:p>
          </p:txBody>
        </p:sp>
      </p:grpSp>
      <p:sp>
        <p:nvSpPr>
          <p:cNvPr id="28" name="Rettangolo 14">
            <a:extLst>
              <a:ext uri="{FF2B5EF4-FFF2-40B4-BE49-F238E27FC236}">
                <a16:creationId xmlns:a16="http://schemas.microsoft.com/office/drawing/2014/main" id="{3E8D172D-4049-C262-F023-13EA3805DEDE}"/>
              </a:ext>
            </a:extLst>
          </p:cNvPr>
          <p:cNvSpPr/>
          <p:nvPr/>
        </p:nvSpPr>
        <p:spPr>
          <a:xfrm>
            <a:off x="4088031" y="1553875"/>
            <a:ext cx="537701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noProof="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✓</a:t>
            </a:r>
          </a:p>
        </p:txBody>
      </p:sp>
      <p:sp>
        <p:nvSpPr>
          <p:cNvPr id="29" name="CasellaDiTesto 18">
            <a:extLst>
              <a:ext uri="{FF2B5EF4-FFF2-40B4-BE49-F238E27FC236}">
                <a16:creationId xmlns:a16="http://schemas.microsoft.com/office/drawing/2014/main" id="{5A57E75F-4200-F8A9-7C64-170A947C9A26}"/>
              </a:ext>
            </a:extLst>
          </p:cNvPr>
          <p:cNvSpPr txBox="1"/>
          <p:nvPr/>
        </p:nvSpPr>
        <p:spPr>
          <a:xfrm>
            <a:off x="6524749" y="1482129"/>
            <a:ext cx="35801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SNR: Signal-to-noise ratio</a:t>
            </a:r>
          </a:p>
          <a:p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MFI: median fluorescence intensity</a:t>
            </a:r>
          </a:p>
          <a:p>
            <a:endParaRPr lang="en-US" sz="20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SNR: MFI (pos) / MFI (neg)</a:t>
            </a:r>
          </a:p>
        </p:txBody>
      </p:sp>
      <p:grpSp>
        <p:nvGrpSpPr>
          <p:cNvPr id="30" name="Gruppo 8">
            <a:extLst>
              <a:ext uri="{FF2B5EF4-FFF2-40B4-BE49-F238E27FC236}">
                <a16:creationId xmlns:a16="http://schemas.microsoft.com/office/drawing/2014/main" id="{252C77BB-6B32-7CCB-4F57-94991BD5CB9A}"/>
              </a:ext>
            </a:extLst>
          </p:cNvPr>
          <p:cNvGrpSpPr/>
          <p:nvPr/>
        </p:nvGrpSpPr>
        <p:grpSpPr>
          <a:xfrm>
            <a:off x="6441184" y="3278613"/>
            <a:ext cx="4237670" cy="2381818"/>
            <a:chOff x="4814582" y="3205684"/>
            <a:chExt cx="4237670" cy="2381818"/>
          </a:xfrm>
        </p:grpSpPr>
        <p:sp>
          <p:nvSpPr>
            <p:cNvPr id="31" name="CasellaDiTesto 21">
              <a:extLst>
                <a:ext uri="{FF2B5EF4-FFF2-40B4-BE49-F238E27FC236}">
                  <a16:creationId xmlns:a16="http://schemas.microsoft.com/office/drawing/2014/main" id="{F0A9314F-8312-E020-A260-849710C3FB54}"/>
                </a:ext>
              </a:extLst>
            </p:cNvPr>
            <p:cNvSpPr txBox="1"/>
            <p:nvPr/>
          </p:nvSpPr>
          <p:spPr>
            <a:xfrm>
              <a:off x="6097282" y="5187392"/>
              <a:ext cx="7077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Titer</a:t>
              </a:r>
            </a:p>
          </p:txBody>
        </p:sp>
        <p:graphicFrame>
          <p:nvGraphicFramePr>
            <p:cNvPr id="32" name="Grafico 22">
              <a:extLst>
                <a:ext uri="{FF2B5EF4-FFF2-40B4-BE49-F238E27FC236}">
                  <a16:creationId xmlns:a16="http://schemas.microsoft.com/office/drawing/2014/main" id="{A9C99C84-188A-4181-F87D-3F69FD54661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14582" y="3205684"/>
            <a:ext cx="3580118" cy="197563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3" name="CasellaDiTesto 23">
              <a:extLst>
                <a:ext uri="{FF2B5EF4-FFF2-40B4-BE49-F238E27FC236}">
                  <a16:creationId xmlns:a16="http://schemas.microsoft.com/office/drawing/2014/main" id="{9D343D03-DB04-5104-FF5C-29B329A03BA4}"/>
                </a:ext>
              </a:extLst>
            </p:cNvPr>
            <p:cNvSpPr txBox="1"/>
            <p:nvPr/>
          </p:nvSpPr>
          <p:spPr>
            <a:xfrm>
              <a:off x="8394700" y="3803092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SNR</a:t>
              </a:r>
            </a:p>
          </p:txBody>
        </p:sp>
      </p:grpSp>
      <p:sp>
        <p:nvSpPr>
          <p:cNvPr id="34" name="Rettangolo 24">
            <a:extLst>
              <a:ext uri="{FF2B5EF4-FFF2-40B4-BE49-F238E27FC236}">
                <a16:creationId xmlns:a16="http://schemas.microsoft.com/office/drawing/2014/main" id="{B7BB88B0-F05F-7A4D-28FA-31EC54725141}"/>
              </a:ext>
            </a:extLst>
          </p:cNvPr>
          <p:cNvSpPr/>
          <p:nvPr/>
        </p:nvSpPr>
        <p:spPr>
          <a:xfrm>
            <a:off x="7860240" y="3322796"/>
            <a:ext cx="537701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noProof="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✓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2EC485-C476-7221-6F46-1A3727150C84}"/>
              </a:ext>
            </a:extLst>
          </p:cNvPr>
          <p:cNvSpPr txBox="1"/>
          <p:nvPr/>
        </p:nvSpPr>
        <p:spPr>
          <a:xfrm>
            <a:off x="898551" y="5876836"/>
            <a:ext cx="10394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AIM:</a:t>
            </a:r>
            <a:r>
              <a:rPr lang="en-US" sz="20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the titer at which the best separation between the positive and the negative</a:t>
            </a:r>
          </a:p>
          <a:p>
            <a:pPr algn="ctr"/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achieved without increase in the background</a:t>
            </a:r>
          </a:p>
        </p:txBody>
      </p:sp>
    </p:spTree>
    <p:extLst>
      <p:ext uri="{BB962C8B-B14F-4D97-AF65-F5344CB8AC3E}">
        <p14:creationId xmlns:p14="http://schemas.microsoft.com/office/powerpoint/2010/main" val="594593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91F8-7561-BF4C-EA48-D0EDF68F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4">
            <a:extLst>
              <a:ext uri="{FF2B5EF4-FFF2-40B4-BE49-F238E27FC236}">
                <a16:creationId xmlns:a16="http://schemas.microsoft.com/office/drawing/2014/main" id="{B496702B-584D-157D-FFFD-F6121492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Abs: not just the manufacturer’s instructions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19C4C9-9C2D-60FD-6621-93CA37D72DF4}"/>
              </a:ext>
            </a:extLst>
          </p:cNvPr>
          <p:cNvGrpSpPr/>
          <p:nvPr/>
        </p:nvGrpSpPr>
        <p:grpSpPr>
          <a:xfrm>
            <a:off x="4594320" y="1868951"/>
            <a:ext cx="3003359" cy="3224925"/>
            <a:chOff x="1819910" y="2160945"/>
            <a:chExt cx="3003359" cy="3224925"/>
          </a:xfrm>
        </p:grpSpPr>
        <p:pic>
          <p:nvPicPr>
            <p:cNvPr id="5" name="Immagine 7">
              <a:extLst>
                <a:ext uri="{FF2B5EF4-FFF2-40B4-BE49-F238E27FC236}">
                  <a16:creationId xmlns:a16="http://schemas.microsoft.com/office/drawing/2014/main" id="{D1280A41-D43C-379D-E084-EF1D6B16C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19910" y="2160945"/>
              <a:ext cx="3003359" cy="2964731"/>
            </a:xfrm>
            <a:prstGeom prst="rect">
              <a:avLst/>
            </a:prstGeom>
          </p:spPr>
        </p:pic>
        <p:sp>
          <p:nvSpPr>
            <p:cNvPr id="7" name="Figura a mano libera 18">
              <a:extLst>
                <a:ext uri="{FF2B5EF4-FFF2-40B4-BE49-F238E27FC236}">
                  <a16:creationId xmlns:a16="http://schemas.microsoft.com/office/drawing/2014/main" id="{C5C0DFD2-851F-E7D5-92CD-A7BDD7B667FE}"/>
                </a:ext>
              </a:extLst>
            </p:cNvPr>
            <p:cNvSpPr/>
            <p:nvPr/>
          </p:nvSpPr>
          <p:spPr>
            <a:xfrm>
              <a:off x="2583000" y="4214475"/>
              <a:ext cx="1948459" cy="58226"/>
            </a:xfrm>
            <a:custGeom>
              <a:avLst/>
              <a:gdLst>
                <a:gd name="connsiteX0" fmla="*/ 0 w 2514600"/>
                <a:gd name="connsiteY0" fmla="*/ 596900 h 596900"/>
                <a:gd name="connsiteX1" fmla="*/ 501650 w 2514600"/>
                <a:gd name="connsiteY1" fmla="*/ 558800 h 596900"/>
                <a:gd name="connsiteX2" fmla="*/ 901700 w 2514600"/>
                <a:gd name="connsiteY2" fmla="*/ 508000 h 596900"/>
                <a:gd name="connsiteX3" fmla="*/ 1308100 w 2514600"/>
                <a:gd name="connsiteY3" fmla="*/ 431800 h 596900"/>
                <a:gd name="connsiteX4" fmla="*/ 1714500 w 2514600"/>
                <a:gd name="connsiteY4" fmla="*/ 342900 h 596900"/>
                <a:gd name="connsiteX5" fmla="*/ 2108200 w 2514600"/>
                <a:gd name="connsiteY5" fmla="*/ 203200 h 596900"/>
                <a:gd name="connsiteX6" fmla="*/ 2514600 w 2514600"/>
                <a:gd name="connsiteY6" fmla="*/ 0 h 59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4600" h="596900">
                  <a:moveTo>
                    <a:pt x="0" y="596900"/>
                  </a:moveTo>
                  <a:lnTo>
                    <a:pt x="501650" y="558800"/>
                  </a:lnTo>
                  <a:lnTo>
                    <a:pt x="901700" y="508000"/>
                  </a:lnTo>
                  <a:lnTo>
                    <a:pt x="1308100" y="431800"/>
                  </a:lnTo>
                  <a:lnTo>
                    <a:pt x="1714500" y="342900"/>
                  </a:lnTo>
                  <a:lnTo>
                    <a:pt x="2108200" y="203200"/>
                  </a:lnTo>
                  <a:lnTo>
                    <a:pt x="2514600" y="0"/>
                  </a:lnTo>
                </a:path>
              </a:pathLst>
            </a:cu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Figura a mano libera 8">
              <a:extLst>
                <a:ext uri="{FF2B5EF4-FFF2-40B4-BE49-F238E27FC236}">
                  <a16:creationId xmlns:a16="http://schemas.microsoft.com/office/drawing/2014/main" id="{540BE78E-1BF6-BF80-5D48-E1AA3FBA45E0}"/>
                </a:ext>
              </a:extLst>
            </p:cNvPr>
            <p:cNvSpPr/>
            <p:nvPr/>
          </p:nvSpPr>
          <p:spPr>
            <a:xfrm>
              <a:off x="2623366" y="3367790"/>
              <a:ext cx="1901775" cy="404387"/>
            </a:xfrm>
            <a:custGeom>
              <a:avLst/>
              <a:gdLst>
                <a:gd name="connsiteX0" fmla="*/ 0 w 1901775"/>
                <a:gd name="connsiteY0" fmla="*/ 404387 h 404387"/>
                <a:gd name="connsiteX1" fmla="*/ 347500 w 1901775"/>
                <a:gd name="connsiteY1" fmla="*/ 265379 h 404387"/>
                <a:gd name="connsiteX2" fmla="*/ 657092 w 1901775"/>
                <a:gd name="connsiteY2" fmla="*/ 189557 h 404387"/>
                <a:gd name="connsiteX3" fmla="*/ 985638 w 1901775"/>
                <a:gd name="connsiteY3" fmla="*/ 126371 h 404387"/>
                <a:gd name="connsiteX4" fmla="*/ 1295229 w 1901775"/>
                <a:gd name="connsiteY4" fmla="*/ 75823 h 404387"/>
                <a:gd name="connsiteX5" fmla="*/ 1598502 w 1901775"/>
                <a:gd name="connsiteY5" fmla="*/ 31593 h 404387"/>
                <a:gd name="connsiteX6" fmla="*/ 1901775 w 1901775"/>
                <a:gd name="connsiteY6" fmla="*/ 0 h 40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1775" h="404387">
                  <a:moveTo>
                    <a:pt x="0" y="404387"/>
                  </a:moveTo>
                  <a:lnTo>
                    <a:pt x="347500" y="265379"/>
                  </a:lnTo>
                  <a:lnTo>
                    <a:pt x="657092" y="189557"/>
                  </a:lnTo>
                  <a:lnTo>
                    <a:pt x="985638" y="126371"/>
                  </a:lnTo>
                  <a:lnTo>
                    <a:pt x="1295229" y="75823"/>
                  </a:lnTo>
                  <a:lnTo>
                    <a:pt x="1598502" y="31593"/>
                  </a:lnTo>
                  <a:lnTo>
                    <a:pt x="1901775" y="0"/>
                  </a:lnTo>
                </a:path>
              </a:pathLst>
            </a:cu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CasellaDiTesto 6">
              <a:extLst>
                <a:ext uri="{FF2B5EF4-FFF2-40B4-BE49-F238E27FC236}">
                  <a16:creationId xmlns:a16="http://schemas.microsoft.com/office/drawing/2014/main" id="{28EBCE34-100C-FF8A-3768-8F217359355F}"/>
                </a:ext>
              </a:extLst>
            </p:cNvPr>
            <p:cNvSpPr txBox="1"/>
            <p:nvPr/>
          </p:nvSpPr>
          <p:spPr>
            <a:xfrm>
              <a:off x="3152021" y="4924205"/>
              <a:ext cx="81041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Titer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E3A2947-DC90-6000-0914-9F07418547D4}"/>
              </a:ext>
            </a:extLst>
          </p:cNvPr>
          <p:cNvSpPr txBox="1"/>
          <p:nvPr/>
        </p:nvSpPr>
        <p:spPr>
          <a:xfrm>
            <a:off x="666116" y="5242527"/>
            <a:ext cx="108597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Saturating titer:</a:t>
            </a:r>
            <a:r>
              <a:rPr lang="en-US" sz="20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titer at which all receptors are saturated</a:t>
            </a:r>
          </a:p>
          <a:p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(no increase in positive signal despite the increase of the Ab concentration)</a:t>
            </a:r>
          </a:p>
          <a:p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Separating titer:</a:t>
            </a:r>
            <a:r>
              <a:rPr lang="en-US" sz="2000" b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titer at which separation between the positive and the negative is obtained</a:t>
            </a:r>
          </a:p>
        </p:txBody>
      </p:sp>
    </p:spTree>
    <p:extLst>
      <p:ext uri="{BB962C8B-B14F-4D97-AF65-F5344CB8AC3E}">
        <p14:creationId xmlns:p14="http://schemas.microsoft.com/office/powerpoint/2010/main" val="33897057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0C3F4-900A-8597-9B16-5D4273E0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482996-0D88-A0C3-3F3F-260787F0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they say you can use…</a:t>
            </a:r>
            <a:b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CD8</a:t>
            </a:r>
            <a:r>
              <a:rPr lang="el-GR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</a:t>
            </a:r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BV786 (53-6.7)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0318F7-367F-7BEE-02B6-8B3E9EB89D45}"/>
              </a:ext>
            </a:extLst>
          </p:cNvPr>
          <p:cNvGrpSpPr/>
          <p:nvPr/>
        </p:nvGrpSpPr>
        <p:grpSpPr>
          <a:xfrm>
            <a:off x="197861" y="1410343"/>
            <a:ext cx="11730962" cy="4560691"/>
            <a:chOff x="197861" y="1617177"/>
            <a:chExt cx="11730962" cy="45606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AD979F-A41B-D3F6-977C-E665C3477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8507" y="2094231"/>
              <a:ext cx="3900316" cy="408363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DE3963F-ECBA-E24B-8AEC-5BCA1130A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177" y="5103421"/>
              <a:ext cx="7315200" cy="107444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4273121-8F9D-5DE0-57D5-4561CD0A1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3177" y="2094231"/>
              <a:ext cx="7315200" cy="171085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79DEF8-D174-76A3-533F-58CF07EC2D4C}"/>
                </a:ext>
              </a:extLst>
            </p:cNvPr>
            <p:cNvSpPr txBox="1"/>
            <p:nvPr/>
          </p:nvSpPr>
          <p:spPr>
            <a:xfrm>
              <a:off x="263177" y="1617177"/>
              <a:ext cx="2496196" cy="477054"/>
            </a:xfrm>
            <a:prstGeom prst="rect">
              <a:avLst/>
            </a:prstGeom>
            <a:solidFill>
              <a:srgbClr val="E71316"/>
            </a:solidFill>
          </p:spPr>
          <p:txBody>
            <a:bodyPr wrap="none" rtlCol="0">
              <a:spAutoFit/>
            </a:bodyPr>
            <a:lstStyle/>
            <a:p>
              <a:r>
                <a:rPr lang="en-US" sz="2500" b="1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Thermo</a:t>
              </a:r>
              <a:r>
                <a:rPr lang="en-US" sz="25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Fisher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690A31-B33D-47C3-463D-04CA78A3C88F}"/>
                </a:ext>
              </a:extLst>
            </p:cNvPr>
            <p:cNvSpPr txBox="1"/>
            <p:nvPr/>
          </p:nvSpPr>
          <p:spPr>
            <a:xfrm>
              <a:off x="197861" y="4626367"/>
              <a:ext cx="1871025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 err="1">
                  <a:solidFill>
                    <a:srgbClr val="8211B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BioLegend</a:t>
              </a:r>
              <a:endParaRPr lang="en-US" sz="2500" b="1" dirty="0">
                <a:solidFill>
                  <a:srgbClr val="8211B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BDB736-EA1D-E731-162E-A8707933EB73}"/>
                </a:ext>
              </a:extLst>
            </p:cNvPr>
            <p:cNvSpPr txBox="1"/>
            <p:nvPr/>
          </p:nvSpPr>
          <p:spPr>
            <a:xfrm>
              <a:off x="8028507" y="1617177"/>
              <a:ext cx="646331" cy="477054"/>
            </a:xfrm>
            <a:prstGeom prst="rect">
              <a:avLst/>
            </a:prstGeom>
            <a:solidFill>
              <a:srgbClr val="043E92"/>
            </a:solidFill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BD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FAA96D2-FC97-BC8D-2652-4FB7B2E6B682}"/>
              </a:ext>
            </a:extLst>
          </p:cNvPr>
          <p:cNvSpPr txBox="1"/>
          <p:nvPr/>
        </p:nvSpPr>
        <p:spPr>
          <a:xfrm>
            <a:off x="5279572" y="3037897"/>
            <a:ext cx="150554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0.25 µg!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1.25 µL or 1:80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6F67D2-94D8-BC75-E6B3-FABBAC3545E6}"/>
              </a:ext>
            </a:extLst>
          </p:cNvPr>
          <p:cNvSpPr txBox="1"/>
          <p:nvPr/>
        </p:nvSpPr>
        <p:spPr>
          <a:xfrm>
            <a:off x="3442120" y="5879068"/>
            <a:ext cx="139974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0.5 µg!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2.5 µL or 1:40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C1704B-834E-36A3-FAB8-CCDAFB34DBCE}"/>
              </a:ext>
            </a:extLst>
          </p:cNvPr>
          <p:cNvSpPr txBox="1"/>
          <p:nvPr/>
        </p:nvSpPr>
        <p:spPr>
          <a:xfrm>
            <a:off x="9471795" y="6083011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??? µg!</a:t>
            </a:r>
          </a:p>
        </p:txBody>
      </p:sp>
    </p:spTree>
    <p:extLst>
      <p:ext uri="{BB962C8B-B14F-4D97-AF65-F5344CB8AC3E}">
        <p14:creationId xmlns:p14="http://schemas.microsoft.com/office/powerpoint/2010/main" val="134920165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BD2D-9087-B245-7225-9530CFA5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4089E2-5EAA-3614-DFB7-F2FC8261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you can actually use…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342B0-A980-83EE-7C59-4EB36B1F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686" y="1325563"/>
            <a:ext cx="7536627" cy="5466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AD8BC5-0BEC-CCD4-EB49-960178068637}"/>
              </a:ext>
            </a:extLst>
          </p:cNvPr>
          <p:cNvSpPr txBox="1"/>
          <p:nvPr/>
        </p:nvSpPr>
        <p:spPr>
          <a:xfrm>
            <a:off x="10008567" y="5380317"/>
            <a:ext cx="18806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0.016 µg!</a:t>
            </a:r>
          </a:p>
          <a:p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0.078 µL or 1:1,250</a:t>
            </a:r>
          </a:p>
        </p:txBody>
      </p:sp>
    </p:spTree>
    <p:extLst>
      <p:ext uri="{BB962C8B-B14F-4D97-AF65-F5344CB8AC3E}">
        <p14:creationId xmlns:p14="http://schemas.microsoft.com/office/powerpoint/2010/main" val="410353536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8B6A99B7-739B-8A3B-B8D3-3FB50381BB1A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Critical parameters affecting titers</a:t>
            </a:r>
          </a:p>
        </p:txBody>
      </p: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788DA714-F51A-8321-7A4E-FC02597487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380009"/>
            <a:ext cx="10515600" cy="49526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u="sng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the longer the incubation the lower the titer needed to reach saturation</a:t>
            </a:r>
          </a:p>
          <a:p>
            <a:pPr marL="231775" indent="-231775">
              <a:buFont typeface="Arial"/>
              <a:buChar char="•"/>
            </a:pPr>
            <a:r>
              <a:rPr lang="en-US" sz="2500" u="sng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TEMPERATURE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some Abs stain better at certain temperatures, e.g. chemokine receptors give a much higher fluorescence when stained at 37°C compared to RT or 4°C</a:t>
            </a:r>
          </a:p>
          <a:p>
            <a:pPr marL="231775" indent="-231775">
              <a:spcAft>
                <a:spcPts val="1500"/>
              </a:spcAft>
              <a:buFont typeface="Arial"/>
              <a:buChar char="•"/>
            </a:pPr>
            <a:r>
              <a:rPr lang="en-US" sz="2500" u="sng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BUFFER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intracellular staining (Fix/Perm buffers) can alter the optimized titer 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 titrate antibodies with the buffer used in the staining</a:t>
            </a:r>
          </a:p>
          <a:p>
            <a:pPr marL="0" indent="0">
              <a:buNone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Cell number DOES NOT affect the Ab titer. The Ab is always in vast excess to the number of molecules, unless cell number changes dramatically.</a:t>
            </a:r>
          </a:p>
          <a:p>
            <a:pPr marL="0" indent="0">
              <a:buNone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General rule: the optimized titer can be used to stain up to 10-15x10</a:t>
            </a:r>
            <a:r>
              <a:rPr lang="en-US" sz="2500" baseline="30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6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 cells in 100 µL total volume.</a:t>
            </a: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668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E12E-271B-3A4B-4119-74C05E02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09632-1CD2-5C76-74CE-A6B4BCD0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avoid artifacts in flow cytometry</a:t>
            </a:r>
            <a:endParaRPr lang="en-US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8FFEF-913A-EAA0-CBF1-04921C347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659118"/>
            <a:ext cx="10515600" cy="4351338"/>
          </a:xfrm>
        </p:spPr>
        <p:txBody>
          <a:bodyPr anchor="ctr">
            <a:norm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Reagent titration: how to achieve the best separation over background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Multicolor (&gt;1 parameter) compensation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error in multicolor FACS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of high-quality data for publication</a:t>
            </a:r>
          </a:p>
        </p:txBody>
      </p:sp>
    </p:spTree>
    <p:extLst>
      <p:ext uri="{BB962C8B-B14F-4D97-AF65-F5344CB8AC3E}">
        <p14:creationId xmlns:p14="http://schemas.microsoft.com/office/powerpoint/2010/main" val="350307473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042-B8E1-5836-FE25-07DDED5D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AF5A2A3C-EBC8-B660-9C99-BCABA45554E8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Compensation practices</a:t>
            </a:r>
          </a:p>
        </p:txBody>
      </p: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5072B59E-C196-56EB-977E-E461D26F84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710924"/>
            <a:ext cx="10515600" cy="40677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Compensation can be performed manually (at the machine) or automatically (via software)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Manual compensation: tedious, need to check carefully that positive and negative signals have to match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compensation: no errors, if using the </a:t>
            </a:r>
            <a:r>
              <a:rPr lang="en-US" sz="25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controls</a:t>
            </a:r>
            <a:endParaRPr lang="en-US" sz="2500" noProof="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Manual compensation is impractical in a multicolor experiment (roughly 2</a:t>
            </a:r>
            <a:r>
              <a:rPr lang="en-US" sz="2500" baseline="300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US" sz="25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pairwise combinations)</a:t>
            </a:r>
          </a:p>
          <a:p>
            <a:pPr marL="231775" indent="-231775">
              <a:lnSpc>
                <a:spcPct val="100000"/>
              </a:lnSpc>
              <a:buFont typeface="Arial"/>
              <a:buChar char="•"/>
            </a:pPr>
            <a:r>
              <a:rPr lang="en-US" sz="2500" noProof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Changing compensation in a pairwise combination </a:t>
            </a:r>
            <a:r>
              <a:rPr lang="en-US" sz="25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affects distribution in other channels</a:t>
            </a:r>
            <a:endParaRPr lang="en-US" sz="2500" noProof="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561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951F-A01D-1FBA-EB85-AD23844B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F6A45BC1-290F-5CC6-87BC-8419B6A4824A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the right controls?</a:t>
            </a:r>
          </a:p>
          <a:p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3 golden rules of compensation</a:t>
            </a:r>
          </a:p>
        </p:txBody>
      </p: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B9595F03-2D57-14EE-FD1D-8B47D7DA64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54886"/>
            <a:ext cx="10515600" cy="46705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31775" indent="-231775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a single-stained control that is </a:t>
            </a:r>
            <a:r>
              <a:rPr lang="en-US" sz="25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least as bright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 the test staining</a:t>
            </a:r>
          </a:p>
          <a:p>
            <a:pPr marL="231775" indent="-231775"/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</a:t>
            </a:r>
            <a:r>
              <a:rPr lang="en-US" sz="25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reagent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that is being used in the staining (valid for tandems such as PE-Cy7, APC-Cy7, etc. – for non tandems any reagent is OK)</a:t>
            </a:r>
          </a:p>
          <a:p>
            <a:pPr marL="231775" indent="-231775"/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a paired-negative control with the </a:t>
            </a:r>
            <a:r>
              <a:rPr lang="en-US" sz="2500" b="1" noProof="0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autofluorescence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as the positive (cells with cells, beads with beads, etc.)</a:t>
            </a:r>
          </a:p>
          <a:p>
            <a:pPr marL="231775" indent="-231775"/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Everything else is not necessary!</a:t>
            </a:r>
          </a:p>
        </p:txBody>
      </p:sp>
    </p:spTree>
    <p:extLst>
      <p:ext uri="{BB962C8B-B14F-4D97-AF65-F5344CB8AC3E}">
        <p14:creationId xmlns:p14="http://schemas.microsoft.com/office/powerpoint/2010/main" val="118891463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C4123B2-24E8-0A29-480B-2CC0614DFE50}"/>
              </a:ext>
            </a:extLst>
          </p:cNvPr>
          <p:cNvGrpSpPr/>
          <p:nvPr/>
        </p:nvGrpSpPr>
        <p:grpSpPr>
          <a:xfrm>
            <a:off x="2674452" y="1883368"/>
            <a:ext cx="6843096" cy="3969128"/>
            <a:chOff x="2323208" y="2146970"/>
            <a:chExt cx="6843096" cy="3969128"/>
          </a:xfrm>
        </p:grpSpPr>
        <p:pic>
          <p:nvPicPr>
            <p:cNvPr id="21" name="Immagin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18587" y="2859362"/>
              <a:ext cx="2525346" cy="2473277"/>
            </a:xfrm>
            <a:prstGeom prst="rect">
              <a:avLst/>
            </a:prstGeom>
          </p:spPr>
        </p:pic>
        <p:sp>
          <p:nvSpPr>
            <p:cNvPr id="22" name="CasellaDiTesto 21"/>
            <p:cNvSpPr txBox="1"/>
            <p:nvPr/>
          </p:nvSpPr>
          <p:spPr>
            <a:xfrm>
              <a:off x="3545814" y="5332638"/>
              <a:ext cx="1194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FITC IFN</a:t>
              </a:r>
              <a:r>
                <a:rPr lang="el-GR" dirty="0"/>
                <a:t>γ</a:t>
              </a:r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" name="CasellaDiTesto 22"/>
            <p:cNvSpPr txBox="1"/>
            <p:nvPr/>
          </p:nvSpPr>
          <p:spPr>
            <a:xfrm rot="16200000">
              <a:off x="1606826" y="3795455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Alexa 594 CCR7</a:t>
              </a:r>
            </a:p>
          </p:txBody>
        </p:sp>
        <p:sp>
          <p:nvSpPr>
            <p:cNvPr id="25" name="CasellaDiTesto 24"/>
            <p:cNvSpPr txBox="1"/>
            <p:nvPr/>
          </p:nvSpPr>
          <p:spPr>
            <a:xfrm>
              <a:off x="2704968" y="2146970"/>
              <a:ext cx="28290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Overcompensation of FITC into Alx594 </a:t>
              </a:r>
            </a:p>
          </p:txBody>
        </p:sp>
        <p:cxnSp>
          <p:nvCxnSpPr>
            <p:cNvPr id="28" name="Connettore 1 27"/>
            <p:cNvCxnSpPr/>
            <p:nvPr/>
          </p:nvCxnSpPr>
          <p:spPr>
            <a:xfrm>
              <a:off x="3222463" y="4556124"/>
              <a:ext cx="1243459" cy="0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1 29"/>
            <p:cNvCxnSpPr/>
            <p:nvPr/>
          </p:nvCxnSpPr>
          <p:spPr>
            <a:xfrm>
              <a:off x="4300253" y="4445832"/>
              <a:ext cx="452803" cy="57219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magin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436" y="2859361"/>
              <a:ext cx="2398199" cy="2340708"/>
            </a:xfrm>
            <a:prstGeom prst="rect">
              <a:avLst/>
            </a:prstGeom>
          </p:spPr>
        </p:pic>
        <p:sp>
          <p:nvSpPr>
            <p:cNvPr id="32" name="Rettangolo 31"/>
            <p:cNvSpPr>
              <a:spLocks noChangeAspect="1"/>
            </p:cNvSpPr>
            <p:nvPr/>
          </p:nvSpPr>
          <p:spPr>
            <a:xfrm>
              <a:off x="6634058" y="5464986"/>
              <a:ext cx="180000" cy="1730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3" name="CasellaDiTesto 32"/>
            <p:cNvSpPr txBox="1"/>
            <p:nvPr/>
          </p:nvSpPr>
          <p:spPr>
            <a:xfrm>
              <a:off x="6808279" y="5350842"/>
              <a:ext cx="16918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Comp control</a:t>
              </a:r>
            </a:p>
          </p:txBody>
        </p:sp>
        <p:sp>
          <p:nvSpPr>
            <p:cNvPr id="34" name="Rettangolo 33"/>
            <p:cNvSpPr>
              <a:spLocks noChangeAspect="1"/>
            </p:cNvSpPr>
            <p:nvPr/>
          </p:nvSpPr>
          <p:spPr>
            <a:xfrm>
              <a:off x="6634058" y="5825494"/>
              <a:ext cx="180000" cy="17305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5" name="CasellaDiTesto 34"/>
            <p:cNvSpPr txBox="1"/>
            <p:nvPr/>
          </p:nvSpPr>
          <p:spPr>
            <a:xfrm>
              <a:off x="6808279" y="5715988"/>
              <a:ext cx="2288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Test staining: IFN</a:t>
              </a:r>
              <a:r>
                <a:rPr lang="el-GR" sz="2000" dirty="0"/>
                <a:t>γ</a:t>
              </a:r>
              <a:endPara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6" name="CasellaDiTesto 35"/>
            <p:cNvSpPr txBox="1"/>
            <p:nvPr/>
          </p:nvSpPr>
          <p:spPr>
            <a:xfrm>
              <a:off x="5902087" y="2146970"/>
              <a:ext cx="32642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Comp control is not as bright as the test stain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B571E019-3863-B3B2-D048-D8FDC2C5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Rule #1: at least as bright!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814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9CD3-BD2F-1DBC-C960-1B19FC22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F4082B-3692-E0AC-FA71-9E5BEAC82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Rule #2: same reagent for tandems!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B421B9F-542A-8170-E416-DD513B2A78D0}"/>
              </a:ext>
            </a:extLst>
          </p:cNvPr>
          <p:cNvGrpSpPr/>
          <p:nvPr/>
        </p:nvGrpSpPr>
        <p:grpSpPr>
          <a:xfrm>
            <a:off x="1796094" y="2303254"/>
            <a:ext cx="8599813" cy="2519486"/>
            <a:chOff x="1701576" y="2303254"/>
            <a:chExt cx="8599813" cy="2519486"/>
          </a:xfrm>
        </p:grpSpPr>
        <p:pic>
          <p:nvPicPr>
            <p:cNvPr id="6" name="Immagine 15">
              <a:extLst>
                <a:ext uri="{FF2B5EF4-FFF2-40B4-BE49-F238E27FC236}">
                  <a16:creationId xmlns:a16="http://schemas.microsoft.com/office/drawing/2014/main" id="{7B682AA7-BF03-AE6C-1E8C-6E52BCEEE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16991" y="2623879"/>
              <a:ext cx="1964654" cy="1911736"/>
            </a:xfrm>
            <a:prstGeom prst="rect">
              <a:avLst/>
            </a:prstGeom>
          </p:spPr>
        </p:pic>
        <p:pic>
          <p:nvPicPr>
            <p:cNvPr id="7" name="Immagine 20">
              <a:extLst>
                <a:ext uri="{FF2B5EF4-FFF2-40B4-BE49-F238E27FC236}">
                  <a16:creationId xmlns:a16="http://schemas.microsoft.com/office/drawing/2014/main" id="{D1B6156B-5337-78DF-2C24-DC81FA8BD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78" y="2564867"/>
              <a:ext cx="2025300" cy="1970747"/>
            </a:xfrm>
            <a:prstGeom prst="rect">
              <a:avLst/>
            </a:prstGeom>
          </p:spPr>
        </p:pic>
        <p:pic>
          <p:nvPicPr>
            <p:cNvPr id="8" name="Immagine 21">
              <a:extLst>
                <a:ext uri="{FF2B5EF4-FFF2-40B4-BE49-F238E27FC236}">
                  <a16:creationId xmlns:a16="http://schemas.microsoft.com/office/drawing/2014/main" id="{57E5C9B3-5B0E-5CF2-2C07-7E67EC45A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35183" y="2623879"/>
              <a:ext cx="1766206" cy="1911736"/>
            </a:xfrm>
            <a:prstGeom prst="rect">
              <a:avLst/>
            </a:prstGeom>
          </p:spPr>
        </p:pic>
        <p:sp>
          <p:nvSpPr>
            <p:cNvPr id="9" name="Rettangolo 22">
              <a:extLst>
                <a:ext uri="{FF2B5EF4-FFF2-40B4-BE49-F238E27FC236}">
                  <a16:creationId xmlns:a16="http://schemas.microsoft.com/office/drawing/2014/main" id="{8FA9E5AF-B276-9275-CE57-728110E34217}"/>
                </a:ext>
              </a:extLst>
            </p:cNvPr>
            <p:cNvSpPr/>
            <p:nvPr/>
          </p:nvSpPr>
          <p:spPr>
            <a:xfrm>
              <a:off x="4121466" y="2581728"/>
              <a:ext cx="146278" cy="143314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Rettangolo 23">
              <a:extLst>
                <a:ext uri="{FF2B5EF4-FFF2-40B4-BE49-F238E27FC236}">
                  <a16:creationId xmlns:a16="http://schemas.microsoft.com/office/drawing/2014/main" id="{5ADFDCE0-6418-77DF-EDEF-ECEE1587345D}"/>
                </a:ext>
              </a:extLst>
            </p:cNvPr>
            <p:cNvSpPr/>
            <p:nvPr/>
          </p:nvSpPr>
          <p:spPr>
            <a:xfrm>
              <a:off x="4121466" y="3374169"/>
              <a:ext cx="146278" cy="14331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CasellaDiTesto 24">
              <a:extLst>
                <a:ext uri="{FF2B5EF4-FFF2-40B4-BE49-F238E27FC236}">
                  <a16:creationId xmlns:a16="http://schemas.microsoft.com/office/drawing/2014/main" id="{982A36A8-D564-00FA-B967-4D4D709D4309}"/>
                </a:ext>
              </a:extLst>
            </p:cNvPr>
            <p:cNvSpPr txBox="1"/>
            <p:nvPr/>
          </p:nvSpPr>
          <p:spPr>
            <a:xfrm>
              <a:off x="4263353" y="2482928"/>
              <a:ext cx="1745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Wrong comp</a:t>
              </a:r>
            </a:p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13.2% subtraction</a:t>
              </a:r>
            </a:p>
          </p:txBody>
        </p:sp>
        <p:sp>
          <p:nvSpPr>
            <p:cNvPr id="12" name="CasellaDiTesto 25">
              <a:extLst>
                <a:ext uri="{FF2B5EF4-FFF2-40B4-BE49-F238E27FC236}">
                  <a16:creationId xmlns:a16="http://schemas.microsoft.com/office/drawing/2014/main" id="{B7446FE3-6629-6DAC-4D1D-9885D98EBE66}"/>
                </a:ext>
              </a:extLst>
            </p:cNvPr>
            <p:cNvSpPr txBox="1"/>
            <p:nvPr/>
          </p:nvSpPr>
          <p:spPr>
            <a:xfrm>
              <a:off x="2670718" y="4484077"/>
              <a:ext cx="949299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PE-Cy5.5</a:t>
              </a:r>
            </a:p>
          </p:txBody>
        </p:sp>
        <p:sp>
          <p:nvSpPr>
            <p:cNvPr id="13" name="CasellaDiTesto 26">
              <a:extLst>
                <a:ext uri="{FF2B5EF4-FFF2-40B4-BE49-F238E27FC236}">
                  <a16:creationId xmlns:a16="http://schemas.microsoft.com/office/drawing/2014/main" id="{BBB7C8EF-B8CE-3F63-EEE4-2B0F56C894D1}"/>
                </a:ext>
              </a:extLst>
            </p:cNvPr>
            <p:cNvSpPr txBox="1"/>
            <p:nvPr/>
          </p:nvSpPr>
          <p:spPr>
            <a:xfrm>
              <a:off x="4263353" y="3258815"/>
              <a:ext cx="164012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Correct comp</a:t>
              </a:r>
            </a:p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3.4% subtraction</a:t>
              </a:r>
            </a:p>
          </p:txBody>
        </p:sp>
        <p:sp>
          <p:nvSpPr>
            <p:cNvPr id="14" name="CasellaDiTesto 27">
              <a:extLst>
                <a:ext uri="{FF2B5EF4-FFF2-40B4-BE49-F238E27FC236}">
                  <a16:creationId xmlns:a16="http://schemas.microsoft.com/office/drawing/2014/main" id="{1C9CCD6C-C869-74C4-B2C6-306C88F8AB20}"/>
                </a:ext>
              </a:extLst>
            </p:cNvPr>
            <p:cNvSpPr txBox="1"/>
            <p:nvPr/>
          </p:nvSpPr>
          <p:spPr>
            <a:xfrm rot="16200000">
              <a:off x="1664225" y="3274324"/>
              <a:ext cx="397867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</a:t>
              </a:r>
            </a:p>
          </p:txBody>
        </p:sp>
        <p:sp>
          <p:nvSpPr>
            <p:cNvPr id="15" name="Rettangolo 28">
              <a:extLst>
                <a:ext uri="{FF2B5EF4-FFF2-40B4-BE49-F238E27FC236}">
                  <a16:creationId xmlns:a16="http://schemas.microsoft.com/office/drawing/2014/main" id="{C18CB65B-2D90-7954-738F-787A770C4AD5}"/>
                </a:ext>
              </a:extLst>
            </p:cNvPr>
            <p:cNvSpPr/>
            <p:nvPr/>
          </p:nvSpPr>
          <p:spPr>
            <a:xfrm>
              <a:off x="4121466" y="4166610"/>
              <a:ext cx="146278" cy="14331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CasellaDiTesto 29">
              <a:extLst>
                <a:ext uri="{FF2B5EF4-FFF2-40B4-BE49-F238E27FC236}">
                  <a16:creationId xmlns:a16="http://schemas.microsoft.com/office/drawing/2014/main" id="{A02AD3C5-2B37-6ACA-7EB6-8D9410DF8421}"/>
                </a:ext>
              </a:extLst>
            </p:cNvPr>
            <p:cNvSpPr txBox="1"/>
            <p:nvPr/>
          </p:nvSpPr>
          <p:spPr>
            <a:xfrm>
              <a:off x="4263353" y="4042822"/>
              <a:ext cx="156401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Negative control</a:t>
              </a:r>
            </a:p>
          </p:txBody>
        </p:sp>
        <p:sp>
          <p:nvSpPr>
            <p:cNvPr id="17" name="CasellaDiTesto 30">
              <a:extLst>
                <a:ext uri="{FF2B5EF4-FFF2-40B4-BE49-F238E27FC236}">
                  <a16:creationId xmlns:a16="http://schemas.microsoft.com/office/drawing/2014/main" id="{AEF0960B-FE07-AD58-6798-DBAA4C9EB8F9}"/>
                </a:ext>
              </a:extLst>
            </p:cNvPr>
            <p:cNvSpPr txBox="1"/>
            <p:nvPr/>
          </p:nvSpPr>
          <p:spPr>
            <a:xfrm>
              <a:off x="8104061" y="4499574"/>
              <a:ext cx="949299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PE-Cy5.5</a:t>
              </a:r>
            </a:p>
          </p:txBody>
        </p:sp>
        <p:sp>
          <p:nvSpPr>
            <p:cNvPr id="18" name="CasellaDiTesto 31">
              <a:extLst>
                <a:ext uri="{FF2B5EF4-FFF2-40B4-BE49-F238E27FC236}">
                  <a16:creationId xmlns:a16="http://schemas.microsoft.com/office/drawing/2014/main" id="{0648CE95-4B1A-8FB5-0F96-883F5C703C68}"/>
                </a:ext>
              </a:extLst>
            </p:cNvPr>
            <p:cNvSpPr txBox="1"/>
            <p:nvPr/>
          </p:nvSpPr>
          <p:spPr>
            <a:xfrm rot="16200000">
              <a:off x="6258299" y="3267789"/>
              <a:ext cx="397867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</a:t>
              </a:r>
            </a:p>
          </p:txBody>
        </p:sp>
        <p:sp>
          <p:nvSpPr>
            <p:cNvPr id="19" name="CasellaDiTesto 32">
              <a:extLst>
                <a:ext uri="{FF2B5EF4-FFF2-40B4-BE49-F238E27FC236}">
                  <a16:creationId xmlns:a16="http://schemas.microsoft.com/office/drawing/2014/main" id="{BB67799B-85AE-4931-F6DB-CD9A5BBF5CA6}"/>
                </a:ext>
              </a:extLst>
            </p:cNvPr>
            <p:cNvSpPr txBox="1"/>
            <p:nvPr/>
          </p:nvSpPr>
          <p:spPr>
            <a:xfrm>
              <a:off x="7357952" y="2303255"/>
              <a:ext cx="739690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i="1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Wrong</a:t>
              </a:r>
            </a:p>
          </p:txBody>
        </p:sp>
        <p:sp>
          <p:nvSpPr>
            <p:cNvPr id="20" name="CasellaDiTesto 33">
              <a:extLst>
                <a:ext uri="{FF2B5EF4-FFF2-40B4-BE49-F238E27FC236}">
                  <a16:creationId xmlns:a16="http://schemas.microsoft.com/office/drawing/2014/main" id="{A27FC684-5948-C2BC-51DD-F75A28F9D632}"/>
                </a:ext>
              </a:extLst>
            </p:cNvPr>
            <p:cNvSpPr txBox="1"/>
            <p:nvPr/>
          </p:nvSpPr>
          <p:spPr>
            <a:xfrm>
              <a:off x="9043985" y="2303254"/>
              <a:ext cx="794448" cy="323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i="1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Correct</a:t>
              </a:r>
            </a:p>
          </p:txBody>
        </p:sp>
        <p:cxnSp>
          <p:nvCxnSpPr>
            <p:cNvPr id="26" name="Connettore 1 34">
              <a:extLst>
                <a:ext uri="{FF2B5EF4-FFF2-40B4-BE49-F238E27FC236}">
                  <a16:creationId xmlns:a16="http://schemas.microsoft.com/office/drawing/2014/main" id="{89CF7B94-02CF-4B44-6F6F-3EED2A9CD1DA}"/>
                </a:ext>
              </a:extLst>
            </p:cNvPr>
            <p:cNvCxnSpPr/>
            <p:nvPr/>
          </p:nvCxnSpPr>
          <p:spPr>
            <a:xfrm>
              <a:off x="2265802" y="3374163"/>
              <a:ext cx="1455299" cy="0"/>
            </a:xfrm>
            <a:prstGeom prst="line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1 35">
              <a:extLst>
                <a:ext uri="{FF2B5EF4-FFF2-40B4-BE49-F238E27FC236}">
                  <a16:creationId xmlns:a16="http://schemas.microsoft.com/office/drawing/2014/main" id="{E6003F24-F481-1EB4-E066-68D76470CAE5}"/>
                </a:ext>
              </a:extLst>
            </p:cNvPr>
            <p:cNvCxnSpPr/>
            <p:nvPr/>
          </p:nvCxnSpPr>
          <p:spPr>
            <a:xfrm>
              <a:off x="2265802" y="2989458"/>
              <a:ext cx="1614049" cy="0"/>
            </a:xfrm>
            <a:prstGeom prst="line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AF91148-F70A-0B1C-8667-A566DE126703}"/>
              </a:ext>
            </a:extLst>
          </p:cNvPr>
          <p:cNvSpPr txBox="1"/>
          <p:nvPr/>
        </p:nvSpPr>
        <p:spPr>
          <a:xfrm>
            <a:off x="1765584" y="5522052"/>
            <a:ext cx="8660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Compensation requirements can be different from lot to lot of the same Ab</a:t>
            </a:r>
          </a:p>
        </p:txBody>
      </p:sp>
    </p:spTree>
    <p:extLst>
      <p:ext uri="{BB962C8B-B14F-4D97-AF65-F5344CB8AC3E}">
        <p14:creationId xmlns:p14="http://schemas.microsoft.com/office/powerpoint/2010/main" val="205106656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B8D-0427-1471-EA2A-5D2665FB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6512A9-8B3D-DD20-505B-9F3FF0675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compensate in </a:t>
            </a:r>
            <a:r>
              <a:rPr lang="en-US" sz="4000" b="1" noProof="0" dirty="0" err="1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FACSDiva</a:t>
            </a:r>
            <a:endParaRPr lang="en-US" sz="4000" b="1" noProof="0" dirty="0">
              <a:solidFill>
                <a:srgbClr val="00009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1" name="Immagine 2" descr="Schermata 2013-03-28 alle 2.39.51 PM.png">
            <a:extLst>
              <a:ext uri="{FF2B5EF4-FFF2-40B4-BE49-F238E27FC236}">
                <a16:creationId xmlns:a16="http://schemas.microsoft.com/office/drawing/2014/main" id="{E09AB71E-761F-DF6A-713F-08E9C9CA2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553" y="1964863"/>
            <a:ext cx="3345867" cy="2140092"/>
          </a:xfrm>
          <a:prstGeom prst="rect">
            <a:avLst/>
          </a:prstGeom>
        </p:spPr>
      </p:pic>
      <p:pic>
        <p:nvPicPr>
          <p:cNvPr id="22" name="Immagine 6" descr="Schermata 2013-03-28 alle 2.44.17 PM.png">
            <a:extLst>
              <a:ext uri="{FF2B5EF4-FFF2-40B4-BE49-F238E27FC236}">
                <a16:creationId xmlns:a16="http://schemas.microsoft.com/office/drawing/2014/main" id="{54A12923-8982-B948-2EB3-4A43047AB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110" y="1942058"/>
            <a:ext cx="4683647" cy="21857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7E429B-D562-1B60-AFDC-C905995A5B16}"/>
              </a:ext>
            </a:extLst>
          </p:cNvPr>
          <p:cNvSpPr txBox="1"/>
          <p:nvPr/>
        </p:nvSpPr>
        <p:spPr>
          <a:xfrm>
            <a:off x="462823" y="1437597"/>
            <a:ext cx="11266354" cy="5093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Experiment 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 Compensation setup  Create compensation controls</a:t>
            </a:r>
          </a:p>
          <a:p>
            <a:pPr marL="231775" indent="-231775"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 panose="020B0604020202020204" pitchFamily="34" charset="0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Run single-stained controls, including negative</a:t>
            </a:r>
          </a:p>
          <a:p>
            <a:pPr marL="231775" indent="-231775">
              <a:buFont typeface="Arial"/>
              <a:buChar char="•"/>
            </a:pP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Select positive and negative signal from each control</a:t>
            </a:r>
          </a:p>
          <a:p>
            <a:pPr marL="231775" indent="-231775">
              <a:buFont typeface="Arial"/>
              <a:buChar char="•"/>
            </a:pP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For comp tubes containing both positive and negative,</a:t>
            </a:r>
          </a:p>
          <a:p>
            <a:pPr marL="231775"/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draw an additional gate to select the negative population</a:t>
            </a:r>
          </a:p>
          <a:p>
            <a:pPr marL="231775" indent="-231775">
              <a:buFont typeface="Arial"/>
              <a:buChar char="•"/>
            </a:pP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Choose Experiment </a:t>
            </a: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Compensation Setup </a:t>
            </a: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</a:t>
            </a: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Calculate Compensation. </a:t>
            </a:r>
          </a:p>
          <a:p>
            <a:pPr marL="231775" indent="-231775">
              <a:buFont typeface="Arial"/>
              <a:buChar char="•"/>
            </a:pPr>
            <a:r>
              <a:rPr lang="en-US" sz="2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 a compensation setup name, click Link and Save, and click OK. </a:t>
            </a:r>
            <a:endParaRPr lang="en-US" sz="25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84606814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222D2-EC27-8897-6A28-B0816BFA4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ED586A3D-7D3F-B57D-119F-D8D04EB65084}"/>
              </a:ext>
            </a:extLst>
          </p:cNvPr>
          <p:cNvSpPr txBox="1"/>
          <p:nvPr/>
        </p:nvSpPr>
        <p:spPr>
          <a:xfrm>
            <a:off x="1531802" y="1325563"/>
            <a:ext cx="9128396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Saves time at the instrument!</a:t>
            </a: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  <a:p>
            <a:pPr marL="231775" indent="-231775"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Create compensation controls as explained in the slide before</a:t>
            </a:r>
          </a:p>
          <a:p>
            <a:pPr marL="231775" indent="-231775"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Import all files to </a:t>
            </a:r>
            <a:r>
              <a:rPr lang="en-US" sz="25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/>
              </a:rPr>
              <a:t>FlowJo</a:t>
            </a: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91D1A6-9454-E47E-8221-ABC72BF2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compensate in </a:t>
            </a:r>
            <a:r>
              <a:rPr lang="en-US" sz="4000" b="1" noProof="0" dirty="0" err="1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FlowJo</a:t>
            </a:r>
            <a:endParaRPr lang="en-US" sz="4000" b="1" noProof="0" dirty="0">
              <a:solidFill>
                <a:srgbClr val="00009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A298EE-67F9-8046-CA2B-30938FE9C079}"/>
              </a:ext>
            </a:extLst>
          </p:cNvPr>
          <p:cNvGrpSpPr/>
          <p:nvPr/>
        </p:nvGrpSpPr>
        <p:grpSpPr>
          <a:xfrm>
            <a:off x="2555240" y="2796126"/>
            <a:ext cx="7081520" cy="3805714"/>
            <a:chOff x="2555240" y="2796126"/>
            <a:chExt cx="7081520" cy="38057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70E701-ACFC-E152-6B8B-C8E04D876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240" y="2796126"/>
              <a:ext cx="7081520" cy="3805714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5048B7C-1D5C-7540-32FD-3F399E83461A}"/>
                </a:ext>
              </a:extLst>
            </p:cNvPr>
            <p:cNvSpPr/>
            <p:nvPr/>
          </p:nvSpPr>
          <p:spPr>
            <a:xfrm>
              <a:off x="3657600" y="2959768"/>
              <a:ext cx="250257" cy="22619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FD3208B-7683-2AEF-8A46-06FF62F6F1EA}"/>
                </a:ext>
              </a:extLst>
            </p:cNvPr>
            <p:cNvSpPr/>
            <p:nvPr/>
          </p:nvSpPr>
          <p:spPr>
            <a:xfrm>
              <a:off x="2555240" y="4219074"/>
              <a:ext cx="1690838" cy="22619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687B8D8-1097-6046-A5ED-77C1E8E27003}"/>
                </a:ext>
              </a:extLst>
            </p:cNvPr>
            <p:cNvSpPr/>
            <p:nvPr/>
          </p:nvSpPr>
          <p:spPr>
            <a:xfrm>
              <a:off x="4246078" y="6310965"/>
              <a:ext cx="840874" cy="22619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348D7C1-4F0B-6D5E-AFCF-5B90F031B6C9}"/>
              </a:ext>
            </a:extLst>
          </p:cNvPr>
          <p:cNvSpPr txBox="1"/>
          <p:nvPr/>
        </p:nvSpPr>
        <p:spPr>
          <a:xfrm>
            <a:off x="2272576" y="4085888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57A6F-AAFB-278F-D689-847ED3EFD6B4}"/>
              </a:ext>
            </a:extLst>
          </p:cNvPr>
          <p:cNvSpPr txBox="1"/>
          <p:nvPr/>
        </p:nvSpPr>
        <p:spPr>
          <a:xfrm>
            <a:off x="3930660" y="6086897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67C98-D94E-9165-FF94-6D8562899F71}"/>
              </a:ext>
            </a:extLst>
          </p:cNvPr>
          <p:cNvSpPr txBox="1"/>
          <p:nvPr/>
        </p:nvSpPr>
        <p:spPr>
          <a:xfrm>
            <a:off x="3842349" y="2693120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1853978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29DD-0909-5120-B65A-98739143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DABC43-9095-8F6B-7BA6-DE5D9C0B5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5563"/>
            <a:ext cx="7772400" cy="533417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A8000E-E275-68D5-EB5A-4B677E77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compensate in </a:t>
            </a:r>
            <a:r>
              <a:rPr lang="en-US" sz="4000" b="1" noProof="0" dirty="0" err="1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FlowJo</a:t>
            </a:r>
            <a:endParaRPr lang="en-US" sz="4000" b="1" noProof="0" dirty="0">
              <a:solidFill>
                <a:srgbClr val="00009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3CF22-08BF-B3D8-2965-9F21FD89303F}"/>
              </a:ext>
            </a:extLst>
          </p:cNvPr>
          <p:cNvSpPr txBox="1"/>
          <p:nvPr/>
        </p:nvSpPr>
        <p:spPr>
          <a:xfrm>
            <a:off x="1937554" y="1988148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3690D5-B743-BA60-2387-D8EB151E953F}"/>
              </a:ext>
            </a:extLst>
          </p:cNvPr>
          <p:cNvSpPr/>
          <p:nvPr/>
        </p:nvSpPr>
        <p:spPr>
          <a:xfrm>
            <a:off x="2190066" y="1309303"/>
            <a:ext cx="191321" cy="183997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A6D13-747F-E530-28ED-71659F23CF08}"/>
              </a:ext>
            </a:extLst>
          </p:cNvPr>
          <p:cNvSpPr/>
          <p:nvPr/>
        </p:nvSpPr>
        <p:spPr>
          <a:xfrm>
            <a:off x="2240116" y="1907038"/>
            <a:ext cx="7705900" cy="562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56706-E401-2560-093B-E1890339DBC7}"/>
              </a:ext>
            </a:extLst>
          </p:cNvPr>
          <p:cNvSpPr txBox="1"/>
          <p:nvPr/>
        </p:nvSpPr>
        <p:spPr>
          <a:xfrm>
            <a:off x="6431450" y="3050844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59C44E-BC53-DC6D-CF8D-66B01BD5C05C}"/>
              </a:ext>
            </a:extLst>
          </p:cNvPr>
          <p:cNvSpPr/>
          <p:nvPr/>
        </p:nvSpPr>
        <p:spPr>
          <a:xfrm>
            <a:off x="2240116" y="2577252"/>
            <a:ext cx="4191334" cy="40824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1C4708-DEDB-9085-9C21-3CDCDD174C29}"/>
              </a:ext>
            </a:extLst>
          </p:cNvPr>
          <p:cNvSpPr txBox="1"/>
          <p:nvPr/>
        </p:nvSpPr>
        <p:spPr>
          <a:xfrm>
            <a:off x="1899591" y="1125312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57B1B6F-AC30-0F6D-A077-C2EE07DF6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91" y="1907038"/>
            <a:ext cx="1200791" cy="1619085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F54374F3-4555-3274-775D-8D9F1EA7462D}"/>
              </a:ext>
            </a:extLst>
          </p:cNvPr>
          <p:cNvSpPr/>
          <p:nvPr/>
        </p:nvSpPr>
        <p:spPr>
          <a:xfrm>
            <a:off x="1389413" y="1442852"/>
            <a:ext cx="813460" cy="1229096"/>
          </a:xfrm>
          <a:custGeom>
            <a:avLst/>
            <a:gdLst>
              <a:gd name="csX0" fmla="*/ 813460 w 813460"/>
              <a:gd name="csY0" fmla="*/ 0 h 1229096"/>
              <a:gd name="csX1" fmla="*/ 409699 w 813460"/>
              <a:gd name="csY1" fmla="*/ 991590 h 1229096"/>
              <a:gd name="csX2" fmla="*/ 0 w 813460"/>
              <a:gd name="csY2" fmla="*/ 1229096 h 1229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3460" h="1229096">
                <a:moveTo>
                  <a:pt x="813460" y="0"/>
                </a:moveTo>
                <a:cubicBezTo>
                  <a:pt x="679368" y="393370"/>
                  <a:pt x="545276" y="786741"/>
                  <a:pt x="409699" y="991590"/>
                </a:cubicBezTo>
                <a:cubicBezTo>
                  <a:pt x="274122" y="1196439"/>
                  <a:pt x="137061" y="1212767"/>
                  <a:pt x="0" y="122909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BD3461-1833-4F29-0589-95D19FC08177}"/>
              </a:ext>
            </a:extLst>
          </p:cNvPr>
          <p:cNvSpPr/>
          <p:nvPr/>
        </p:nvSpPr>
        <p:spPr>
          <a:xfrm>
            <a:off x="462867" y="3026978"/>
            <a:ext cx="134034" cy="499145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835F9F-AFAA-77D2-7DAB-395393FB7DE9}"/>
              </a:ext>
            </a:extLst>
          </p:cNvPr>
          <p:cNvSpPr txBox="1"/>
          <p:nvPr/>
        </p:nvSpPr>
        <p:spPr>
          <a:xfrm>
            <a:off x="355798" y="3500083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0636873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60CC-4641-6A1A-37A8-249727AF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8FF327-53E5-A916-5BC4-F40C066F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Changing compensation affects distribution in other channels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E1FFD7-8BD9-5DEB-B828-DEFC877ABC91}"/>
              </a:ext>
            </a:extLst>
          </p:cNvPr>
          <p:cNvGrpSpPr/>
          <p:nvPr/>
        </p:nvGrpSpPr>
        <p:grpSpPr>
          <a:xfrm>
            <a:off x="2197100" y="1294762"/>
            <a:ext cx="7797800" cy="5348378"/>
            <a:chOff x="2197100" y="1294762"/>
            <a:chExt cx="7797800" cy="5348378"/>
          </a:xfrm>
        </p:grpSpPr>
        <p:pic>
          <p:nvPicPr>
            <p:cNvPr id="2" name="Immagine 1">
              <a:extLst>
                <a:ext uri="{FF2B5EF4-FFF2-40B4-BE49-F238E27FC236}">
                  <a16:creationId xmlns:a16="http://schemas.microsoft.com/office/drawing/2014/main" id="{A477EFE9-1449-53EE-B5D2-705C36543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9950" y="1294762"/>
              <a:ext cx="5314950" cy="534837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25B5DF-0CFD-B6C4-2F22-EFAE4629A4CE}"/>
                </a:ext>
              </a:extLst>
            </p:cNvPr>
            <p:cNvSpPr txBox="1"/>
            <p:nvPr/>
          </p:nvSpPr>
          <p:spPr>
            <a:xfrm>
              <a:off x="2197100" y="3724507"/>
              <a:ext cx="5384551" cy="20159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FITC (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</a:t>
              </a:r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525) and 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PerCP</a:t>
              </a:r>
              <a:endPara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</a:t>
              </a:r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670) are distant enough</a:t>
              </a:r>
            </a:p>
            <a:p>
              <a:endPara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Possibly wrong comp between 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PerCP</a:t>
              </a:r>
              <a:endPara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</a:t>
              </a:r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670) and PE-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TxR</a:t>
              </a:r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</a:t>
              </a:r>
              <a:r>
                <a:rPr lang="en-US" sz="25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</a:t>
              </a:r>
              <a:r>
                <a:rPr lang="en-US" sz="25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610)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B34647E-ECB9-1C83-207E-C3D888499001}"/>
              </a:ext>
            </a:extLst>
          </p:cNvPr>
          <p:cNvSpPr txBox="1"/>
          <p:nvPr/>
        </p:nvSpPr>
        <p:spPr>
          <a:xfrm>
            <a:off x="0" y="6150114"/>
            <a:ext cx="8476423" cy="7078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FROM SPLEEN (easy, standard, familiar)</a:t>
            </a: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THEN CHECK ALL TISSUES! And always keep your eyes open for artifacts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670DE-6432-499F-261C-680A369937A7}"/>
              </a:ext>
            </a:extLst>
          </p:cNvPr>
          <p:cNvSpPr txBox="1"/>
          <p:nvPr/>
        </p:nvSpPr>
        <p:spPr>
          <a:xfrm>
            <a:off x="4405520" y="1735234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E81C19-9498-2BC1-5E96-5E5C3D15C2E6}"/>
              </a:ext>
            </a:extLst>
          </p:cNvPr>
          <p:cNvSpPr txBox="1"/>
          <p:nvPr/>
        </p:nvSpPr>
        <p:spPr>
          <a:xfrm>
            <a:off x="102139" y="5740443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0941487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0EEC-1B06-0F8B-4A4B-CE1EAFF1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1479-51AA-676E-3206-B76F0BDD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avoid artifacts in flow cytometry</a:t>
            </a:r>
            <a:endParaRPr lang="en-US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F070B-8866-FFE2-3809-BB9F66D47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659118"/>
            <a:ext cx="10515600" cy="4351338"/>
          </a:xfrm>
        </p:spPr>
        <p:txBody>
          <a:bodyPr anchor="ctr">
            <a:norm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Reagent titration: how to achieve the best separation over background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Multicolor (&gt;1 parameter) compensation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error in multicolor FACS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of high-quality data for publication</a:t>
            </a:r>
          </a:p>
        </p:txBody>
      </p:sp>
    </p:spTree>
    <p:extLst>
      <p:ext uri="{BB962C8B-B14F-4D97-AF65-F5344CB8AC3E}">
        <p14:creationId xmlns:p14="http://schemas.microsoft.com/office/powerpoint/2010/main" val="296011657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19C9-C769-7F8A-481F-BD3D3048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5739F507-606C-BCFD-3F9E-EDE1F004339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‘</a:t>
            </a:r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Errors</a:t>
            </a:r>
            <a:r>
              <a:rPr lang="en-US" sz="4000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compensation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B280D-CEBA-5A47-9EB5-4C07DE78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417"/>
            <a:ext cx="10515600" cy="4351338"/>
          </a:xfrm>
        </p:spPr>
        <p:txBody>
          <a:bodyPr anchor="ctr">
            <a:noAutofit/>
          </a:bodyPr>
          <a:lstStyle/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Properly compensated data may not appear rectilinear because of </a:t>
            </a:r>
            <a:r>
              <a:rPr lang="en-US" sz="25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measurement errors 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(are more prominent in case of limited numbers of photons, like PE-Cy7 or APC-Cy7 dyes, with low energy)</a:t>
            </a: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Measurement errors are </a:t>
            </a:r>
            <a:r>
              <a:rPr lang="en-US" sz="25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directly proportional to the intensity 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(LOG relationship)</a:t>
            </a: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effect on compensated data is </a:t>
            </a:r>
            <a:r>
              <a:rPr lang="en-US" sz="25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unavoidable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cannot be corrected with compensation (LINEAR correction)</a:t>
            </a:r>
          </a:p>
          <a:p>
            <a:pPr marL="342900" indent="-34290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Compensation does not introduce the error, it only reveals it because it brings the distribution to the low end of the log scale</a:t>
            </a:r>
          </a:p>
        </p:txBody>
      </p:sp>
    </p:spTree>
    <p:extLst>
      <p:ext uri="{BB962C8B-B14F-4D97-AF65-F5344CB8AC3E}">
        <p14:creationId xmlns:p14="http://schemas.microsoft.com/office/powerpoint/2010/main" val="192500666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359E-BE81-C41F-8A43-374970DA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0DD8BE-8861-C5FE-43A5-8ED66106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Signal spreading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6C166E-3F5A-D9F0-A6F4-A8D2DB9831EE}"/>
              </a:ext>
            </a:extLst>
          </p:cNvPr>
          <p:cNvGrpSpPr/>
          <p:nvPr/>
        </p:nvGrpSpPr>
        <p:grpSpPr>
          <a:xfrm>
            <a:off x="1638956" y="1719492"/>
            <a:ext cx="8914089" cy="3274460"/>
            <a:chOff x="1508238" y="1672998"/>
            <a:chExt cx="8914089" cy="3274460"/>
          </a:xfrm>
        </p:grpSpPr>
        <p:pic>
          <p:nvPicPr>
            <p:cNvPr id="4" name="Immagine 1">
              <a:extLst>
                <a:ext uri="{FF2B5EF4-FFF2-40B4-BE49-F238E27FC236}">
                  <a16:creationId xmlns:a16="http://schemas.microsoft.com/office/drawing/2014/main" id="{B8D697B4-DE5B-4DB8-59A0-4A498AD6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8459" y="2391458"/>
              <a:ext cx="2589303" cy="2556000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0C69C81B-80C1-FFB9-28AB-7520C3EF0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1681" y="2391458"/>
              <a:ext cx="2564095" cy="2531116"/>
            </a:xfrm>
            <a:prstGeom prst="rect">
              <a:avLst/>
            </a:prstGeom>
          </p:spPr>
        </p:pic>
        <p:sp>
          <p:nvSpPr>
            <p:cNvPr id="8" name="CasellaDiTesto 2">
              <a:extLst>
                <a:ext uri="{FF2B5EF4-FFF2-40B4-BE49-F238E27FC236}">
                  <a16:creationId xmlns:a16="http://schemas.microsoft.com/office/drawing/2014/main" id="{0E993E37-B6D8-7AC2-837A-8D03F8760348}"/>
                </a:ext>
              </a:extLst>
            </p:cNvPr>
            <p:cNvSpPr txBox="1"/>
            <p:nvPr/>
          </p:nvSpPr>
          <p:spPr>
            <a:xfrm>
              <a:off x="5088214" y="1980774"/>
              <a:ext cx="17219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Compensated</a:t>
              </a:r>
            </a:p>
          </p:txBody>
        </p:sp>
        <p:sp>
          <p:nvSpPr>
            <p:cNvPr id="9" name="CasellaDiTesto 7">
              <a:extLst>
                <a:ext uri="{FF2B5EF4-FFF2-40B4-BE49-F238E27FC236}">
                  <a16:creationId xmlns:a16="http://schemas.microsoft.com/office/drawing/2014/main" id="{0BB646DA-9F3E-F39A-8C11-2CF086BAA6BC}"/>
                </a:ext>
              </a:extLst>
            </p:cNvPr>
            <p:cNvSpPr txBox="1"/>
            <p:nvPr/>
          </p:nvSpPr>
          <p:spPr>
            <a:xfrm>
              <a:off x="7468770" y="1672998"/>
              <a:ext cx="25074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Compensated with transformation</a:t>
              </a:r>
            </a:p>
          </p:txBody>
        </p:sp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63F02C1D-21DD-5FAF-8C5E-A277FCF62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8238" y="2379600"/>
              <a:ext cx="2589303" cy="2556000"/>
            </a:xfrm>
            <a:prstGeom prst="rect">
              <a:avLst/>
            </a:prstGeom>
          </p:spPr>
        </p:pic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C45CEC1D-1945-EB05-43D2-874E6DB87FEE}"/>
                </a:ext>
              </a:extLst>
            </p:cNvPr>
            <p:cNvSpPr txBox="1"/>
            <p:nvPr/>
          </p:nvSpPr>
          <p:spPr>
            <a:xfrm>
              <a:off x="2029669" y="1980774"/>
              <a:ext cx="1997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Uncompensated</a:t>
              </a:r>
            </a:p>
          </p:txBody>
        </p:sp>
        <p:grpSp>
          <p:nvGrpSpPr>
            <p:cNvPr id="12" name="Gruppo 23">
              <a:extLst>
                <a:ext uri="{FF2B5EF4-FFF2-40B4-BE49-F238E27FC236}">
                  <a16:creationId xmlns:a16="http://schemas.microsoft.com/office/drawing/2014/main" id="{87202B23-1FF8-0644-F0B7-B9AF56681604}"/>
                </a:ext>
              </a:extLst>
            </p:cNvPr>
            <p:cNvGrpSpPr/>
            <p:nvPr/>
          </p:nvGrpSpPr>
          <p:grpSpPr>
            <a:xfrm>
              <a:off x="1941340" y="2994744"/>
              <a:ext cx="2244571" cy="1927831"/>
              <a:chOff x="770467" y="3234463"/>
              <a:chExt cx="2244571" cy="1927831"/>
            </a:xfrm>
          </p:grpSpPr>
          <p:cxnSp>
            <p:nvCxnSpPr>
              <p:cNvPr id="13" name="Connettore 1 11">
                <a:extLst>
                  <a:ext uri="{FF2B5EF4-FFF2-40B4-BE49-F238E27FC236}">
                    <a16:creationId xmlns:a16="http://schemas.microsoft.com/office/drawing/2014/main" id="{873C36C0-62E5-B5CE-480B-1DFB0A227EC5}"/>
                  </a:ext>
                </a:extLst>
              </p:cNvPr>
              <p:cNvCxnSpPr/>
              <p:nvPr/>
            </p:nvCxnSpPr>
            <p:spPr>
              <a:xfrm>
                <a:off x="770467" y="3639149"/>
                <a:ext cx="1636712" cy="0"/>
              </a:xfrm>
              <a:prstGeom prst="line">
                <a:avLst/>
              </a:prstGeom>
              <a:ln w="19050" cmpd="sng">
                <a:solidFill>
                  <a:srgbClr val="0000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ttore 1 13">
                <a:extLst>
                  <a:ext uri="{FF2B5EF4-FFF2-40B4-BE49-F238E27FC236}">
                    <a16:creationId xmlns:a16="http://schemas.microsoft.com/office/drawing/2014/main" id="{C6BD180C-60B5-8912-B423-E74256571B01}"/>
                  </a:ext>
                </a:extLst>
              </p:cNvPr>
              <p:cNvCxnSpPr/>
              <p:nvPr/>
            </p:nvCxnSpPr>
            <p:spPr>
              <a:xfrm flipH="1">
                <a:off x="2407179" y="3506857"/>
                <a:ext cx="14288" cy="1655437"/>
              </a:xfrm>
              <a:prstGeom prst="line">
                <a:avLst/>
              </a:prstGeom>
              <a:ln w="19050" cmpd="sng">
                <a:solidFill>
                  <a:srgbClr val="FF0000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1 18">
                <a:extLst>
                  <a:ext uri="{FF2B5EF4-FFF2-40B4-BE49-F238E27FC236}">
                    <a16:creationId xmlns:a16="http://schemas.microsoft.com/office/drawing/2014/main" id="{2734DEB1-E33E-F13C-ADB2-9AE560F496EC}"/>
                  </a:ext>
                </a:extLst>
              </p:cNvPr>
              <p:cNvCxnSpPr/>
              <p:nvPr/>
            </p:nvCxnSpPr>
            <p:spPr>
              <a:xfrm>
                <a:off x="770467" y="3806366"/>
                <a:ext cx="1651000" cy="0"/>
              </a:xfrm>
              <a:prstGeom prst="line">
                <a:avLst/>
              </a:prstGeom>
              <a:ln w="19050" cmpd="sng">
                <a:solidFill>
                  <a:srgbClr val="0000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CasellaDiTesto 21">
                <a:extLst>
                  <a:ext uri="{FF2B5EF4-FFF2-40B4-BE49-F238E27FC236}">
                    <a16:creationId xmlns:a16="http://schemas.microsoft.com/office/drawing/2014/main" id="{EEE29E3B-827E-CCF6-5907-C7434FE50769}"/>
                  </a:ext>
                </a:extLst>
              </p:cNvPr>
              <p:cNvSpPr txBox="1"/>
              <p:nvPr/>
            </p:nvSpPr>
            <p:spPr>
              <a:xfrm>
                <a:off x="2407179" y="3686315"/>
                <a:ext cx="60785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1000</a:t>
                </a:r>
              </a:p>
            </p:txBody>
          </p:sp>
          <p:sp>
            <p:nvSpPr>
              <p:cNvPr id="17" name="CasellaDiTesto 22">
                <a:extLst>
                  <a:ext uri="{FF2B5EF4-FFF2-40B4-BE49-F238E27FC236}">
                    <a16:creationId xmlns:a16="http://schemas.microsoft.com/office/drawing/2014/main" id="{E14B711E-CA78-C7E8-A355-60F2BB71F525}"/>
                  </a:ext>
                </a:extLst>
              </p:cNvPr>
              <p:cNvSpPr txBox="1"/>
              <p:nvPr/>
            </p:nvSpPr>
            <p:spPr>
              <a:xfrm>
                <a:off x="2407179" y="3234463"/>
                <a:ext cx="60785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2000</a:t>
                </a:r>
              </a:p>
            </p:txBody>
          </p:sp>
        </p:grpSp>
        <p:cxnSp>
          <p:nvCxnSpPr>
            <p:cNvPr id="18" name="Connettore 1 24">
              <a:extLst>
                <a:ext uri="{FF2B5EF4-FFF2-40B4-BE49-F238E27FC236}">
                  <a16:creationId xmlns:a16="http://schemas.microsoft.com/office/drawing/2014/main" id="{4A62CF79-3C37-8D30-5793-370518EDCE2F}"/>
                </a:ext>
              </a:extLst>
            </p:cNvPr>
            <p:cNvCxnSpPr/>
            <p:nvPr/>
          </p:nvCxnSpPr>
          <p:spPr>
            <a:xfrm>
              <a:off x="7622477" y="3535494"/>
              <a:ext cx="1727996" cy="0"/>
            </a:xfrm>
            <a:prstGeom prst="line">
              <a:avLst/>
            </a:prstGeom>
            <a:ln w="19050" cmpd="sng">
              <a:solidFill>
                <a:srgbClr val="0000FF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25">
              <a:extLst>
                <a:ext uri="{FF2B5EF4-FFF2-40B4-BE49-F238E27FC236}">
                  <a16:creationId xmlns:a16="http://schemas.microsoft.com/office/drawing/2014/main" id="{C6720136-6D34-9A53-09F1-2D47271D40E3}"/>
                </a:ext>
              </a:extLst>
            </p:cNvPr>
            <p:cNvCxnSpPr/>
            <p:nvPr/>
          </p:nvCxnSpPr>
          <p:spPr>
            <a:xfrm flipH="1">
              <a:off x="9354127" y="3200004"/>
              <a:ext cx="14288" cy="1655437"/>
            </a:xfrm>
            <a:prstGeom prst="line">
              <a:avLst/>
            </a:prstGeom>
            <a:ln w="19050" cmpd="sng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1 26">
              <a:extLst>
                <a:ext uri="{FF2B5EF4-FFF2-40B4-BE49-F238E27FC236}">
                  <a16:creationId xmlns:a16="http://schemas.microsoft.com/office/drawing/2014/main" id="{74E1DCE5-2034-32FD-0E01-9261FE34CA9B}"/>
                </a:ext>
              </a:extLst>
            </p:cNvPr>
            <p:cNvCxnSpPr/>
            <p:nvPr/>
          </p:nvCxnSpPr>
          <p:spPr>
            <a:xfrm>
              <a:off x="7622477" y="4430846"/>
              <a:ext cx="1727996" cy="0"/>
            </a:xfrm>
            <a:prstGeom prst="line">
              <a:avLst/>
            </a:prstGeom>
            <a:ln w="19050" cmpd="sng">
              <a:solidFill>
                <a:srgbClr val="0000FF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asellaDiTesto 27">
              <a:extLst>
                <a:ext uri="{FF2B5EF4-FFF2-40B4-BE49-F238E27FC236}">
                  <a16:creationId xmlns:a16="http://schemas.microsoft.com/office/drawing/2014/main" id="{182DE720-D801-8C14-E2F9-A485CA13F0FF}"/>
                </a:ext>
              </a:extLst>
            </p:cNvPr>
            <p:cNvSpPr txBox="1"/>
            <p:nvPr/>
          </p:nvSpPr>
          <p:spPr>
            <a:xfrm>
              <a:off x="9780805" y="4183795"/>
              <a:ext cx="5725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-500</a:t>
              </a:r>
            </a:p>
          </p:txBody>
        </p:sp>
        <p:sp>
          <p:nvSpPr>
            <p:cNvPr id="22" name="CasellaDiTesto 28">
              <a:extLst>
                <a:ext uri="{FF2B5EF4-FFF2-40B4-BE49-F238E27FC236}">
                  <a16:creationId xmlns:a16="http://schemas.microsoft.com/office/drawing/2014/main" id="{8DE1873C-0E09-1550-3137-952FE5B122BA}"/>
                </a:ext>
              </a:extLst>
            </p:cNvPr>
            <p:cNvSpPr txBox="1"/>
            <p:nvPr/>
          </p:nvSpPr>
          <p:spPr>
            <a:xfrm>
              <a:off x="9780805" y="3284866"/>
              <a:ext cx="64152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+500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D1CDEC-2EAA-8D0F-1AFF-B7BDDFB3DC0C}"/>
              </a:ext>
            </a:extLst>
          </p:cNvPr>
          <p:cNvSpPr txBox="1"/>
          <p:nvPr/>
        </p:nvSpPr>
        <p:spPr>
          <a:xfrm>
            <a:off x="1215658" y="5675886"/>
            <a:ext cx="9760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causes this spread? Photon counting statistics introduces a measurement error</a:t>
            </a:r>
          </a:p>
        </p:txBody>
      </p:sp>
    </p:spTree>
    <p:extLst>
      <p:ext uri="{BB962C8B-B14F-4D97-AF65-F5344CB8AC3E}">
        <p14:creationId xmlns:p14="http://schemas.microsoft.com/office/powerpoint/2010/main" val="230296001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BC59-2E98-F2DC-4119-187E36D9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20654-267A-142B-9C18-BA77BF2A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overcome this problem?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9A53A8-85E6-8050-8777-CBEC39C55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081434" cy="4351338"/>
          </a:xfrm>
        </p:spPr>
        <p:txBody>
          <a:bodyPr anchor="ctr">
            <a:noAutofit/>
          </a:bodyPr>
          <a:lstStyle/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different gates: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cells positive in the primary detector will have a different threshold of positivity compared to negative cells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 problem if analyzing bright antigens in the secondary detector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of sensitivity if dim antigen in the secondary detector. Decrease titer of spreading Ab to minimize spreading.</a:t>
            </a:r>
          </a:p>
          <a:p>
            <a:pPr marL="293688" indent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-&gt; Try a different Ab combination</a:t>
            </a:r>
          </a:p>
        </p:txBody>
      </p:sp>
      <p:grpSp>
        <p:nvGrpSpPr>
          <p:cNvPr id="11" name="Gruppo 13">
            <a:extLst>
              <a:ext uri="{FF2B5EF4-FFF2-40B4-BE49-F238E27FC236}">
                <a16:creationId xmlns:a16="http://schemas.microsoft.com/office/drawing/2014/main" id="{1FF7B1BE-2756-AD03-F5D4-C0FC8E0FD969}"/>
              </a:ext>
            </a:extLst>
          </p:cNvPr>
          <p:cNvGrpSpPr>
            <a:grpSpLocks noChangeAspect="1"/>
          </p:cNvGrpSpPr>
          <p:nvPr/>
        </p:nvGrpSpPr>
        <p:grpSpPr>
          <a:xfrm>
            <a:off x="8076415" y="2669294"/>
            <a:ext cx="2796280" cy="2740158"/>
            <a:chOff x="5342787" y="1147233"/>
            <a:chExt cx="2307291" cy="2260985"/>
          </a:xfrm>
        </p:grpSpPr>
        <p:pic>
          <p:nvPicPr>
            <p:cNvPr id="12" name="Immagine 16">
              <a:extLst>
                <a:ext uri="{FF2B5EF4-FFF2-40B4-BE49-F238E27FC236}">
                  <a16:creationId xmlns:a16="http://schemas.microsoft.com/office/drawing/2014/main" id="{8298F05C-2642-A176-8ED6-137C217DA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5786" y="1147233"/>
              <a:ext cx="2014292" cy="1960034"/>
            </a:xfrm>
            <a:prstGeom prst="rect">
              <a:avLst/>
            </a:prstGeom>
          </p:spPr>
        </p:pic>
        <p:sp>
          <p:nvSpPr>
            <p:cNvPr id="13" name="CasellaDiTesto 17">
              <a:extLst>
                <a:ext uri="{FF2B5EF4-FFF2-40B4-BE49-F238E27FC236}">
                  <a16:creationId xmlns:a16="http://schemas.microsoft.com/office/drawing/2014/main" id="{71382B50-FD63-0A10-0A86-92BDFA3689AA}"/>
                </a:ext>
              </a:extLst>
            </p:cNvPr>
            <p:cNvSpPr txBox="1"/>
            <p:nvPr/>
          </p:nvSpPr>
          <p:spPr>
            <a:xfrm>
              <a:off x="6529919" y="3078076"/>
              <a:ext cx="522725" cy="33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APC</a:t>
              </a:r>
            </a:p>
          </p:txBody>
        </p:sp>
        <p:sp>
          <p:nvSpPr>
            <p:cNvPr id="14" name="CasellaDiTesto 18">
              <a:extLst>
                <a:ext uri="{FF2B5EF4-FFF2-40B4-BE49-F238E27FC236}">
                  <a16:creationId xmlns:a16="http://schemas.microsoft.com/office/drawing/2014/main" id="{5AB1C686-4D59-413B-9A8C-B1C3DD9B6A4F}"/>
                </a:ext>
              </a:extLst>
            </p:cNvPr>
            <p:cNvSpPr txBox="1"/>
            <p:nvPr/>
          </p:nvSpPr>
          <p:spPr>
            <a:xfrm rot="16200000">
              <a:off x="4954456" y="1849828"/>
              <a:ext cx="1107904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Alexa 700</a:t>
              </a:r>
            </a:p>
          </p:txBody>
        </p:sp>
      </p:grpSp>
      <p:cxnSp>
        <p:nvCxnSpPr>
          <p:cNvPr id="15" name="Connettore 1 22">
            <a:extLst>
              <a:ext uri="{FF2B5EF4-FFF2-40B4-BE49-F238E27FC236}">
                <a16:creationId xmlns:a16="http://schemas.microsoft.com/office/drawing/2014/main" id="{13C061B5-7810-6DFD-46AC-61FC9E2F01D1}"/>
              </a:ext>
            </a:extLst>
          </p:cNvPr>
          <p:cNvCxnSpPr/>
          <p:nvPr/>
        </p:nvCxnSpPr>
        <p:spPr>
          <a:xfrm>
            <a:off x="9234607" y="3921139"/>
            <a:ext cx="236083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23">
            <a:extLst>
              <a:ext uri="{FF2B5EF4-FFF2-40B4-BE49-F238E27FC236}">
                <a16:creationId xmlns:a16="http://schemas.microsoft.com/office/drawing/2014/main" id="{AF85FC60-D703-75BA-2613-7B512B680331}"/>
              </a:ext>
            </a:extLst>
          </p:cNvPr>
          <p:cNvCxnSpPr/>
          <p:nvPr/>
        </p:nvCxnSpPr>
        <p:spPr>
          <a:xfrm>
            <a:off x="9959168" y="3787748"/>
            <a:ext cx="235314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24">
            <a:extLst>
              <a:ext uri="{FF2B5EF4-FFF2-40B4-BE49-F238E27FC236}">
                <a16:creationId xmlns:a16="http://schemas.microsoft.com/office/drawing/2014/main" id="{63A4F71A-9E69-6571-2DA1-5820CBD475AF}"/>
              </a:ext>
            </a:extLst>
          </p:cNvPr>
          <p:cNvCxnSpPr/>
          <p:nvPr/>
        </p:nvCxnSpPr>
        <p:spPr>
          <a:xfrm>
            <a:off x="10280504" y="3592787"/>
            <a:ext cx="254781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089452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26FC-A6D9-6649-58BF-AFC79522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09C6FBF1-9A37-0CB0-838F-335D75DCF7F1}"/>
              </a:ext>
            </a:extLst>
          </p:cNvPr>
          <p:cNvGrpSpPr/>
          <p:nvPr/>
        </p:nvGrpSpPr>
        <p:grpSpPr>
          <a:xfrm>
            <a:off x="8077104" y="2637544"/>
            <a:ext cx="2796280" cy="2771908"/>
            <a:chOff x="6867547" y="1115481"/>
            <a:chExt cx="2796280" cy="2771908"/>
          </a:xfrm>
        </p:grpSpPr>
        <p:grpSp>
          <p:nvGrpSpPr>
            <p:cNvPr id="39" name="Gruppo 10">
              <a:extLst>
                <a:ext uri="{FF2B5EF4-FFF2-40B4-BE49-F238E27FC236}">
                  <a16:creationId xmlns:a16="http://schemas.microsoft.com/office/drawing/2014/main" id="{C67EA167-86AF-3FF7-7062-404BC9A3EB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67547" y="1147231"/>
              <a:ext cx="2796280" cy="2740158"/>
              <a:chOff x="5342787" y="1147233"/>
              <a:chExt cx="2307291" cy="2260985"/>
            </a:xfrm>
          </p:grpSpPr>
          <p:pic>
            <p:nvPicPr>
              <p:cNvPr id="40" name="Immagine 11">
                <a:extLst>
                  <a:ext uri="{FF2B5EF4-FFF2-40B4-BE49-F238E27FC236}">
                    <a16:creationId xmlns:a16="http://schemas.microsoft.com/office/drawing/2014/main" id="{C1205F5B-69F6-0756-AE78-C37E9BF96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35786" y="1147233"/>
                <a:ext cx="2014292" cy="1960034"/>
              </a:xfrm>
              <a:prstGeom prst="rect">
                <a:avLst/>
              </a:prstGeom>
            </p:spPr>
          </p:pic>
          <p:sp>
            <p:nvSpPr>
              <p:cNvPr id="41" name="CasellaDiTesto 12">
                <a:extLst>
                  <a:ext uri="{FF2B5EF4-FFF2-40B4-BE49-F238E27FC236}">
                    <a16:creationId xmlns:a16="http://schemas.microsoft.com/office/drawing/2014/main" id="{CD161F56-478B-39C9-0DA6-5CA91790BB15}"/>
                  </a:ext>
                </a:extLst>
              </p:cNvPr>
              <p:cNvSpPr txBox="1"/>
              <p:nvPr/>
            </p:nvSpPr>
            <p:spPr>
              <a:xfrm>
                <a:off x="6529919" y="3078076"/>
                <a:ext cx="522725" cy="330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APC</a:t>
                </a:r>
              </a:p>
            </p:txBody>
          </p:sp>
          <p:sp>
            <p:nvSpPr>
              <p:cNvPr id="42" name="CasellaDiTesto 13">
                <a:extLst>
                  <a:ext uri="{FF2B5EF4-FFF2-40B4-BE49-F238E27FC236}">
                    <a16:creationId xmlns:a16="http://schemas.microsoft.com/office/drawing/2014/main" id="{BEBE1999-1F64-71BB-5929-30083D2A45AC}"/>
                  </a:ext>
                </a:extLst>
              </p:cNvPr>
              <p:cNvSpPr txBox="1"/>
              <p:nvPr/>
            </p:nvSpPr>
            <p:spPr>
              <a:xfrm rot="16200000">
                <a:off x="4954456" y="1849828"/>
                <a:ext cx="1107904" cy="3312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Alexa 700</a:t>
                </a:r>
              </a:p>
            </p:txBody>
          </p:sp>
        </p:grpSp>
        <p:sp>
          <p:nvSpPr>
            <p:cNvPr id="43" name="Ovale 17">
              <a:extLst>
                <a:ext uri="{FF2B5EF4-FFF2-40B4-BE49-F238E27FC236}">
                  <a16:creationId xmlns:a16="http://schemas.microsoft.com/office/drawing/2014/main" id="{1FAD9C2E-0EAC-E04D-C2AE-77642F87BEB2}"/>
                </a:ext>
              </a:extLst>
            </p:cNvPr>
            <p:cNvSpPr/>
            <p:nvPr/>
          </p:nvSpPr>
          <p:spPr>
            <a:xfrm>
              <a:off x="9094579" y="1454035"/>
              <a:ext cx="186606" cy="499534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noProof="0" dirty="0">
                <a:ln>
                  <a:solidFill>
                    <a:srgbClr val="000000"/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Ovale 18">
              <a:extLst>
                <a:ext uri="{FF2B5EF4-FFF2-40B4-BE49-F238E27FC236}">
                  <a16:creationId xmlns:a16="http://schemas.microsoft.com/office/drawing/2014/main" id="{A3FF9468-8D41-A360-CC52-0D6ECE8F9794}"/>
                </a:ext>
              </a:extLst>
            </p:cNvPr>
            <p:cNvSpPr/>
            <p:nvPr/>
          </p:nvSpPr>
          <p:spPr>
            <a:xfrm>
              <a:off x="8038438" y="1450606"/>
              <a:ext cx="186606" cy="49953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noProof="0" dirty="0">
                <a:ln>
                  <a:solidFill>
                    <a:srgbClr val="000000"/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" name="CasellaDiTesto 19">
              <a:extLst>
                <a:ext uri="{FF2B5EF4-FFF2-40B4-BE49-F238E27FC236}">
                  <a16:creationId xmlns:a16="http://schemas.microsoft.com/office/drawing/2014/main" id="{B81FB7FD-38F6-248C-EBF5-1A09A92D1916}"/>
                </a:ext>
              </a:extLst>
            </p:cNvPr>
            <p:cNvSpPr txBox="1"/>
            <p:nvPr/>
          </p:nvSpPr>
          <p:spPr>
            <a:xfrm>
              <a:off x="7914084" y="1115481"/>
              <a:ext cx="148149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i="1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100% detected</a:t>
              </a:r>
            </a:p>
          </p:txBody>
        </p:sp>
        <p:cxnSp>
          <p:nvCxnSpPr>
            <p:cNvPr id="46" name="Connettore 1 20">
              <a:extLst>
                <a:ext uri="{FF2B5EF4-FFF2-40B4-BE49-F238E27FC236}">
                  <a16:creationId xmlns:a16="http://schemas.microsoft.com/office/drawing/2014/main" id="{11E3C73E-DB0F-CAFB-3792-8F83D50A4A21}"/>
                </a:ext>
              </a:extLst>
            </p:cNvPr>
            <p:cNvCxnSpPr/>
            <p:nvPr/>
          </p:nvCxnSpPr>
          <p:spPr>
            <a:xfrm>
              <a:off x="8025739" y="2399076"/>
              <a:ext cx="236083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1 21">
              <a:extLst>
                <a:ext uri="{FF2B5EF4-FFF2-40B4-BE49-F238E27FC236}">
                  <a16:creationId xmlns:a16="http://schemas.microsoft.com/office/drawing/2014/main" id="{E1A4C595-A9BB-8D7E-8FFF-A58BEE171CE0}"/>
                </a:ext>
              </a:extLst>
            </p:cNvPr>
            <p:cNvCxnSpPr/>
            <p:nvPr/>
          </p:nvCxnSpPr>
          <p:spPr>
            <a:xfrm>
              <a:off x="8750300" y="2265685"/>
              <a:ext cx="235314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1 22">
              <a:extLst>
                <a:ext uri="{FF2B5EF4-FFF2-40B4-BE49-F238E27FC236}">
                  <a16:creationId xmlns:a16="http://schemas.microsoft.com/office/drawing/2014/main" id="{E16353CF-1979-66D5-8C89-78CEFC0D9969}"/>
                </a:ext>
              </a:extLst>
            </p:cNvPr>
            <p:cNvCxnSpPr/>
            <p:nvPr/>
          </p:nvCxnSpPr>
          <p:spPr>
            <a:xfrm>
              <a:off x="9071636" y="2070724"/>
              <a:ext cx="254781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F771105D-4047-B88C-79A7-4AD545E6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overcome this problem?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6CD18B-6C00-F74B-0C2E-8910BC3B0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081434" cy="4351338"/>
          </a:xfrm>
        </p:spPr>
        <p:txBody>
          <a:bodyPr anchor="ctr">
            <a:noAutofit/>
          </a:bodyPr>
          <a:lstStyle/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different gates: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cells positive in the primary detector will have a different threshold of positivity compared to negative cells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 problem if analyzing bright antigens in the secondary detector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of sensitivity if dim antigen in the secondary detector. Decrease titer of spreading Ab to minimize spreading.</a:t>
            </a:r>
          </a:p>
          <a:p>
            <a:pPr marL="293688" indent="0">
              <a:lnSpc>
                <a:spcPct val="100000"/>
              </a:lnSpc>
              <a:buNone/>
            </a:pPr>
            <a:r>
              <a:rPr lang="en-US" sz="25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-&gt; Try a different Ab combination</a:t>
            </a:r>
          </a:p>
        </p:txBody>
      </p:sp>
    </p:spTree>
    <p:extLst>
      <p:ext uri="{BB962C8B-B14F-4D97-AF65-F5344CB8AC3E}">
        <p14:creationId xmlns:p14="http://schemas.microsoft.com/office/powerpoint/2010/main" val="60630603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69E7-6485-E91D-7137-0685C8A8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1CDBC8-BDAF-F10A-F9A3-58A78CEA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overcome this problem?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488DAC-167C-6440-91A3-D42824A5B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081434" cy="4351338"/>
          </a:xfrm>
        </p:spPr>
        <p:txBody>
          <a:bodyPr anchor="ctr">
            <a:noAutofit/>
          </a:bodyPr>
          <a:lstStyle/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different gates:</a:t>
            </a: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cells positive in the primary detector will have a different threshold of positivity compared to negative cells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 problem if analyzing bright antigens in the secondary detector</a:t>
            </a: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of sensitivity if dim antigen in the secondary detector. Decrease titer of spreading Ab to minimize spreading.</a:t>
            </a:r>
          </a:p>
          <a:p>
            <a:pPr marL="293688" indent="0">
              <a:lnSpc>
                <a:spcPct val="100000"/>
              </a:lnSpc>
              <a:buNone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-&gt; Try a different Ab combination</a:t>
            </a:r>
          </a:p>
        </p:txBody>
      </p:sp>
      <p:grpSp>
        <p:nvGrpSpPr>
          <p:cNvPr id="2" name="Gruppo 13">
            <a:extLst>
              <a:ext uri="{FF2B5EF4-FFF2-40B4-BE49-F238E27FC236}">
                <a16:creationId xmlns:a16="http://schemas.microsoft.com/office/drawing/2014/main" id="{EA1113A5-6ED8-ABC9-0C51-4EAE7A227B0A}"/>
              </a:ext>
            </a:extLst>
          </p:cNvPr>
          <p:cNvGrpSpPr>
            <a:grpSpLocks noChangeAspect="1"/>
          </p:cNvGrpSpPr>
          <p:nvPr/>
        </p:nvGrpSpPr>
        <p:grpSpPr>
          <a:xfrm>
            <a:off x="8076415" y="2669294"/>
            <a:ext cx="2796280" cy="2740158"/>
            <a:chOff x="5342787" y="1147233"/>
            <a:chExt cx="2307291" cy="2260985"/>
          </a:xfrm>
        </p:grpSpPr>
        <p:pic>
          <p:nvPicPr>
            <p:cNvPr id="4" name="Immagine 16">
              <a:extLst>
                <a:ext uri="{FF2B5EF4-FFF2-40B4-BE49-F238E27FC236}">
                  <a16:creationId xmlns:a16="http://schemas.microsoft.com/office/drawing/2014/main" id="{0177C96D-3A6B-AEF9-D269-19DF7CC58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5786" y="1147233"/>
              <a:ext cx="2014292" cy="1960034"/>
            </a:xfrm>
            <a:prstGeom prst="rect">
              <a:avLst/>
            </a:prstGeom>
          </p:spPr>
        </p:pic>
        <p:sp>
          <p:nvSpPr>
            <p:cNvPr id="6" name="CasellaDiTesto 17">
              <a:extLst>
                <a:ext uri="{FF2B5EF4-FFF2-40B4-BE49-F238E27FC236}">
                  <a16:creationId xmlns:a16="http://schemas.microsoft.com/office/drawing/2014/main" id="{C7A47915-A7B8-860B-6268-8269431319C4}"/>
                </a:ext>
              </a:extLst>
            </p:cNvPr>
            <p:cNvSpPr txBox="1"/>
            <p:nvPr/>
          </p:nvSpPr>
          <p:spPr>
            <a:xfrm>
              <a:off x="6529919" y="3078076"/>
              <a:ext cx="522725" cy="330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APC</a:t>
              </a:r>
            </a:p>
          </p:txBody>
        </p:sp>
        <p:sp>
          <p:nvSpPr>
            <p:cNvPr id="7" name="CasellaDiTesto 18">
              <a:extLst>
                <a:ext uri="{FF2B5EF4-FFF2-40B4-BE49-F238E27FC236}">
                  <a16:creationId xmlns:a16="http://schemas.microsoft.com/office/drawing/2014/main" id="{F9DC59E5-6059-E64D-9BEE-F92D98411994}"/>
                </a:ext>
              </a:extLst>
            </p:cNvPr>
            <p:cNvSpPr txBox="1"/>
            <p:nvPr/>
          </p:nvSpPr>
          <p:spPr>
            <a:xfrm rot="16200000">
              <a:off x="4954456" y="1849828"/>
              <a:ext cx="1107904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Alexa 700</a:t>
              </a:r>
            </a:p>
          </p:txBody>
        </p:sp>
      </p:grpSp>
      <p:cxnSp>
        <p:nvCxnSpPr>
          <p:cNvPr id="8" name="Connettore 1 22">
            <a:extLst>
              <a:ext uri="{FF2B5EF4-FFF2-40B4-BE49-F238E27FC236}">
                <a16:creationId xmlns:a16="http://schemas.microsoft.com/office/drawing/2014/main" id="{74F42664-DE4E-A2F9-CACF-AA26CC2F22F7}"/>
              </a:ext>
            </a:extLst>
          </p:cNvPr>
          <p:cNvCxnSpPr/>
          <p:nvPr/>
        </p:nvCxnSpPr>
        <p:spPr>
          <a:xfrm>
            <a:off x="9234607" y="3921139"/>
            <a:ext cx="236083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23">
            <a:extLst>
              <a:ext uri="{FF2B5EF4-FFF2-40B4-BE49-F238E27FC236}">
                <a16:creationId xmlns:a16="http://schemas.microsoft.com/office/drawing/2014/main" id="{EB37269E-5394-3D7C-1F60-4F8637072DB8}"/>
              </a:ext>
            </a:extLst>
          </p:cNvPr>
          <p:cNvCxnSpPr/>
          <p:nvPr/>
        </p:nvCxnSpPr>
        <p:spPr>
          <a:xfrm>
            <a:off x="9959168" y="3787748"/>
            <a:ext cx="235314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24">
            <a:extLst>
              <a:ext uri="{FF2B5EF4-FFF2-40B4-BE49-F238E27FC236}">
                <a16:creationId xmlns:a16="http://schemas.microsoft.com/office/drawing/2014/main" id="{48013848-5839-8B9D-039E-C0FC3504E302}"/>
              </a:ext>
            </a:extLst>
          </p:cNvPr>
          <p:cNvCxnSpPr/>
          <p:nvPr/>
        </p:nvCxnSpPr>
        <p:spPr>
          <a:xfrm>
            <a:off x="10280504" y="3592787"/>
            <a:ext cx="254781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e 25">
            <a:extLst>
              <a:ext uri="{FF2B5EF4-FFF2-40B4-BE49-F238E27FC236}">
                <a16:creationId xmlns:a16="http://schemas.microsoft.com/office/drawing/2014/main" id="{FC19E453-464F-FB64-394D-95BB9B0E1751}"/>
              </a:ext>
            </a:extLst>
          </p:cNvPr>
          <p:cNvSpPr/>
          <p:nvPr/>
        </p:nvSpPr>
        <p:spPr>
          <a:xfrm>
            <a:off x="10314231" y="3387470"/>
            <a:ext cx="186606" cy="499534"/>
          </a:xfrm>
          <a:prstGeom prst="ellipse">
            <a:avLst/>
          </a:prstGeom>
          <a:solidFill>
            <a:schemeClr val="tx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rgbClr val="000000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Ovale 26">
            <a:extLst>
              <a:ext uri="{FF2B5EF4-FFF2-40B4-BE49-F238E27FC236}">
                <a16:creationId xmlns:a16="http://schemas.microsoft.com/office/drawing/2014/main" id="{1102DA82-54EB-269D-EBD1-47E644DBA36C}"/>
              </a:ext>
            </a:extLst>
          </p:cNvPr>
          <p:cNvSpPr/>
          <p:nvPr/>
        </p:nvSpPr>
        <p:spPr>
          <a:xfrm>
            <a:off x="9258184" y="3387470"/>
            <a:ext cx="186606" cy="49953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rgbClr val="000000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" name="Connettore 1 27">
            <a:extLst>
              <a:ext uri="{FF2B5EF4-FFF2-40B4-BE49-F238E27FC236}">
                <a16:creationId xmlns:a16="http://schemas.microsoft.com/office/drawing/2014/main" id="{B6208CB6-6481-FA6C-64B7-756B7456C6AE}"/>
              </a:ext>
            </a:extLst>
          </p:cNvPr>
          <p:cNvCxnSpPr/>
          <p:nvPr/>
        </p:nvCxnSpPr>
        <p:spPr>
          <a:xfrm>
            <a:off x="10565746" y="3581291"/>
            <a:ext cx="107934" cy="0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28">
            <a:extLst>
              <a:ext uri="{FF2B5EF4-FFF2-40B4-BE49-F238E27FC236}">
                <a16:creationId xmlns:a16="http://schemas.microsoft.com/office/drawing/2014/main" id="{EA0978FC-0A60-A508-6B56-6E6802E85D68}"/>
              </a:ext>
            </a:extLst>
          </p:cNvPr>
          <p:cNvCxnSpPr/>
          <p:nvPr/>
        </p:nvCxnSpPr>
        <p:spPr>
          <a:xfrm>
            <a:off x="10565746" y="3856458"/>
            <a:ext cx="107934" cy="0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29">
            <a:extLst>
              <a:ext uri="{FF2B5EF4-FFF2-40B4-BE49-F238E27FC236}">
                <a16:creationId xmlns:a16="http://schemas.microsoft.com/office/drawing/2014/main" id="{4C149010-1718-FD09-4250-6FB4B892BF52}"/>
              </a:ext>
            </a:extLst>
          </p:cNvPr>
          <p:cNvCxnSpPr/>
          <p:nvPr/>
        </p:nvCxnSpPr>
        <p:spPr>
          <a:xfrm>
            <a:off x="10620780" y="3581292"/>
            <a:ext cx="0" cy="270933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30">
            <a:extLst>
              <a:ext uri="{FF2B5EF4-FFF2-40B4-BE49-F238E27FC236}">
                <a16:creationId xmlns:a16="http://schemas.microsoft.com/office/drawing/2014/main" id="{EA911FC3-C9A5-4CC4-73B3-936E133EEA8D}"/>
              </a:ext>
            </a:extLst>
          </p:cNvPr>
          <p:cNvSpPr txBox="1"/>
          <p:nvPr/>
        </p:nvSpPr>
        <p:spPr>
          <a:xfrm>
            <a:off x="8838920" y="2730734"/>
            <a:ext cx="915635" cy="356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40"/>
              </a:lnSpc>
            </a:pPr>
            <a:r>
              <a:rPr lang="en-US" sz="1500" i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 </a:t>
            </a:r>
          </a:p>
          <a:p>
            <a:pPr>
              <a:lnSpc>
                <a:spcPts val="1040"/>
              </a:lnSpc>
            </a:pPr>
            <a:r>
              <a:rPr lang="en-US" sz="1500" i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detected</a:t>
            </a:r>
          </a:p>
        </p:txBody>
      </p:sp>
      <p:sp>
        <p:nvSpPr>
          <p:cNvPr id="17" name="CasellaDiTesto 32">
            <a:extLst>
              <a:ext uri="{FF2B5EF4-FFF2-40B4-BE49-F238E27FC236}">
                <a16:creationId xmlns:a16="http://schemas.microsoft.com/office/drawing/2014/main" id="{8BE58E83-CD1D-ECC3-D306-1F3D6A16AE95}"/>
              </a:ext>
            </a:extLst>
          </p:cNvPr>
          <p:cNvSpPr txBox="1"/>
          <p:nvPr/>
        </p:nvSpPr>
        <p:spPr>
          <a:xfrm>
            <a:off x="9956139" y="2735024"/>
            <a:ext cx="915635" cy="356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40"/>
              </a:lnSpc>
            </a:pPr>
            <a:r>
              <a:rPr lang="en-US" sz="1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</a:t>
            </a:r>
            <a:r>
              <a:rPr lang="en-US" sz="1500" i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50% </a:t>
            </a:r>
          </a:p>
          <a:p>
            <a:pPr>
              <a:lnSpc>
                <a:spcPts val="1040"/>
              </a:lnSpc>
            </a:pPr>
            <a:r>
              <a:rPr lang="en-US" sz="1500" i="1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detected</a:t>
            </a:r>
          </a:p>
        </p:txBody>
      </p:sp>
    </p:spTree>
    <p:extLst>
      <p:ext uri="{BB962C8B-B14F-4D97-AF65-F5344CB8AC3E}">
        <p14:creationId xmlns:p14="http://schemas.microsoft.com/office/powerpoint/2010/main" val="255737900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E95FA-7905-EBF4-1B71-0ADD452F4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33F489-2C3A-1E07-E658-3E687044A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Fluorochrome relative brightness chart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82BE50-9799-4978-C522-160630CFF884}"/>
              </a:ext>
            </a:extLst>
          </p:cNvPr>
          <p:cNvGrpSpPr/>
          <p:nvPr/>
        </p:nvGrpSpPr>
        <p:grpSpPr>
          <a:xfrm>
            <a:off x="1694656" y="2122170"/>
            <a:ext cx="8802687" cy="3505200"/>
            <a:chOff x="1709103" y="2004060"/>
            <a:chExt cx="8802687" cy="3505200"/>
          </a:xfrm>
        </p:grpSpPr>
        <p:graphicFrame>
          <p:nvGraphicFramePr>
            <p:cNvPr id="20" name="Grafico 4">
              <a:extLst>
                <a:ext uri="{FF2B5EF4-FFF2-40B4-BE49-F238E27FC236}">
                  <a16:creationId xmlns:a16="http://schemas.microsoft.com/office/drawing/2014/main" id="{B7C737F1-91AE-4426-A483-4EFB346B862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67980873"/>
                </p:ext>
              </p:extLst>
            </p:nvPr>
          </p:nvGraphicFramePr>
          <p:xfrm>
            <a:off x="2205990" y="2004060"/>
            <a:ext cx="8305800" cy="350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1" name="CasellaDiTesto 5">
              <a:extLst>
                <a:ext uri="{FF2B5EF4-FFF2-40B4-BE49-F238E27FC236}">
                  <a16:creationId xmlns:a16="http://schemas.microsoft.com/office/drawing/2014/main" id="{D5DC1AF4-7A0B-A190-092B-E655C85EA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23265" y="3007361"/>
              <a:ext cx="2801937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1pPr>
              <a:lvl2pPr marL="37931725" indent="-37474525" eaLnBrk="0" hangingPunct="0"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2pPr>
              <a:lvl3pPr eaLnBrk="0" hangingPunct="0"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3pPr>
              <a:lvl4pPr eaLnBrk="0" hangingPunct="0"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4pPr>
              <a:lvl5pPr eaLnBrk="0" hangingPunct="0"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4200">
                  <a:solidFill>
                    <a:srgbClr val="000000"/>
                  </a:solidFill>
                  <a:latin typeface="Gill Sans" charset="0"/>
                  <a:ea typeface="ヒラギノ角ゴ ProN W3" charset="0"/>
                  <a:cs typeface="ヒラギノ角ゴ ProN W3" charset="0"/>
                  <a:sym typeface="Gill Sans" charset="0"/>
                </a:defRPr>
              </a:lvl9pPr>
            </a:lstStyle>
            <a:p>
              <a:pPr eaLnBrk="1" hangingPunct="1"/>
              <a:r>
                <a:rPr lang="it-IT" sz="2400">
                  <a:solidFill>
                    <a:schemeClr val="tx1"/>
                  </a:solidFill>
                  <a:latin typeface="Arial" charset="0"/>
                  <a:cs typeface="Arial" charset="0"/>
                </a:rPr>
                <a:t>Relative brightness</a:t>
              </a:r>
            </a:p>
            <a:p>
              <a:pPr eaLnBrk="1" hangingPunct="1"/>
              <a:endParaRPr lang="it-IT" sz="2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08364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09A6-2B60-736E-262C-9D0DB6F6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0B1B-68A0-5F43-249F-5F5FAC25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avoid artifacts in flow cytometry</a:t>
            </a:r>
            <a:endParaRPr lang="en-US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9231B-E6D8-F22F-E64A-E22478140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659118"/>
            <a:ext cx="10515600" cy="4351338"/>
          </a:xfrm>
        </p:spPr>
        <p:txBody>
          <a:bodyPr anchor="ctr">
            <a:norm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Reagent titration: how to achieve the best separation over background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Multicolor (&gt;1 parameter) compensation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error in multicolor FACS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of high-quality data for publication</a:t>
            </a:r>
          </a:p>
        </p:txBody>
      </p:sp>
    </p:spTree>
    <p:extLst>
      <p:ext uri="{BB962C8B-B14F-4D97-AF65-F5344CB8AC3E}">
        <p14:creationId xmlns:p14="http://schemas.microsoft.com/office/powerpoint/2010/main" val="115580696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6295-BEE2-2294-40C2-8E643A0B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7B88-C821-951E-461E-FF7D1C58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Arial"/>
                <a:cs typeface="Arial"/>
              </a:rPr>
              <a:t>Some papers rely heavily on FACS</a:t>
            </a:r>
          </a:p>
        </p:txBody>
      </p:sp>
      <p:pic>
        <p:nvPicPr>
          <p:cNvPr id="11" name="Picture 10" descr="Screen Shot 2014-10-29 at 1.08.29 PM.png">
            <a:extLst>
              <a:ext uri="{FF2B5EF4-FFF2-40B4-BE49-F238E27FC236}">
                <a16:creationId xmlns:a16="http://schemas.microsoft.com/office/drawing/2014/main" id="{CC30FAF8-6144-5220-7466-10F772B6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1" y="1155469"/>
            <a:ext cx="5715000" cy="54710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ADA6C8D-332C-EBD3-8AD5-22D947F0E751}"/>
              </a:ext>
            </a:extLst>
          </p:cNvPr>
          <p:cNvSpPr/>
          <p:nvPr/>
        </p:nvSpPr>
        <p:spPr>
          <a:xfrm>
            <a:off x="3368843" y="3368843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FA560B-1770-2353-6F8E-78E627551113}"/>
              </a:ext>
            </a:extLst>
          </p:cNvPr>
          <p:cNvSpPr/>
          <p:nvPr/>
        </p:nvSpPr>
        <p:spPr>
          <a:xfrm>
            <a:off x="3368843" y="6128087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432245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1DBA5-32BC-BFAC-3490-9CC69E64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6660-2660-1D52-0091-01060A5A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Arial"/>
                <a:cs typeface="Arial"/>
              </a:rPr>
              <a:t>Some papers rely heavily on FACS</a:t>
            </a:r>
          </a:p>
        </p:txBody>
      </p:sp>
      <p:pic>
        <p:nvPicPr>
          <p:cNvPr id="11" name="Picture 10" descr="Screen Shot 2014-10-29 at 1.08.29 PM.png">
            <a:extLst>
              <a:ext uri="{FF2B5EF4-FFF2-40B4-BE49-F238E27FC236}">
                <a16:creationId xmlns:a16="http://schemas.microsoft.com/office/drawing/2014/main" id="{3A36DADA-9F6C-4CB4-7258-64A05FAC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1" y="1155469"/>
            <a:ext cx="5715000" cy="54710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063664D-3725-B128-815E-062C8C4E8E64}"/>
              </a:ext>
            </a:extLst>
          </p:cNvPr>
          <p:cNvSpPr/>
          <p:nvPr/>
        </p:nvSpPr>
        <p:spPr>
          <a:xfrm>
            <a:off x="3368843" y="3368843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E6027-D2D6-5EF8-D07E-26869A73B27F}"/>
              </a:ext>
            </a:extLst>
          </p:cNvPr>
          <p:cNvSpPr/>
          <p:nvPr/>
        </p:nvSpPr>
        <p:spPr>
          <a:xfrm>
            <a:off x="3368843" y="6128087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asellaDiTesto 3">
            <a:extLst>
              <a:ext uri="{FF2B5EF4-FFF2-40B4-BE49-F238E27FC236}">
                <a16:creationId xmlns:a16="http://schemas.microsoft.com/office/drawing/2014/main" id="{5C7E010F-8A3B-0C2A-0734-F11AC2A358CC}"/>
              </a:ext>
            </a:extLst>
          </p:cNvPr>
          <p:cNvSpPr txBox="1"/>
          <p:nvPr/>
        </p:nvSpPr>
        <p:spPr>
          <a:xfrm>
            <a:off x="2058933" y="2606852"/>
            <a:ext cx="8034570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noProof="0" dirty="0">
                <a:solidFill>
                  <a:srgbClr val="000090"/>
                </a:solidFill>
                <a:latin typeface="Arial"/>
                <a:cs typeface="Arial"/>
              </a:rPr>
              <a:t>WHERE ARE THE DATA?</a:t>
            </a:r>
          </a:p>
        </p:txBody>
      </p:sp>
    </p:spTree>
    <p:extLst>
      <p:ext uri="{BB962C8B-B14F-4D97-AF65-F5344CB8AC3E}">
        <p14:creationId xmlns:p14="http://schemas.microsoft.com/office/powerpoint/2010/main" val="95805350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6D72-EFF4-6F92-2424-17B9F5CC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1C96-7255-AF01-2991-B348E1DB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FD3430-9E12-34D6-D847-836A96D0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64"/>
            <a:ext cx="10515600" cy="4667251"/>
          </a:xfrm>
        </p:spPr>
        <p:txBody>
          <a:bodyPr anchor="ctr">
            <a:normAutofit lnSpcReduction="10000"/>
          </a:bodyPr>
          <a:lstStyle/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Were the data compensated correctly?</a:t>
            </a: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the gating? Same gates used for all patients/controls?</a:t>
            </a: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Were antibodies titrated?</a:t>
            </a: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many events were acquired?</a:t>
            </a:r>
          </a:p>
          <a:p>
            <a:pPr marL="231775" indent="-231775">
              <a:lnSpc>
                <a:spcPct val="100000"/>
              </a:lnSpc>
              <a:spcBef>
                <a:spcPts val="1200"/>
              </a:spcBef>
              <a:buFont typeface="Arial"/>
              <a:buChar char="•"/>
            </a:pPr>
            <a:endParaRPr lang="en-US" sz="2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lnSpc>
                <a:spcPct val="100000"/>
              </a:lnSpc>
            </a:pPr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Cannot tell if raw data are not provided</a:t>
            </a:r>
          </a:p>
        </p:txBody>
      </p:sp>
    </p:spTree>
    <p:extLst>
      <p:ext uri="{BB962C8B-B14F-4D97-AF65-F5344CB8AC3E}">
        <p14:creationId xmlns:p14="http://schemas.microsoft.com/office/powerpoint/2010/main" val="2902546380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4C088-9E4E-A22D-DE79-189CD5CA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32964-7EBD-CFE8-9968-3AB8BF32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Careful with histograms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F98278-5737-095C-A6C7-91E5977FE44E}"/>
              </a:ext>
            </a:extLst>
          </p:cNvPr>
          <p:cNvGrpSpPr/>
          <p:nvPr/>
        </p:nvGrpSpPr>
        <p:grpSpPr>
          <a:xfrm>
            <a:off x="2992206" y="2470720"/>
            <a:ext cx="6207588" cy="4038904"/>
            <a:chOff x="2998382" y="2470720"/>
            <a:chExt cx="6207588" cy="403890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E2E7FB-8FC9-5E7A-0663-77ACD974E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8382" y="2470720"/>
              <a:ext cx="4239311" cy="180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0E7356-20F6-646E-E01C-F7E481E10981}"/>
                </a:ext>
              </a:extLst>
            </p:cNvPr>
            <p:cNvSpPr txBox="1"/>
            <p:nvPr/>
          </p:nvSpPr>
          <p:spPr>
            <a:xfrm>
              <a:off x="4311232" y="2708353"/>
              <a:ext cx="559769" cy="323165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88.1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231E0C7-4D81-3662-43FD-7881AA343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8382" y="4437801"/>
              <a:ext cx="4239311" cy="180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101D8D-8A3C-EDA9-934D-64907BF79CCE}"/>
                </a:ext>
              </a:extLst>
            </p:cNvPr>
            <p:cNvSpPr txBox="1"/>
            <p:nvPr/>
          </p:nvSpPr>
          <p:spPr>
            <a:xfrm>
              <a:off x="4311232" y="4700246"/>
              <a:ext cx="545662" cy="323165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77.8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E592F3-ED41-BDC2-729B-AC96156D8F10}"/>
                </a:ext>
              </a:extLst>
            </p:cNvPr>
            <p:cNvSpPr txBox="1"/>
            <p:nvPr/>
          </p:nvSpPr>
          <p:spPr>
            <a:xfrm>
              <a:off x="3813109" y="6186459"/>
              <a:ext cx="63991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CCR7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B3EB05-AA35-471A-C7FF-84EECB035920}"/>
                </a:ext>
              </a:extLst>
            </p:cNvPr>
            <p:cNvSpPr txBox="1"/>
            <p:nvPr/>
          </p:nvSpPr>
          <p:spPr>
            <a:xfrm>
              <a:off x="6085474" y="6186459"/>
              <a:ext cx="63991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CCR7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1A33B87-C427-67C0-0FA4-E33DBA6531FC}"/>
                </a:ext>
              </a:extLst>
            </p:cNvPr>
            <p:cNvGrpSpPr/>
            <p:nvPr/>
          </p:nvGrpSpPr>
          <p:grpSpPr>
            <a:xfrm>
              <a:off x="7519290" y="2893019"/>
              <a:ext cx="1686680" cy="2697293"/>
              <a:chOff x="5886803" y="2784530"/>
              <a:chExt cx="1686680" cy="269729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3A345CA-8C49-D2F2-70B4-DC44C4B0BF67}"/>
                  </a:ext>
                </a:extLst>
              </p:cNvPr>
              <p:cNvSpPr/>
              <p:nvPr/>
            </p:nvSpPr>
            <p:spPr>
              <a:xfrm>
                <a:off x="5886803" y="2784530"/>
                <a:ext cx="168668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/>
                <a:r>
                  <a:rPr lang="en-US" sz="20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Under </a:t>
                </a:r>
              </a:p>
              <a:p>
                <a:pPr marL="457200" indent="-457200"/>
                <a:r>
                  <a:rPr lang="en-US" sz="20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compensated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93ACFC-BF66-89F9-5C68-E1F9C88F695E}"/>
                  </a:ext>
                </a:extLst>
              </p:cNvPr>
              <p:cNvSpPr/>
              <p:nvPr/>
            </p:nvSpPr>
            <p:spPr>
              <a:xfrm>
                <a:off x="5886803" y="4773937"/>
                <a:ext cx="168668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/>
                <a:r>
                  <a:rPr lang="en-US" sz="20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Correctly </a:t>
                </a:r>
              </a:p>
              <a:p>
                <a:pPr marL="457200" indent="-457200"/>
                <a:r>
                  <a:rPr lang="en-US" sz="2000" noProof="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compensated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F03FE6-549A-AF50-5736-62BA0E581B27}"/>
                </a:ext>
              </a:extLst>
            </p:cNvPr>
            <p:cNvSpPr txBox="1"/>
            <p:nvPr/>
          </p:nvSpPr>
          <p:spPr>
            <a:xfrm rot="16200000">
              <a:off x="5098916" y="4138002"/>
              <a:ext cx="53572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CD4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2A8BE2-E033-70FA-D383-1CA836CE8E42}"/>
              </a:ext>
            </a:extLst>
          </p:cNvPr>
          <p:cNvSpPr txBox="1"/>
          <p:nvPr/>
        </p:nvSpPr>
        <p:spPr>
          <a:xfrm>
            <a:off x="1720315" y="1160294"/>
            <a:ext cx="87513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Histograms are very intuitive but display only one parameter</a:t>
            </a:r>
          </a:p>
          <a:p>
            <a:pPr algn="ctr"/>
            <a:r>
              <a:rPr lang="en-US" sz="2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(we now live in a multicolor world)</a:t>
            </a:r>
          </a:p>
        </p:txBody>
      </p:sp>
    </p:spTree>
    <p:extLst>
      <p:ext uri="{BB962C8B-B14F-4D97-AF65-F5344CB8AC3E}">
        <p14:creationId xmlns:p14="http://schemas.microsoft.com/office/powerpoint/2010/main" val="167815063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1A3C-B15A-4233-2D15-CE56C5156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6798-64EE-E1E6-09AD-3BCC18C6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Dot vs. density plot vs. contour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56D7C0-38EB-8EB4-5C74-49B76C9011EE}"/>
              </a:ext>
            </a:extLst>
          </p:cNvPr>
          <p:cNvSpPr txBox="1"/>
          <p:nvPr/>
        </p:nvSpPr>
        <p:spPr>
          <a:xfrm>
            <a:off x="1919216" y="1416793"/>
            <a:ext cx="835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sz="2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Multiple ways to display data – use depends on applications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916029-5085-5E62-9340-BD376899536F}"/>
              </a:ext>
            </a:extLst>
          </p:cNvPr>
          <p:cNvGrpSpPr/>
          <p:nvPr/>
        </p:nvGrpSpPr>
        <p:grpSpPr>
          <a:xfrm>
            <a:off x="3292094" y="2300977"/>
            <a:ext cx="4599186" cy="4180262"/>
            <a:chOff x="3292094" y="2300977"/>
            <a:chExt cx="4599186" cy="41802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DBD8C3B-95F4-36F1-C251-35E3BE9A0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5493" y="2390817"/>
              <a:ext cx="1849828" cy="1800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CA8C696-D805-B7CB-E187-D2E9C31FC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452" y="2390817"/>
              <a:ext cx="1849828" cy="180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E3DE1C-2776-A9DB-C637-1EAF833E8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5493" y="4244289"/>
              <a:ext cx="1849826" cy="180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A4729FE-635C-E40D-984F-DC170D4F5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41452" y="4244289"/>
              <a:ext cx="1849828" cy="1800000"/>
            </a:xfrm>
            <a:prstGeom prst="rect">
              <a:avLst/>
            </a:prstGeom>
          </p:spPr>
        </p:pic>
        <p:sp>
          <p:nvSpPr>
            <p:cNvPr id="18" name="CasellaDiTesto 4">
              <a:extLst>
                <a:ext uri="{FF2B5EF4-FFF2-40B4-BE49-F238E27FC236}">
                  <a16:creationId xmlns:a16="http://schemas.microsoft.com/office/drawing/2014/main" id="{80257AA5-09DD-6945-C68B-1D722156F912}"/>
                </a:ext>
              </a:extLst>
            </p:cNvPr>
            <p:cNvSpPr txBox="1"/>
            <p:nvPr/>
          </p:nvSpPr>
          <p:spPr>
            <a:xfrm>
              <a:off x="5322195" y="6004185"/>
              <a:ext cx="177403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CD45RA</a:t>
              </a:r>
            </a:p>
          </p:txBody>
        </p:sp>
        <p:sp>
          <p:nvSpPr>
            <p:cNvPr id="19" name="CasellaDiTesto 4">
              <a:extLst>
                <a:ext uri="{FF2B5EF4-FFF2-40B4-BE49-F238E27FC236}">
                  <a16:creationId xmlns:a16="http://schemas.microsoft.com/office/drawing/2014/main" id="{850BCBC2-1FCF-50F8-9D6D-A9F47B0C0714}"/>
                </a:ext>
              </a:extLst>
            </p:cNvPr>
            <p:cNvSpPr txBox="1"/>
            <p:nvPr/>
          </p:nvSpPr>
          <p:spPr>
            <a:xfrm rot="16200000">
              <a:off x="2643602" y="3422088"/>
              <a:ext cx="177403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CCR7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EFD535-9FC8-7F85-5406-AA8723B44AEF}"/>
                </a:ext>
              </a:extLst>
            </p:cNvPr>
            <p:cNvSpPr/>
            <p:nvPr/>
          </p:nvSpPr>
          <p:spPr>
            <a:xfrm>
              <a:off x="4008515" y="2300977"/>
              <a:ext cx="915635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Color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35EC2F-CB41-0CEA-7686-591B520A3B25}"/>
                </a:ext>
              </a:extLst>
            </p:cNvPr>
            <p:cNvSpPr/>
            <p:nvPr/>
          </p:nvSpPr>
          <p:spPr>
            <a:xfrm>
              <a:off x="6285072" y="2300977"/>
              <a:ext cx="1308371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Contour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E7D565-912A-4761-33DF-918A0B40AAF5}"/>
                </a:ext>
              </a:extLst>
            </p:cNvPr>
            <p:cNvSpPr/>
            <p:nvPr/>
          </p:nvSpPr>
          <p:spPr>
            <a:xfrm>
              <a:off x="4010644" y="4209366"/>
              <a:ext cx="1232132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Density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7847A0-D9B3-0BCF-24E3-98A39EA6EED6}"/>
                </a:ext>
              </a:extLst>
            </p:cNvPr>
            <p:cNvSpPr/>
            <p:nvPr/>
          </p:nvSpPr>
          <p:spPr>
            <a:xfrm>
              <a:off x="6287203" y="4209366"/>
              <a:ext cx="684803" cy="477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752496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9723B-E142-D75A-E7AB-35BABC0C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8883-86E5-DAF7-4784-30063EEF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Dots are useful with low numbers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051B2D-AFC8-20C7-5877-02A16C076A3A}"/>
              </a:ext>
            </a:extLst>
          </p:cNvPr>
          <p:cNvGrpSpPr/>
          <p:nvPr/>
        </p:nvGrpSpPr>
        <p:grpSpPr>
          <a:xfrm>
            <a:off x="2517233" y="1102097"/>
            <a:ext cx="7041702" cy="5625432"/>
            <a:chOff x="2291240" y="1102097"/>
            <a:chExt cx="7041702" cy="5625432"/>
          </a:xfrm>
        </p:grpSpPr>
        <p:sp>
          <p:nvSpPr>
            <p:cNvPr id="7" name="CasellaDiTesto 4">
              <a:extLst>
                <a:ext uri="{FF2B5EF4-FFF2-40B4-BE49-F238E27FC236}">
                  <a16:creationId xmlns:a16="http://schemas.microsoft.com/office/drawing/2014/main" id="{3C5B4BBF-EB15-3BB0-CF71-FFD4E02EAFE1}"/>
                </a:ext>
              </a:extLst>
            </p:cNvPr>
            <p:cNvSpPr txBox="1"/>
            <p:nvPr/>
          </p:nvSpPr>
          <p:spPr>
            <a:xfrm rot="16200000">
              <a:off x="1642748" y="3856645"/>
              <a:ext cx="1774037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ctr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CCR7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A5DC6D-5C12-6EC9-E899-6F1771AD91DB}"/>
                </a:ext>
              </a:extLst>
            </p:cNvPr>
            <p:cNvSpPr/>
            <p:nvPr/>
          </p:nvSpPr>
          <p:spPr>
            <a:xfrm>
              <a:off x="2722168" y="1102097"/>
              <a:ext cx="3012427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 algn="ctr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High resolution</a:t>
              </a:r>
            </a:p>
            <a:p>
              <a:pPr marL="457200" indent="-457200" algn="ctr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(can’t see anything)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ED804F-327A-9E43-7993-FD097043DEB9}"/>
                </a:ext>
              </a:extLst>
            </p:cNvPr>
            <p:cNvSpPr/>
            <p:nvPr/>
          </p:nvSpPr>
          <p:spPr>
            <a:xfrm>
              <a:off x="6204393" y="1102097"/>
              <a:ext cx="3128549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 algn="ctr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Low resolution</a:t>
              </a:r>
            </a:p>
            <a:p>
              <a:pPr marL="457200" indent="-457200" algn="ctr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(better, </a:t>
              </a:r>
              <a:r>
                <a:rPr lang="en-US" sz="2500" b="1" noProof="0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but gates?</a:t>
              </a:r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F99321-5408-A6DB-58A0-F1F52230F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6878" y="4263765"/>
              <a:ext cx="2213023" cy="215341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E01FD1-EFA0-B953-CFB5-0152E4047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4823" y="4263764"/>
              <a:ext cx="2212262" cy="21526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2A7363-531F-2090-F311-F6231AF10333}"/>
                </a:ext>
              </a:extLst>
            </p:cNvPr>
            <p:cNvSpPr/>
            <p:nvPr/>
          </p:nvSpPr>
          <p:spPr>
            <a:xfrm>
              <a:off x="3911365" y="4274651"/>
              <a:ext cx="4234557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marL="457200" indent="-457200" algn="ctr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 idea of number of events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213730D-02DD-8A1A-25C3-09C93F463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7293" y="1970084"/>
              <a:ext cx="2219792" cy="216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2AEDCCE-068B-1F34-CABD-0A9FE7892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06877" y="1970084"/>
              <a:ext cx="2219792" cy="2160000"/>
            </a:xfrm>
            <a:prstGeom prst="rect">
              <a:avLst/>
            </a:prstGeom>
          </p:spPr>
        </p:pic>
        <p:sp>
          <p:nvSpPr>
            <p:cNvPr id="15" name="CasellaDiTesto 4">
              <a:extLst>
                <a:ext uri="{FF2B5EF4-FFF2-40B4-BE49-F238E27FC236}">
                  <a16:creationId xmlns:a16="http://schemas.microsoft.com/office/drawing/2014/main" id="{04652D72-9734-C483-D2E8-3FA88EF6935D}"/>
                </a:ext>
              </a:extLst>
            </p:cNvPr>
            <p:cNvSpPr txBox="1"/>
            <p:nvPr/>
          </p:nvSpPr>
          <p:spPr>
            <a:xfrm>
              <a:off x="5402915" y="6250475"/>
              <a:ext cx="1628881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/>
              <a:r>
                <a:rPr lang="en-US" sz="2500" noProof="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CD45RA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59725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6185-6054-CFFA-A452-8C23A429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715E-5EC3-5FBC-AB78-7B1BD693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Dots are useful with low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0C858-61B2-61F1-8E37-68D61EEB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735" y="1310984"/>
            <a:ext cx="3771900" cy="3670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5A1120-D4D5-B13D-732E-51CA170B5D2B}"/>
              </a:ext>
            </a:extLst>
          </p:cNvPr>
          <p:cNvSpPr/>
          <p:nvPr/>
        </p:nvSpPr>
        <p:spPr>
          <a:xfrm>
            <a:off x="1845608" y="5256520"/>
            <a:ext cx="8500785" cy="124649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457200"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Dots overlaid on density plot</a:t>
            </a: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Contrasting colors</a:t>
            </a: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CD8+ cells allow to see population distribution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F04435-407D-8062-C737-EEC2EEEBA4E0}"/>
              </a:ext>
            </a:extLst>
          </p:cNvPr>
          <p:cNvCxnSpPr/>
          <p:nvPr/>
        </p:nvCxnSpPr>
        <p:spPr>
          <a:xfrm>
            <a:off x="4852738" y="3059239"/>
            <a:ext cx="2406315" cy="1588"/>
          </a:xfrm>
          <a:prstGeom prst="line">
            <a:avLst/>
          </a:prstGeom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D07518-A873-114E-DBB1-DD3750C26DCD}"/>
              </a:ext>
            </a:extLst>
          </p:cNvPr>
          <p:cNvCxnSpPr/>
          <p:nvPr/>
        </p:nvCxnSpPr>
        <p:spPr>
          <a:xfrm rot="5400000">
            <a:off x="4822200" y="3307852"/>
            <a:ext cx="2388771" cy="1589"/>
          </a:xfrm>
          <a:prstGeom prst="line">
            <a:avLst/>
          </a:prstGeom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AC70F49-4139-9345-26B9-34AA68E48FE7}"/>
              </a:ext>
            </a:extLst>
          </p:cNvPr>
          <p:cNvSpPr/>
          <p:nvPr/>
        </p:nvSpPr>
        <p:spPr>
          <a:xfrm>
            <a:off x="7994322" y="1508502"/>
            <a:ext cx="240632" cy="2406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0AAB5C-9EF0-81EE-67F4-B9B871FE525B}"/>
              </a:ext>
            </a:extLst>
          </p:cNvPr>
          <p:cNvSpPr/>
          <p:nvPr/>
        </p:nvSpPr>
        <p:spPr>
          <a:xfrm>
            <a:off x="7994322" y="2088678"/>
            <a:ext cx="240632" cy="240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asellaDiTesto 4">
            <a:extLst>
              <a:ext uri="{FF2B5EF4-FFF2-40B4-BE49-F238E27FC236}">
                <a16:creationId xmlns:a16="http://schemas.microsoft.com/office/drawing/2014/main" id="{BFB08F81-F0F4-4CCD-C16D-B15A73F388B9}"/>
              </a:ext>
            </a:extLst>
          </p:cNvPr>
          <p:cNvSpPr txBox="1"/>
          <p:nvPr/>
        </p:nvSpPr>
        <p:spPr>
          <a:xfrm>
            <a:off x="8261691" y="1368716"/>
            <a:ext cx="20319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CD8+</a:t>
            </a:r>
          </a:p>
        </p:txBody>
      </p:sp>
      <p:sp>
        <p:nvSpPr>
          <p:cNvPr id="19" name="CasellaDiTesto 4">
            <a:extLst>
              <a:ext uri="{FF2B5EF4-FFF2-40B4-BE49-F238E27FC236}">
                <a16:creationId xmlns:a16="http://schemas.microsoft.com/office/drawing/2014/main" id="{9EC9AA5C-328B-9BAF-3D31-AD2B18D6DDE8}"/>
              </a:ext>
            </a:extLst>
          </p:cNvPr>
          <p:cNvSpPr txBox="1"/>
          <p:nvPr/>
        </p:nvSpPr>
        <p:spPr>
          <a:xfrm>
            <a:off x="8261691" y="1952890"/>
            <a:ext cx="203199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Ag-specific</a:t>
            </a:r>
          </a:p>
        </p:txBody>
      </p:sp>
    </p:spTree>
    <p:extLst>
      <p:ext uri="{BB962C8B-B14F-4D97-AF65-F5344CB8AC3E}">
        <p14:creationId xmlns:p14="http://schemas.microsoft.com/office/powerpoint/2010/main" val="320441907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2B76-282D-2FE1-0810-AB1F64B2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1C52-10FC-A4E8-EABC-ACD00104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CD8 gating strategy</a:t>
            </a:r>
          </a:p>
        </p:txBody>
      </p:sp>
      <p:pic>
        <p:nvPicPr>
          <p:cNvPr id="7" name="Picture 6" descr="Screen Shot 2014-11-01 at 12.19.06 PM.png">
            <a:extLst>
              <a:ext uri="{FF2B5EF4-FFF2-40B4-BE49-F238E27FC236}">
                <a16:creationId xmlns:a16="http://schemas.microsoft.com/office/drawing/2014/main" id="{8547DCAE-4EA4-C5B5-7AC7-F0D6544E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262"/>
          <a:stretch>
            <a:fillRect/>
          </a:stretch>
        </p:blipFill>
        <p:spPr>
          <a:xfrm>
            <a:off x="1792900" y="1380733"/>
            <a:ext cx="7967579" cy="153662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43BD0F-E749-9122-62E0-D4A8B96BBB2B}"/>
              </a:ext>
            </a:extLst>
          </p:cNvPr>
          <p:cNvCxnSpPr/>
          <p:nvPr/>
        </p:nvCxnSpPr>
        <p:spPr>
          <a:xfrm rot="5400000">
            <a:off x="2051745" y="2621656"/>
            <a:ext cx="686005" cy="242891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4">
            <a:extLst>
              <a:ext uri="{FF2B5EF4-FFF2-40B4-BE49-F238E27FC236}">
                <a16:creationId xmlns:a16="http://schemas.microsoft.com/office/drawing/2014/main" id="{BC7A57E8-A580-496F-34A4-91886EDE6EA5}"/>
              </a:ext>
            </a:extLst>
          </p:cNvPr>
          <p:cNvSpPr txBox="1"/>
          <p:nvPr/>
        </p:nvSpPr>
        <p:spPr>
          <a:xfrm>
            <a:off x="1343454" y="3086103"/>
            <a:ext cx="234730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fluorescence stable over time?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6BBF8F-C363-DFB3-F00D-14EBA3962C5C}"/>
              </a:ext>
            </a:extLst>
          </p:cNvPr>
          <p:cNvCxnSpPr/>
          <p:nvPr/>
        </p:nvCxnSpPr>
        <p:spPr>
          <a:xfrm rot="5400000">
            <a:off x="3075590" y="3221818"/>
            <a:ext cx="1886333" cy="242892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4">
            <a:extLst>
              <a:ext uri="{FF2B5EF4-FFF2-40B4-BE49-F238E27FC236}">
                <a16:creationId xmlns:a16="http://schemas.microsoft.com/office/drawing/2014/main" id="{81817BB4-0B1F-D3B2-59E0-8BB0C549BAF4}"/>
              </a:ext>
            </a:extLst>
          </p:cNvPr>
          <p:cNvSpPr txBox="1"/>
          <p:nvPr/>
        </p:nvSpPr>
        <p:spPr>
          <a:xfrm>
            <a:off x="3118950" y="4286432"/>
            <a:ext cx="17832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Doublets excluded?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A0E888-DF7B-C9E3-9994-92CEDAF4BFBE}"/>
              </a:ext>
            </a:extLst>
          </p:cNvPr>
          <p:cNvCxnSpPr/>
          <p:nvPr/>
        </p:nvCxnSpPr>
        <p:spPr>
          <a:xfrm rot="5400000">
            <a:off x="5155303" y="3047105"/>
            <a:ext cx="1536905" cy="242893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4">
            <a:extLst>
              <a:ext uri="{FF2B5EF4-FFF2-40B4-BE49-F238E27FC236}">
                <a16:creationId xmlns:a16="http://schemas.microsoft.com/office/drawing/2014/main" id="{1F3EF08A-A3AA-C3C3-BB06-7B29C3FD6454}"/>
              </a:ext>
            </a:extLst>
          </p:cNvPr>
          <p:cNvSpPr txBox="1"/>
          <p:nvPr/>
        </p:nvSpPr>
        <p:spPr>
          <a:xfrm>
            <a:off x="4910682" y="3937003"/>
            <a:ext cx="237276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Dead cells excluded correctly? Contaminating populations such as </a:t>
            </a:r>
            <a:r>
              <a:rPr lang="en-US" sz="25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Monos</a:t>
            </a: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7B8024-99FB-9C05-9C83-06B35C982044}"/>
              </a:ext>
            </a:extLst>
          </p:cNvPr>
          <p:cNvCxnSpPr/>
          <p:nvPr/>
        </p:nvCxnSpPr>
        <p:spPr>
          <a:xfrm rot="16200000" flipH="1">
            <a:off x="6240917" y="3442633"/>
            <a:ext cx="2275569" cy="190499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4">
            <a:extLst>
              <a:ext uri="{FF2B5EF4-FFF2-40B4-BE49-F238E27FC236}">
                <a16:creationId xmlns:a16="http://schemas.microsoft.com/office/drawing/2014/main" id="{743E0BD0-18D5-AD66-5592-6926024AD889}"/>
              </a:ext>
            </a:extLst>
          </p:cNvPr>
          <p:cNvSpPr txBox="1"/>
          <p:nvPr/>
        </p:nvSpPr>
        <p:spPr>
          <a:xfrm>
            <a:off x="7222082" y="4675667"/>
            <a:ext cx="237276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small lymphocytes or also large lymphocytes included?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931234-AABE-5A52-0F85-98A2F61FBE58}"/>
              </a:ext>
            </a:extLst>
          </p:cNvPr>
          <p:cNvCxnSpPr/>
          <p:nvPr/>
        </p:nvCxnSpPr>
        <p:spPr>
          <a:xfrm rot="5400000">
            <a:off x="7945982" y="2548482"/>
            <a:ext cx="1075241" cy="1588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4">
            <a:extLst>
              <a:ext uri="{FF2B5EF4-FFF2-40B4-BE49-F238E27FC236}">
                <a16:creationId xmlns:a16="http://schemas.microsoft.com/office/drawing/2014/main" id="{230ACFB8-C9FA-7368-1465-8DE5B11345BE}"/>
              </a:ext>
            </a:extLst>
          </p:cNvPr>
          <p:cNvSpPr txBox="1"/>
          <p:nvPr/>
        </p:nvSpPr>
        <p:spPr>
          <a:xfrm>
            <a:off x="8022182" y="3086103"/>
            <a:ext cx="237276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of CD8 into CD4: optimal gate?</a:t>
            </a:r>
          </a:p>
        </p:txBody>
      </p:sp>
    </p:spTree>
    <p:extLst>
      <p:ext uri="{BB962C8B-B14F-4D97-AF65-F5344CB8AC3E}">
        <p14:creationId xmlns:p14="http://schemas.microsoft.com/office/powerpoint/2010/main" val="26399817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D267B-38E1-5CCE-A93C-FCB510A95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78FE-9EA4-4E41-4F5E-AEDAA378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01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noProof="0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avoid artifacts in flow cytometry</a:t>
            </a:r>
            <a:endParaRPr lang="en-US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88D33-92D5-9960-9178-A08DCD43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10" y="1659118"/>
            <a:ext cx="10515600" cy="4351338"/>
          </a:xfrm>
        </p:spPr>
        <p:txBody>
          <a:bodyPr anchor="ctr">
            <a:normAutofit/>
          </a:bodyPr>
          <a:lstStyle/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Reagent titration: how to achieve the best separation over background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Multicolor (&gt;1 parameter) compensation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 error in multicolor FACS</a:t>
            </a:r>
          </a:p>
          <a:p>
            <a:pPr marL="231775" indent="-231775">
              <a:buFont typeface="Arial"/>
              <a:buChar char="•"/>
            </a:pPr>
            <a:endParaRPr lang="en-US" sz="25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1775" indent="-231775">
              <a:buFont typeface="Arial"/>
              <a:buChar char="•"/>
            </a:pPr>
            <a:r>
              <a:rPr lang="en-US" sz="25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 of high-quality data for publication</a:t>
            </a:r>
          </a:p>
        </p:txBody>
      </p:sp>
    </p:spTree>
    <p:extLst>
      <p:ext uri="{BB962C8B-B14F-4D97-AF65-F5344CB8AC3E}">
        <p14:creationId xmlns:p14="http://schemas.microsoft.com/office/powerpoint/2010/main" val="246604659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22D5-77AE-AC04-B1D3-A17953433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009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Suggested read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C23F9-F006-4387-B808-4625E2B27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805" y="1343818"/>
            <a:ext cx="6930390" cy="4890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ADCBA2-564F-B295-2345-EA981F87D34B}"/>
              </a:ext>
            </a:extLst>
          </p:cNvPr>
          <p:cNvSpPr txBox="1"/>
          <p:nvPr/>
        </p:nvSpPr>
        <p:spPr>
          <a:xfrm>
            <a:off x="3013553" y="6234772"/>
            <a:ext cx="6164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https://www.nature.com/articles/s41596-019-0166-2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07815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650000"/>
    </a:accent1>
    <a:accent2>
      <a:srgbClr val="333399"/>
    </a:accent2>
    <a:accent3>
      <a:srgbClr val="FFFFFF"/>
    </a:accent3>
    <a:accent4>
      <a:srgbClr val="000000"/>
    </a:accent4>
    <a:accent5>
      <a:srgbClr val="B8AAAA"/>
    </a:accent5>
    <a:accent6>
      <a:srgbClr val="2D2D8A"/>
    </a:accent6>
    <a:hlink>
      <a:srgbClr val="009999"/>
    </a:hlink>
    <a:folHlink>
      <a:srgbClr val="99CC00"/>
    </a:folHlink>
  </a:clrScheme>
  <a:fontScheme name="Default - Title and Content">
    <a:majorFont>
      <a:latin typeface="Arial"/>
      <a:ea typeface="ヒラギノ角ゴ ProN W3"/>
      <a:cs typeface="ヒラギノ角ゴ ProN W3"/>
    </a:majorFont>
    <a:minorFont>
      <a:latin typeface="Arial"/>
      <a:ea typeface="ヒラギノ角ゴ ProN W3"/>
      <a:cs typeface="ヒラギノ角ゴ ProN W3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1581</Words>
  <Application>Microsoft Macintosh PowerPoint</Application>
  <PresentationFormat>Widescreen</PresentationFormat>
  <Paragraphs>285</Paragraphs>
  <Slides>38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Tahoma</vt:lpstr>
      <vt:lpstr>Office Theme</vt:lpstr>
      <vt:lpstr>Basic principles of flow cytometry</vt:lpstr>
      <vt:lpstr>How to avoid artifacts in flow cytometry</vt:lpstr>
      <vt:lpstr>How to avoid artifacts in flow cytometry</vt:lpstr>
      <vt:lpstr>Pro and cons of antibody titration</vt:lpstr>
      <vt:lpstr>Abs: not just the manufacturer’s instructions</vt:lpstr>
      <vt:lpstr>Abs: not just the manufacturer’s instructions</vt:lpstr>
      <vt:lpstr>Abs: not just the manufacturer’s instructions</vt:lpstr>
      <vt:lpstr>Abs: not just the manufacturer’s instructions</vt:lpstr>
      <vt:lpstr>What they say you can use… CD8α BV786 (53-6.7)</vt:lpstr>
      <vt:lpstr>What you can actually use…</vt:lpstr>
      <vt:lpstr>PowerPoint Presentation</vt:lpstr>
      <vt:lpstr>How to avoid artifacts in flow cytometry</vt:lpstr>
      <vt:lpstr>PowerPoint Presentation</vt:lpstr>
      <vt:lpstr>PowerPoint Presentation</vt:lpstr>
      <vt:lpstr>Rule #1: at least as bright!</vt:lpstr>
      <vt:lpstr>Rule #2: same reagent for tandems!</vt:lpstr>
      <vt:lpstr>How to compensate in FACSDiva</vt:lpstr>
      <vt:lpstr>How to compensate in FlowJo</vt:lpstr>
      <vt:lpstr>How to compensate in FlowJo</vt:lpstr>
      <vt:lpstr>Changing compensation affects distribution in other channels</vt:lpstr>
      <vt:lpstr>How to avoid artifacts in flow cytometry</vt:lpstr>
      <vt:lpstr>PowerPoint Presentation</vt:lpstr>
      <vt:lpstr>Signal spreading</vt:lpstr>
      <vt:lpstr>How do we overcome this problem?</vt:lpstr>
      <vt:lpstr>How do we overcome this problem?</vt:lpstr>
      <vt:lpstr>How do we overcome this problem?</vt:lpstr>
      <vt:lpstr>Fluorochrome relative brightness chart</vt:lpstr>
      <vt:lpstr>How to avoid artifacts in flow cytometry</vt:lpstr>
      <vt:lpstr>Some papers rely heavily on FACS</vt:lpstr>
      <vt:lpstr>Some papers rely heavily on FACS</vt:lpstr>
      <vt:lpstr>Questions</vt:lpstr>
      <vt:lpstr>Careful with histograms</vt:lpstr>
      <vt:lpstr>Dot vs. density plot vs. contour</vt:lpstr>
      <vt:lpstr>Dots are useful with low numbers</vt:lpstr>
      <vt:lpstr>Dots are useful with low numbers</vt:lpstr>
      <vt:lpstr>CD8 gating strategy</vt:lpstr>
      <vt:lpstr>How to avoid artifacts in flow cytometry</vt:lpstr>
      <vt:lpstr>Suggested 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Galletti, Giovanni</dc:creator>
  <cp:lastModifiedBy>Galletti, Giovanni</cp:lastModifiedBy>
  <cp:revision>21</cp:revision>
  <dcterms:created xsi:type="dcterms:W3CDTF">2026-02-05T18:08:34Z</dcterms:created>
  <dcterms:modified xsi:type="dcterms:W3CDTF">2026-02-25T00:27:16Z</dcterms:modified>
</cp:coreProperties>
</file>